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62" r:id="rId5"/>
    <p:sldId id="263" r:id="rId6"/>
    <p:sldId id="270" r:id="rId7"/>
    <p:sldId id="266" r:id="rId8"/>
    <p:sldId id="269" r:id="rId9"/>
    <p:sldId id="273" r:id="rId10"/>
    <p:sldId id="259" r:id="rId11"/>
    <p:sldId id="261" r:id="rId12"/>
    <p:sldId id="274" r:id="rId13"/>
    <p:sldId id="268" r:id="rId14"/>
    <p:sldId id="265" r:id="rId15"/>
    <p:sldId id="258" r:id="rId16"/>
    <p:sldId id="264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70220" autoAdjust="0"/>
  </p:normalViewPr>
  <p:slideViewPr>
    <p:cSldViewPr>
      <p:cViewPr varScale="1">
        <p:scale>
          <a:sx n="80" d="100"/>
          <a:sy n="80" d="100"/>
        </p:scale>
        <p:origin x="-276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2AD9A-8930-4C28-87A9-D48432C9A31E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17995-6CC6-48C8-B7B2-D15EB95773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701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17995-6CC6-48C8-B7B2-D15EB957735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695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17995-6CC6-48C8-B7B2-D15EB957735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055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CRMA_ARB: 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zh-TW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SBUS command queue + Arbitration.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DMAR_CUR: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zh-TW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command sender for current frame/field.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DMAR_PN: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zh-TW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command sender for pervious/next frame/field. 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CRMA_DCM: 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zh-TW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Down-sampling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WAV412_DATA_FORMAT_TRANS_*: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zh-TW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description in spec. </a:t>
            </a:r>
            <a:endParaRPr lang="zh-TW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zh-TW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(Solve non-alignment problem when 10-bit raw data in 64-bit bus data width)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17995-6CC6-48C8-B7B2-D15EB957735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40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99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6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184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35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016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66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07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31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62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109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67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FE29E-07BE-4938-8AF0-7823F208D22E}" type="datetimeFigureOut">
              <a:rPr lang="zh-TW" altLang="en-US" smtClean="0"/>
              <a:t>2021/1/13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F0B91-E18F-4551-B322-A2D5B046C0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20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209.160.13\tr0200\IP\DISP\DISPLAY%20doc\1526_IP-SPEC\IP-Spec-DDFCH%201526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4K DDFCH Design Discussion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923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Expected Design Change</a:t>
            </a:r>
            <a:endParaRPr lang="en-US" altLang="zh-TW" dirty="0" smtClean="0"/>
          </a:p>
          <a:p>
            <a:r>
              <a:rPr lang="en-US" altLang="zh-TW" dirty="0" smtClean="0"/>
              <a:t>Design Spec.</a:t>
            </a:r>
          </a:p>
          <a:p>
            <a:pPr lvl="1"/>
            <a:r>
              <a:rPr lang="en-US" altLang="zh-TW" dirty="0" smtClean="0"/>
              <a:t>Input interface</a:t>
            </a:r>
          </a:p>
          <a:p>
            <a:pPr lvl="1"/>
            <a:r>
              <a:rPr lang="en-US" altLang="zh-TW" dirty="0" smtClean="0"/>
              <a:t>Output interface</a:t>
            </a:r>
          </a:p>
          <a:p>
            <a:r>
              <a:rPr lang="en-US" altLang="zh-TW" dirty="0" smtClean="0"/>
              <a:t>Design Review</a:t>
            </a:r>
            <a:endParaRPr lang="en-US" altLang="zh-TW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78459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Expected Design Change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68388"/>
            <a:ext cx="7299709" cy="472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5976724"/>
            <a:ext cx="1648383" cy="813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423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Spec.</a:t>
            </a:r>
            <a:endParaRPr lang="en-US" altLang="zh-TW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US" altLang="zh-TW" dirty="0" smtClean="0"/>
              <a:t>Input</a:t>
            </a:r>
          </a:p>
          <a:p>
            <a:pPr lvl="1"/>
            <a:r>
              <a:rPr lang="en-US" altLang="zh-TW" dirty="0" smtClean="0"/>
              <a:t>Interface : MBUS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sz="1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425945"/>
              </p:ext>
            </p:extLst>
          </p:nvPr>
        </p:nvGraphicFramePr>
        <p:xfrm>
          <a:off x="611560" y="2492896"/>
          <a:ext cx="7848872" cy="25050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8917"/>
                <a:gridCol w="3126786"/>
                <a:gridCol w="1071992"/>
                <a:gridCol w="902688"/>
                <a:gridCol w="1078489"/>
              </a:tblGrid>
              <a:tr h="21194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DDFCH Fetching Requirement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OCP command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Pattern</a:t>
                      </a:r>
                      <a:r>
                        <a:rPr lang="en-US" sz="1600" u="none" strike="noStrike" baseline="0" dirty="0" smtClean="0">
                          <a:effectLst/>
                        </a:rPr>
                        <a:t> Confirm?</a:t>
                      </a:r>
                      <a:endParaRPr lang="en-US" sz="1600" u="none" strike="noStrike" dirty="0" smtClean="0">
                        <a:effectLst/>
                      </a:endParaRPr>
                    </a:p>
                  </a:txBody>
                  <a:tcPr marL="9525" marR="9525" marT="9525" marB="0" anchor="ctr"/>
                </a:tc>
              </a:tr>
              <a:tr h="2119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Fetching Data Type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Functions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Burst length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 smtClean="0">
                          <a:effectLst/>
                        </a:rPr>
                        <a:t>Cmd</a:t>
                      </a:r>
                      <a:r>
                        <a:rPr lang="en-US" sz="1600" u="none" strike="noStrike" dirty="0" smtClean="0">
                          <a:effectLst/>
                        </a:rPr>
                        <a:t> </a:t>
                      </a:r>
                      <a:r>
                        <a:rPr lang="en-US" sz="1600" u="none" strike="noStrike" dirty="0">
                          <a:effectLst/>
                        </a:rPr>
                        <a:t>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194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Uncompressed</a:t>
                      </a:r>
                      <a:br>
                        <a:rPr lang="en-US" sz="1600" u="none" strike="noStrike" dirty="0" smtClean="0">
                          <a:effectLst/>
                        </a:rPr>
                      </a:br>
                      <a:r>
                        <a:rPr lang="en-US" sz="1600" u="none" strike="noStrike" dirty="0" smtClean="0">
                          <a:effectLst/>
                        </a:rPr>
                        <a:t>(IPBG Path)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8-bit </a:t>
                      </a:r>
                      <a:r>
                        <a:rPr lang="en-US" sz="16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linear data </a:t>
                      </a:r>
                      <a:r>
                        <a:rPr lang="en-US" sz="16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fetching</a:t>
                      </a:r>
                      <a:endParaRPr lang="en-US" sz="1600" b="0" i="0" u="none" strike="noStrike" dirty="0">
                        <a:solidFill>
                          <a:srgbClr val="00B05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 smtClean="0">
                          <a:effectLst/>
                        </a:rPr>
                        <a:t>16/8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linear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YES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211947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10-bit linear</a:t>
                      </a:r>
                      <a:r>
                        <a:rPr lang="en-US" altLang="zh-TW" sz="1600" u="none" strike="noStrike" baseline="0" dirty="0" smtClean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altLang="zh-TW" sz="16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data fetching</a:t>
                      </a:r>
                      <a:endParaRPr lang="en-US" altLang="zh-TW" sz="1600" b="0" i="0" u="none" strike="noStrike" dirty="0">
                        <a:solidFill>
                          <a:srgbClr val="00B05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 smtClean="0">
                          <a:effectLst/>
                        </a:rPr>
                        <a:t>16/8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linear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YES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41474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</a:rPr>
                        <a:t>8-bit data fetching, 2D </a:t>
                      </a:r>
                      <a:r>
                        <a:rPr lang="en-US" sz="1600" u="none" strike="noStrike" dirty="0" err="1" smtClean="0">
                          <a:effectLst/>
                        </a:rPr>
                        <a:t>frame_mode</a:t>
                      </a:r>
                      <a:r>
                        <a:rPr lang="en-US" sz="1600" u="none" strike="noStrike" dirty="0" smtClean="0">
                          <a:effectLst/>
                        </a:rPr>
                        <a:t> </a:t>
                      </a:r>
                      <a:br>
                        <a:rPr lang="en-US" sz="1600" u="none" strike="noStrike" dirty="0" smtClean="0">
                          <a:effectLst/>
                        </a:rPr>
                      </a:br>
                      <a:r>
                        <a:rPr lang="en-US" sz="1600" u="none" strike="noStrike" dirty="0" smtClean="0">
                          <a:effectLst/>
                        </a:rPr>
                        <a:t>(</a:t>
                      </a:r>
                      <a:r>
                        <a:rPr lang="en-US" altLang="zh-TW" sz="1600" u="none" strike="noStrike" dirty="0" smtClean="0">
                          <a:effectLst/>
                        </a:rPr>
                        <a:t>H265_EN=0)</a:t>
                      </a:r>
                      <a:endParaRPr lang="en-US" altLang="zh-TW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16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2D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NO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41474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8-bit data fetching, 2D field mode </a:t>
                      </a:r>
                      <a:r>
                        <a:rPr lang="en-US" sz="1600" u="none" strike="noStrike" dirty="0" smtClean="0">
                          <a:effectLst/>
                        </a:rPr>
                        <a:t/>
                      </a:r>
                      <a:br>
                        <a:rPr lang="en-US" sz="1600" u="none" strike="noStrike" dirty="0" smtClean="0">
                          <a:effectLst/>
                        </a:rPr>
                      </a:br>
                      <a:r>
                        <a:rPr lang="en-US" sz="1600" u="none" strike="noStrike" dirty="0" smtClean="0">
                          <a:effectLst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</a:rPr>
                        <a:t>H265_EN=1)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16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2D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NO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  <a:tr h="34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Compressed</a:t>
                      </a:r>
                      <a:br>
                        <a:rPr lang="en-US" sz="1600" u="none" strike="noStrike" dirty="0" smtClean="0">
                          <a:effectLst/>
                        </a:rPr>
                      </a:br>
                      <a:r>
                        <a:rPr lang="en-US" sz="1600" u="none" strike="noStrike" dirty="0" smtClean="0">
                          <a:effectLst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</a:rPr>
                        <a:t>WAV412)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8-bit </a:t>
                      </a:r>
                      <a:r>
                        <a:rPr lang="en-US" sz="1600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</a:t>
                      </a:r>
                      <a:r>
                        <a:rPr lang="en-US" sz="1600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fetching</a:t>
                      </a:r>
                    </a:p>
                    <a:p>
                      <a:pPr algn="l" fontAlgn="ctr"/>
                      <a:r>
                        <a:rPr lang="en-US" sz="1600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10-bit data fetching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8/2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linear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07504" y="5229200"/>
            <a:ext cx="87849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Related </a:t>
            </a:r>
            <a:r>
              <a:rPr lang="en-US" altLang="zh-TW" sz="1600" dirty="0" smtClean="0"/>
              <a:t>patterns:</a:t>
            </a:r>
            <a:endParaRPr lang="en-US" altLang="zh-TW" sz="1600" dirty="0"/>
          </a:p>
          <a:p>
            <a:r>
              <a:rPr lang="en-US" altLang="zh-TW" sz="1600" dirty="0"/>
              <a:t>   Uncompressed, 8-bit linear data fetching	: make VPP_1080P</a:t>
            </a:r>
          </a:p>
          <a:p>
            <a:r>
              <a:rPr lang="en-US" altLang="zh-TW" sz="1600" dirty="0"/>
              <a:t>   Uncompressed, 10-bit linear data fetching 	: make VPP_1080P_wave412_10bit_480P_smallwindow </a:t>
            </a:r>
          </a:p>
          <a:p>
            <a:r>
              <a:rPr lang="en-US" altLang="zh-TW" sz="1600" dirty="0"/>
              <a:t>   Compressed, 8-bit data </a:t>
            </a:r>
            <a:r>
              <a:rPr lang="en-US" altLang="zh-TW" sz="1600" dirty="0" smtClean="0"/>
              <a:t>fetching 	: </a:t>
            </a:r>
            <a:r>
              <a:rPr lang="en-US" altLang="zh-TW" sz="1600" dirty="0"/>
              <a:t>make VPP_3840x2160_comp_8bit.v</a:t>
            </a:r>
          </a:p>
          <a:p>
            <a:r>
              <a:rPr lang="en-US" altLang="zh-TW" sz="1600" dirty="0"/>
              <a:t>   Compressed, 10-bit data </a:t>
            </a:r>
            <a:r>
              <a:rPr lang="en-US" altLang="zh-TW" sz="1600" dirty="0" smtClean="0"/>
              <a:t>fetching 	: </a:t>
            </a:r>
            <a:r>
              <a:rPr lang="en-US" altLang="zh-TW" sz="1600" dirty="0"/>
              <a:t>make </a:t>
            </a:r>
            <a:r>
              <a:rPr lang="en-US" altLang="zh-TW" sz="1600" dirty="0" smtClean="0"/>
              <a:t>VPP_3840x2160_comp.v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69841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Spec.</a:t>
            </a:r>
            <a:endParaRPr lang="en-US" altLang="zh-TW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Output (VSCL)</a:t>
            </a:r>
          </a:p>
          <a:p>
            <a:pPr lvl="1"/>
            <a:r>
              <a:rPr lang="en-US" altLang="zh-TW" sz="2000" dirty="0" smtClean="0"/>
              <a:t>Interface (will change to </a:t>
            </a:r>
            <a:r>
              <a:rPr lang="en-US" altLang="zh-TW" sz="2000" dirty="0" smtClean="0">
                <a:solidFill>
                  <a:srgbClr val="FF0000"/>
                </a:solidFill>
              </a:rPr>
              <a:t>DEINT0_VCSL0_*</a:t>
            </a:r>
            <a:r>
              <a:rPr lang="en-US" altLang="zh-TW" sz="2000" dirty="0" smtClean="0"/>
              <a:t>)</a:t>
            </a:r>
          </a:p>
          <a:p>
            <a:pPr lvl="1"/>
            <a:endParaRPr lang="en-US" altLang="zh-TW" sz="2000" dirty="0"/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 smtClean="0"/>
          </a:p>
          <a:p>
            <a:endParaRPr lang="en-US" altLang="zh-TW" sz="2400" dirty="0" smtClean="0"/>
          </a:p>
          <a:p>
            <a:pPr lvl="1"/>
            <a:r>
              <a:rPr lang="en-US" altLang="zh-TW" sz="2000" dirty="0" smtClean="0"/>
              <a:t>Format: YUV422 (UP/DN, one channel)</a:t>
            </a:r>
          </a:p>
          <a:p>
            <a:pPr lvl="1"/>
            <a:endParaRPr lang="en-US" altLang="zh-TW" sz="2000" dirty="0" smtClean="0"/>
          </a:p>
          <a:p>
            <a:pPr lvl="1"/>
            <a:endParaRPr lang="en-US" altLang="zh-TW" sz="2000" dirty="0"/>
          </a:p>
          <a:p>
            <a:pPr marL="457200" lvl="1" indent="0">
              <a:buNone/>
            </a:pPr>
            <a:endParaRPr lang="en-US" altLang="zh-TW" sz="2000" dirty="0" smtClean="0"/>
          </a:p>
          <a:p>
            <a:pPr lvl="1"/>
            <a:r>
              <a:rPr lang="en-US" altLang="zh-TW" sz="2000" dirty="0" smtClean="0"/>
              <a:t>Fetching Order (e.g., 1080P):</a:t>
            </a:r>
          </a:p>
          <a:p>
            <a:pPr lvl="2"/>
            <a:r>
              <a:rPr lang="en-US" altLang="zh-TW" sz="1600" dirty="0" smtClean="0"/>
              <a:t>(0,0) </a:t>
            </a:r>
            <a:r>
              <a:rPr lang="en-US" altLang="zh-TW" sz="1600" dirty="0" smtClean="0">
                <a:sym typeface="Wingdings" panose="05000000000000000000" pitchFamily="2" charset="2"/>
              </a:rPr>
              <a:t> (0,1919)(1,0)(1,1919)…(1079,1979)</a:t>
            </a:r>
            <a:endParaRPr lang="en-US" altLang="zh-TW" sz="1200" dirty="0" smtClean="0"/>
          </a:p>
          <a:p>
            <a:pPr lvl="1"/>
            <a:r>
              <a:rPr lang="en-US" altLang="zh-TW" sz="2000" dirty="0" smtClean="0"/>
              <a:t>Endian: MSB alignment</a:t>
            </a:r>
            <a:endParaRPr lang="zh-TW" altLang="en-US" sz="2000" dirty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41448"/>
            <a:ext cx="1726956" cy="120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20888"/>
            <a:ext cx="3121546" cy="1421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07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Spec.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VSCL Interface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38"/>
          <a:stretch/>
        </p:blipFill>
        <p:spPr bwMode="auto">
          <a:xfrm>
            <a:off x="440858" y="2780928"/>
            <a:ext cx="4308311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8"/>
          <a:stretch/>
        </p:blipFill>
        <p:spPr bwMode="auto">
          <a:xfrm>
            <a:off x="5245900" y="2564904"/>
            <a:ext cx="3365872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4749169" y="6381328"/>
            <a:ext cx="4359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Source: Copied from IP Spec. of DDFCH 1526</a:t>
            </a:r>
            <a:endParaRPr lang="zh-TW" altLang="en-US" dirty="0"/>
          </a:p>
        </p:txBody>
      </p:sp>
      <p:cxnSp>
        <p:nvCxnSpPr>
          <p:cNvPr id="9" name="直線接點 8"/>
          <p:cNvCxnSpPr/>
          <p:nvPr/>
        </p:nvCxnSpPr>
        <p:spPr>
          <a:xfrm>
            <a:off x="2699792" y="4365104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77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Design Review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323528" y="1052735"/>
            <a:ext cx="8568952" cy="5176913"/>
            <a:chOff x="323528" y="1052735"/>
            <a:chExt cx="8568952" cy="5176913"/>
          </a:xfrm>
        </p:grpSpPr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052735"/>
              <a:ext cx="8568952" cy="5176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圓角矩形 3"/>
            <p:cNvSpPr/>
            <p:nvPr/>
          </p:nvSpPr>
          <p:spPr>
            <a:xfrm>
              <a:off x="467544" y="2708920"/>
              <a:ext cx="1224136" cy="2448272"/>
            </a:xfrm>
            <a:prstGeom prst="roundRect">
              <a:avLst>
                <a:gd name="adj" fmla="val 4136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923928" y="3941812"/>
              <a:ext cx="4752528" cy="2287836"/>
            </a:xfrm>
            <a:prstGeom prst="roundRect">
              <a:avLst>
                <a:gd name="adj" fmla="val 4136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1844080" y="3973810"/>
              <a:ext cx="1863824" cy="1183382"/>
            </a:xfrm>
            <a:prstGeom prst="roundRect">
              <a:avLst>
                <a:gd name="adj" fmla="val 4136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文字方塊 8"/>
          <p:cNvSpPr txBox="1"/>
          <p:nvPr/>
        </p:nvSpPr>
        <p:spPr>
          <a:xfrm>
            <a:off x="676360" y="5899958"/>
            <a:ext cx="6884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Data Flow (LUMA):</a:t>
            </a:r>
          </a:p>
          <a:p>
            <a:r>
              <a:rPr lang="en-US" altLang="zh-TW" dirty="0" smtClean="0"/>
              <a:t>DDFCH_IPBG_BRIDGE</a:t>
            </a:r>
            <a:r>
              <a:rPr lang="en-US" altLang="zh-TW" dirty="0" smtClean="0">
                <a:sym typeface="Wingdings" panose="05000000000000000000" pitchFamily="2" charset="2"/>
              </a:rPr>
              <a:t>DDFCH_IPBG_VIDEODDFCH_VIDEO_LUMA</a:t>
            </a:r>
          </a:p>
          <a:p>
            <a:r>
              <a:rPr lang="en-US" altLang="zh-TW" dirty="0" smtClean="0">
                <a:sym typeface="Wingdings" panose="05000000000000000000" pitchFamily="2" charset="2"/>
              </a:rPr>
              <a:t>DDFCH_VIDEO_DOUTDDFCH_VIDEO_REQ_VALID_ARB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343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Review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DDFCH_IPBG</a:t>
            </a:r>
          </a:p>
          <a:p>
            <a:pPr lvl="1"/>
            <a:r>
              <a:rPr lang="en-US" altLang="zh-TW" sz="1800" dirty="0" smtClean="0"/>
              <a:t>Bridge between Function (</a:t>
            </a:r>
            <a:r>
              <a:rPr lang="en-US" altLang="zh-TW" sz="1800" dirty="0" err="1" smtClean="0"/>
              <a:t>Luma</a:t>
            </a:r>
            <a:r>
              <a:rPr lang="en-US" altLang="zh-TW" sz="1800" dirty="0" smtClean="0"/>
              <a:t>/Chroma fetching) and Bus interface (MBUS)</a:t>
            </a:r>
          </a:p>
          <a:p>
            <a:r>
              <a:rPr lang="en-US" altLang="zh-TW" sz="2000" dirty="0" smtClean="0"/>
              <a:t>DDFCH_VIDEO</a:t>
            </a:r>
          </a:p>
          <a:p>
            <a:pPr lvl="1"/>
            <a:r>
              <a:rPr lang="en-US" altLang="zh-TW" sz="1800" dirty="0" err="1" smtClean="0"/>
              <a:t>Luma</a:t>
            </a:r>
            <a:r>
              <a:rPr lang="en-US" altLang="zh-TW" sz="1800" dirty="0" smtClean="0"/>
              <a:t>/</a:t>
            </a:r>
            <a:r>
              <a:rPr lang="en-US" altLang="zh-TW" sz="1800" dirty="0" err="1" smtClean="0"/>
              <a:t>Choma</a:t>
            </a:r>
            <a:r>
              <a:rPr lang="en-US" altLang="zh-TW" sz="1800" dirty="0" smtClean="0"/>
              <a:t> Data fetching</a:t>
            </a:r>
          </a:p>
          <a:p>
            <a:pPr lvl="1"/>
            <a:r>
              <a:rPr lang="en-US" altLang="zh-TW" sz="1800" dirty="0" smtClean="0"/>
              <a:t>Pervious/Current/Next frame data reordering</a:t>
            </a:r>
          </a:p>
          <a:p>
            <a:pPr lvl="1"/>
            <a:r>
              <a:rPr lang="en-US" altLang="zh-TW" sz="1800" dirty="0" smtClean="0"/>
              <a:t>YUV422 up-sampling</a:t>
            </a:r>
          </a:p>
          <a:p>
            <a:pPr lvl="1"/>
            <a:r>
              <a:rPr lang="en-US" altLang="zh-TW" sz="1800" dirty="0" smtClean="0"/>
              <a:t>10-bit alignment  problem in 128-bit bus data width</a:t>
            </a:r>
          </a:p>
          <a:p>
            <a:r>
              <a:rPr lang="en-US" altLang="zh-TW" sz="2000" dirty="0" smtClean="0"/>
              <a:t>DDFCH_VIDEO_REQ_VALID_ARB</a:t>
            </a:r>
          </a:p>
          <a:p>
            <a:pPr lvl="1"/>
            <a:r>
              <a:rPr lang="en-US" altLang="zh-TW" sz="1800" dirty="0" smtClean="0"/>
              <a:t>Data Mux to VSCL and DEINT</a:t>
            </a:r>
          </a:p>
          <a:p>
            <a:r>
              <a:rPr lang="en-US" altLang="zh-TW" sz="2000" dirty="0" smtClean="0"/>
              <a:t>Wave412_map_conv_top_wrapper</a:t>
            </a:r>
          </a:p>
          <a:p>
            <a:pPr lvl="1"/>
            <a:r>
              <a:rPr lang="en-US" altLang="zh-TW" sz="1800" dirty="0" smtClean="0"/>
              <a:t>Decompression </a:t>
            </a:r>
            <a:endParaRPr lang="zh-TW" altLang="en-US" sz="1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5421953"/>
            <a:ext cx="3036957" cy="1252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4860032" y="4165645"/>
            <a:ext cx="4084487" cy="2512616"/>
            <a:chOff x="323528" y="1052735"/>
            <a:chExt cx="8568952" cy="5176913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052735"/>
              <a:ext cx="8568952" cy="5176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圓角矩形 8"/>
            <p:cNvSpPr/>
            <p:nvPr/>
          </p:nvSpPr>
          <p:spPr>
            <a:xfrm>
              <a:off x="467544" y="2708920"/>
              <a:ext cx="1224136" cy="2448272"/>
            </a:xfrm>
            <a:prstGeom prst="roundRect">
              <a:avLst>
                <a:gd name="adj" fmla="val 4136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3923928" y="3941812"/>
              <a:ext cx="4752528" cy="2287836"/>
            </a:xfrm>
            <a:prstGeom prst="roundRect">
              <a:avLst>
                <a:gd name="adj" fmla="val 4136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1844080" y="3973810"/>
              <a:ext cx="1863824" cy="1183382"/>
            </a:xfrm>
            <a:prstGeom prst="roundRect">
              <a:avLst>
                <a:gd name="adj" fmla="val 4136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631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DDFCH_IPBG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BRIDGE_MB0</a:t>
            </a:r>
          </a:p>
          <a:p>
            <a:r>
              <a:rPr lang="en-US" altLang="zh-TW" dirty="0" smtClean="0"/>
              <a:t>BRIDGE_MB1</a:t>
            </a:r>
          </a:p>
          <a:p>
            <a:r>
              <a:rPr lang="en-US" altLang="zh-TW" dirty="0" smtClean="0"/>
              <a:t>IPBG_VIDEO</a:t>
            </a:r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700808"/>
            <a:ext cx="4038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518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2800" dirty="0" smtClean="0"/>
              <a:t>DDFCH_IPBG – </a:t>
            </a:r>
            <a:r>
              <a:rPr lang="en-US" altLang="zh-TW" sz="2800" dirty="0" smtClean="0"/>
              <a:t>BRIDGE_MB*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7901539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4624"/>
            <a:ext cx="3847276" cy="179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36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2800" dirty="0" smtClean="0"/>
              <a:t>DDFCH_IPBG – IPBG_VIDEO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315728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835" y="116632"/>
            <a:ext cx="3538393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21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-2436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3200" dirty="0" smtClean="0"/>
              <a:t>DDFCH_VIDEO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4077073"/>
            <a:ext cx="8229600" cy="2520280"/>
          </a:xfrm>
        </p:spPr>
        <p:txBody>
          <a:bodyPr>
            <a:normAutofit/>
          </a:bodyPr>
          <a:lstStyle/>
          <a:p>
            <a:r>
              <a:rPr lang="en-US" altLang="zh-TW" sz="1800" dirty="0" smtClean="0"/>
              <a:t>DDFCH_VIDEO_*</a:t>
            </a:r>
          </a:p>
          <a:p>
            <a:pPr lvl="1"/>
            <a:r>
              <a:rPr lang="en-US" altLang="zh-TW" sz="1600" dirty="0" smtClean="0"/>
              <a:t>DDFCH_VIDEO_LUMA </a:t>
            </a:r>
          </a:p>
          <a:p>
            <a:pPr lvl="1"/>
            <a:r>
              <a:rPr lang="en-US" altLang="zh-TW" sz="1600" dirty="0" smtClean="0"/>
              <a:t>DDFCH_VIDEO_CRMA</a:t>
            </a:r>
          </a:p>
          <a:p>
            <a:r>
              <a:rPr lang="en-US" altLang="zh-TW" sz="1800" dirty="0" smtClean="0"/>
              <a:t>VIDEO_DOUT</a:t>
            </a:r>
          </a:p>
          <a:p>
            <a:pPr lvl="1"/>
            <a:r>
              <a:rPr lang="en-US" altLang="zh-TW" sz="1600" dirty="0" smtClean="0"/>
              <a:t>DDFCH_VIDEO_DOUT_PRV</a:t>
            </a:r>
          </a:p>
          <a:p>
            <a:pPr lvl="1"/>
            <a:r>
              <a:rPr lang="en-US" altLang="zh-TW" sz="1600" dirty="0" smtClean="0"/>
              <a:t>DDFCH_VIDEO_DOUT_CUR</a:t>
            </a:r>
          </a:p>
          <a:p>
            <a:pPr lvl="1"/>
            <a:r>
              <a:rPr lang="en-US" altLang="zh-TW" sz="1600" dirty="0" smtClean="0"/>
              <a:t>DDFCH_VIDEO_DOUT_NXT</a:t>
            </a:r>
          </a:p>
          <a:p>
            <a:r>
              <a:rPr lang="en-US" altLang="zh-TW" sz="1800" dirty="0" smtClean="0"/>
              <a:t>DDFCH_VIDEO_REQ_VALID_ARB</a:t>
            </a:r>
          </a:p>
          <a:p>
            <a:endParaRPr lang="en-US" altLang="zh-TW" sz="1400" dirty="0" smtClean="0"/>
          </a:p>
          <a:p>
            <a:endParaRPr lang="zh-TW" altLang="en-US" sz="1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/>
          <a:stretch/>
        </p:blipFill>
        <p:spPr bwMode="auto">
          <a:xfrm>
            <a:off x="467544" y="764704"/>
            <a:ext cx="7992888" cy="337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71600" y="6527085"/>
            <a:ext cx="8352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hlinkClick r:id="rId3" action="ppaction://hlinkfile"/>
              </a:rPr>
              <a:t>\\10.209.160.13\tr0200\IP\DISP\DISPLAY doc\1526_IP-SPEC\IP-Spec-DDFCH 1526.pdf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052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DDFCH_VIDEO – DDFCH_VIDEO_*</a:t>
            </a:r>
            <a:endParaRPr lang="zh-TW" altLang="en-US" sz="4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710059"/>
            <a:ext cx="8709616" cy="2092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01491"/>
            <a:ext cx="4104456" cy="1071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6" y="2697635"/>
            <a:ext cx="8771768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234" y="1340768"/>
            <a:ext cx="4327186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820587" y="4367367"/>
            <a:ext cx="1471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 smtClean="0"/>
              <a:t>VIDEO_CRMA</a:t>
            </a:r>
            <a:endParaRPr lang="zh-TW" altLang="en-US" u="sng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851920" y="2400311"/>
            <a:ext cx="146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 smtClean="0"/>
              <a:t>VIDEO_LUMA</a:t>
            </a:r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149800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DDFCH_VIDEO – VIDEO_DOUT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365104"/>
            <a:ext cx="8432379" cy="1804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36" y="2011846"/>
            <a:ext cx="8133209" cy="20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337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 smtClean="0"/>
              <a:t>DDFCH_VIDEO – DDFCH_VIDEO_REQ_VALID_ARB</a:t>
            </a:r>
            <a:endParaRPr lang="en-US" altLang="zh-TW" sz="2800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556792"/>
            <a:ext cx="5904656" cy="489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3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Status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2" y="1700808"/>
            <a:ext cx="8762406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656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28884</TotalTime>
  <Words>326</Words>
  <Application>Microsoft Office PowerPoint</Application>
  <PresentationFormat>如螢幕大小 (4:3)</PresentationFormat>
  <Paragraphs>118</Paragraphs>
  <Slides>16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佈景主題</vt:lpstr>
      <vt:lpstr>4K DDFCH Design Discussion</vt:lpstr>
      <vt:lpstr>Outline</vt:lpstr>
      <vt:lpstr>Expected Design Change</vt:lpstr>
      <vt:lpstr>Design Spec.</vt:lpstr>
      <vt:lpstr>Design Spec.</vt:lpstr>
      <vt:lpstr>Design Spec.</vt:lpstr>
      <vt:lpstr>Design Review</vt:lpstr>
      <vt:lpstr>Design Review</vt:lpstr>
      <vt:lpstr>DDFCH_IPBG</vt:lpstr>
      <vt:lpstr>DDFCH_IPBG – BRIDGE_MB*</vt:lpstr>
      <vt:lpstr>DDFCH_IPBG – IPBG_VIDEO</vt:lpstr>
      <vt:lpstr>DDFCH_VIDEO</vt:lpstr>
      <vt:lpstr>DDFCH_VIDEO – DDFCH_VIDEO_*</vt:lpstr>
      <vt:lpstr>DDFCH_VIDEO – VIDEO_DOUT</vt:lpstr>
      <vt:lpstr>DDFCH_VIDEO – DDFCH_VIDEO_REQ_VALID_ARB</vt:lpstr>
      <vt:lpstr>Pattern Status</vt:lpstr>
    </vt:vector>
  </TitlesOfParts>
  <Company>Availink,Inc.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4K DDFCH Design Review</dc:title>
  <dc:creator>Jerry Chang 張宗賢</dc:creator>
  <cp:lastModifiedBy>Jerry Chang 張宗賢</cp:lastModifiedBy>
  <cp:revision>38</cp:revision>
  <dcterms:created xsi:type="dcterms:W3CDTF">2021-01-13T05:54:03Z</dcterms:created>
  <dcterms:modified xsi:type="dcterms:W3CDTF">2021-02-02T07:18:51Z</dcterms:modified>
</cp:coreProperties>
</file>