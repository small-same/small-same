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6" r:id="rId4"/>
    <p:sldId id="257" r:id="rId5"/>
    <p:sldId id="264" r:id="rId6"/>
    <p:sldId id="262" r:id="rId7"/>
    <p:sldId id="275" r:id="rId8"/>
    <p:sldId id="258" r:id="rId9"/>
    <p:sldId id="276" r:id="rId10"/>
    <p:sldId id="277" r:id="rId11"/>
    <p:sldId id="278" r:id="rId12"/>
    <p:sldId id="279" r:id="rId13"/>
    <p:sldId id="280" r:id="rId14"/>
    <p:sldId id="281" r:id="rId15"/>
    <p:sldId id="288" r:id="rId16"/>
    <p:sldId id="283" r:id="rId17"/>
    <p:sldId id="286" r:id="rId18"/>
    <p:sldId id="285" r:id="rId19"/>
    <p:sldId id="284" r:id="rId20"/>
    <p:sldId id="289" r:id="rId21"/>
    <p:sldId id="287" r:id="rId22"/>
    <p:sldId id="268" r:id="rId23"/>
    <p:sldId id="269" r:id="rId24"/>
    <p:sldId id="267" r:id="rId2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96" y="-4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71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67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29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59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67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5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7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40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2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60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83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2959B-218E-43DB-A476-6A642D3F0003}" type="datetimeFigureOut">
              <a:rPr lang="zh-TW" altLang="en-US" smtClean="0"/>
              <a:t>2019/8/7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B4F9A-E6DF-40A3-AB6C-770F68AB9C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459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31591"/>
            <a:ext cx="7772400" cy="1568748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Y10 2D </a:t>
            </a:r>
            <a:r>
              <a:rPr lang="en-US" altLang="zh-TW" dirty="0"/>
              <a:t>command </a:t>
            </a:r>
            <a:r>
              <a:rPr lang="en-US" altLang="zh-TW" dirty="0" smtClean="0"/>
              <a:t>&amp; </a:t>
            </a:r>
            <a:br>
              <a:rPr lang="en-US" altLang="zh-TW" dirty="0" smtClean="0"/>
            </a:br>
            <a:r>
              <a:rPr lang="en-US" altLang="zh-TW" dirty="0" smtClean="0"/>
              <a:t>Corresponding Reg. setting </a:t>
            </a:r>
            <a:r>
              <a:rPr lang="en-US" altLang="zh-TW" dirty="0"/>
              <a:t>in DISP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/>
              <a:t>Jerry Chang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3630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Abbreviation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Multi-Format Decoder (MFD)</a:t>
            </a:r>
          </a:p>
          <a:p>
            <a:r>
              <a:rPr lang="en-US" altLang="zh-TW" dirty="0" smtClean="0"/>
              <a:t>DISP (</a:t>
            </a:r>
            <a:r>
              <a:rPr lang="en-US" altLang="zh-TW" dirty="0" err="1" smtClean="0"/>
              <a:t>DISPlay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Video Post Processor (VPP)</a:t>
            </a:r>
          </a:p>
          <a:p>
            <a:pPr lvl="2"/>
            <a:r>
              <a:rPr lang="en-US" altLang="zh-TW" dirty="0" err="1" smtClean="0"/>
              <a:t>Deinterlace</a:t>
            </a:r>
            <a:r>
              <a:rPr lang="en-US" altLang="zh-TW" dirty="0" smtClean="0"/>
              <a:t> Data </a:t>
            </a:r>
            <a:r>
              <a:rPr lang="en-US" altLang="zh-TW" dirty="0" err="1" smtClean="0"/>
              <a:t>FetCH</a:t>
            </a:r>
            <a:r>
              <a:rPr lang="en-US" altLang="zh-TW" dirty="0" smtClean="0"/>
              <a:t> (DDFCH)</a:t>
            </a:r>
          </a:p>
          <a:p>
            <a:pPr lvl="2"/>
            <a:r>
              <a:rPr lang="en-US" altLang="zh-TW" dirty="0" err="1" smtClean="0"/>
              <a:t>DEINTerlacing</a:t>
            </a:r>
            <a:r>
              <a:rPr lang="en-US" altLang="zh-TW" dirty="0" smtClean="0"/>
              <a:t> (DEINT)</a:t>
            </a:r>
          </a:p>
          <a:p>
            <a:pPr lvl="1"/>
            <a:r>
              <a:rPr lang="en-US" altLang="zh-TW" dirty="0" smtClean="0"/>
              <a:t>Auto Frame Rate Conversion (AFRC)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78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Discussed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MBus</a:t>
            </a:r>
            <a:r>
              <a:rPr lang="en-US" altLang="zh-TW" dirty="0" smtClean="0"/>
              <a:t> R/W sequences for DISPLAY</a:t>
            </a:r>
          </a:p>
          <a:p>
            <a:pPr lvl="1"/>
            <a:r>
              <a:rPr lang="en-US" altLang="zh-TW" dirty="0" smtClean="0"/>
              <a:t>Command formats in DISPs.</a:t>
            </a:r>
          </a:p>
          <a:p>
            <a:pPr lvl="1"/>
            <a:r>
              <a:rPr lang="en-US" altLang="zh-TW" dirty="0" smtClean="0"/>
              <a:t>R/W sequences using register controlling .</a:t>
            </a:r>
          </a:p>
          <a:p>
            <a:r>
              <a:rPr lang="en-US" altLang="zh-TW" dirty="0"/>
              <a:t>M</a:t>
            </a:r>
            <a:r>
              <a:rPr lang="en-US" altLang="zh-TW" dirty="0" smtClean="0"/>
              <a:t>emory mapping for DISP functions in DDR.</a:t>
            </a:r>
            <a:endParaRPr lang="en-US" altLang="zh-TW" dirty="0"/>
          </a:p>
          <a:p>
            <a:pPr lvl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89007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2D Command</a:t>
            </a:r>
          </a:p>
          <a:p>
            <a:pPr lvl="1"/>
            <a:r>
              <a:rPr lang="en-US" altLang="zh-TW" dirty="0"/>
              <a:t>Masters in </a:t>
            </a:r>
            <a:r>
              <a:rPr lang="en-US" altLang="zh-TW" dirty="0" smtClean="0"/>
              <a:t>DISP</a:t>
            </a:r>
            <a:endParaRPr lang="en-US" altLang="zh-TW" dirty="0" smtClean="0"/>
          </a:p>
          <a:p>
            <a:r>
              <a:rPr lang="en-US" altLang="zh-TW" dirty="0" smtClean="0"/>
              <a:t>MBUS Commands in DISP</a:t>
            </a:r>
          </a:p>
          <a:p>
            <a:pPr lvl="1"/>
            <a:r>
              <a:rPr lang="en-US" altLang="zh-TW" dirty="0" smtClean="0"/>
              <a:t>1/2D CMDs modification for 10-bit </a:t>
            </a:r>
            <a:r>
              <a:rPr lang="en-US" altLang="zh-TW" dirty="0" err="1" smtClean="0"/>
              <a:t>rawdata</a:t>
            </a:r>
            <a:endParaRPr lang="en-US" altLang="zh-TW" dirty="0" smtClean="0"/>
          </a:p>
          <a:p>
            <a:r>
              <a:rPr lang="en-US" altLang="zh-TW" dirty="0" smtClean="0"/>
              <a:t>Register Setting in DISP DDFCH using 2D CMDs</a:t>
            </a:r>
          </a:p>
          <a:p>
            <a:pPr lvl="1"/>
            <a:r>
              <a:rPr lang="en-US" altLang="zh-TW" dirty="0" smtClean="0"/>
              <a:t>Register Setting </a:t>
            </a:r>
          </a:p>
          <a:p>
            <a:pPr lvl="1"/>
            <a:r>
              <a:rPr lang="en-US" altLang="zh-TW" dirty="0" smtClean="0"/>
              <a:t>E</a:t>
            </a:r>
            <a:r>
              <a:rPr lang="en-US" altLang="zh-TW" dirty="0" smtClean="0"/>
              <a:t>xample: </a:t>
            </a:r>
            <a:r>
              <a:rPr lang="en-US" altLang="zh-TW" dirty="0"/>
              <a:t>R</a:t>
            </a:r>
            <a:r>
              <a:rPr lang="en-US" altLang="zh-TW" dirty="0" smtClean="0"/>
              <a:t>egister setting by </a:t>
            </a:r>
            <a:r>
              <a:rPr lang="en-US" altLang="zh-TW" dirty="0" smtClean="0"/>
              <a:t>2D </a:t>
            </a:r>
            <a:r>
              <a:rPr lang="en-US" altLang="zh-TW" dirty="0" smtClean="0"/>
              <a:t>commands</a:t>
            </a:r>
          </a:p>
          <a:p>
            <a:pPr lvl="1"/>
            <a:r>
              <a:rPr lang="en-US" altLang="zh-TW" dirty="0" smtClean="0"/>
              <a:t>Example: Read </a:t>
            </a:r>
            <a:r>
              <a:rPr lang="en-US" altLang="zh-TW" dirty="0"/>
              <a:t>Sequence of </a:t>
            </a:r>
            <a:r>
              <a:rPr lang="en-US" altLang="zh-TW" dirty="0" err="1"/>
              <a:t>Luma</a:t>
            </a:r>
            <a:r>
              <a:rPr lang="en-US" altLang="zh-TW" dirty="0"/>
              <a:t> 720x576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74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Intro. – MBUS 2D Command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299941"/>
            <a:ext cx="8286006" cy="648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600" dirty="0" smtClean="0"/>
              <a:t>where X</a:t>
            </a:r>
            <a:r>
              <a:rPr lang="en-US" altLang="zh-TW" sz="1600" baseline="-25000" dirty="0" smtClean="0"/>
              <a:t>ADDR</a:t>
            </a:r>
            <a:r>
              <a:rPr lang="en-US" altLang="zh-TW" sz="1600" dirty="0" smtClean="0"/>
              <a:t>, Y</a:t>
            </a:r>
            <a:r>
              <a:rPr lang="en-US" altLang="zh-TW" sz="1600" baseline="-25000" dirty="0" smtClean="0"/>
              <a:t>ADDR</a:t>
            </a:r>
            <a:r>
              <a:rPr lang="en-US" altLang="zh-TW" sz="1600" dirty="0"/>
              <a:t> </a:t>
            </a:r>
            <a:r>
              <a:rPr lang="en-US" altLang="zh-TW" sz="1600" dirty="0" smtClean="0"/>
              <a:t>are defined in 2D command. </a:t>
            </a:r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 smtClean="0"/>
              <a:t>Every D(X</a:t>
            </a:r>
            <a:r>
              <a:rPr lang="en-US" altLang="zh-TW" sz="1600" baseline="-25000" dirty="0" smtClean="0"/>
              <a:t>ADDR</a:t>
            </a:r>
            <a:r>
              <a:rPr lang="en-US" altLang="zh-TW" sz="1600" dirty="0" smtClean="0"/>
              <a:t>, Y</a:t>
            </a:r>
            <a:r>
              <a:rPr lang="en-US" altLang="zh-TW" sz="1600" baseline="-25000" dirty="0" smtClean="0"/>
              <a:t>ADDR</a:t>
            </a:r>
            <a:r>
              <a:rPr lang="en-US" altLang="zh-TW" sz="1600" dirty="0" smtClean="0"/>
              <a:t> ) represents a 4-byte data.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987574"/>
            <a:ext cx="546735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173832" y="2412179"/>
            <a:ext cx="15121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 smtClean="0"/>
              <a:t>D(X</a:t>
            </a:r>
            <a:r>
              <a:rPr lang="en-US" altLang="zh-TW" baseline="-25000" dirty="0" smtClean="0"/>
              <a:t>ADDR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ADDR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363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rmAutofit/>
          </a:bodyPr>
          <a:lstStyle/>
          <a:p>
            <a:pPr lvl="0"/>
            <a:r>
              <a:rPr lang="en-US" altLang="zh-TW" dirty="0" smtClean="0"/>
              <a:t>Intro. – </a:t>
            </a:r>
            <a:r>
              <a:rPr lang="en-US" altLang="zh-CN" dirty="0" smtClean="0"/>
              <a:t>MBUS 2D </a:t>
            </a:r>
            <a:r>
              <a:rPr lang="en-US" altLang="zh-CN" dirty="0"/>
              <a:t>C</a:t>
            </a:r>
            <a:r>
              <a:rPr lang="en-US" altLang="zh-CN" dirty="0" smtClean="0"/>
              <a:t>ommand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270705"/>
              </p:ext>
            </p:extLst>
          </p:nvPr>
        </p:nvGraphicFramePr>
        <p:xfrm>
          <a:off x="323526" y="771550"/>
          <a:ext cx="8496946" cy="383744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04258"/>
                <a:gridCol w="1440160"/>
                <a:gridCol w="4752528"/>
              </a:tblGrid>
              <a:tr h="125706"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Command Phase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Bits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31427" marR="31427" marT="15713" marB="15713" anchor="ctr"/>
                </a:tc>
              </a:tr>
              <a:tr h="31426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CMD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>
                          <a:effectLst/>
                        </a:rPr>
                        <a:t>[2:0]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effectLst/>
                        </a:rPr>
                        <a:t>Command</a:t>
                      </a:r>
                    </a:p>
                    <a:p>
                      <a:pPr rtl="0"/>
                      <a:r>
                        <a:rPr lang="en-US" sz="1200">
                          <a:effectLst/>
                        </a:rPr>
                        <a:t>write: 3'b001</a:t>
                      </a:r>
                    </a:p>
                    <a:p>
                      <a:pPr rtl="0"/>
                      <a:r>
                        <a:rPr lang="en-US" sz="1200">
                          <a:effectLst/>
                        </a:rPr>
                        <a:t>read: 3'b010</a:t>
                      </a:r>
                    </a:p>
                  </a:txBody>
                  <a:tcPr marL="31427" marR="31427" marT="15713" marB="15713" anchor="ctr"/>
                </a:tc>
              </a:tr>
              <a:tr h="12570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ADDR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effectLst/>
                        </a:rPr>
                        <a:t>[31:0]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Address</a:t>
                      </a:r>
                    </a:p>
                    <a:p>
                      <a:pPr rtl="0"/>
                      <a:r>
                        <a:rPr lang="en-US" altLang="zh-TW" sz="1200" kern="100" dirty="0" smtClean="0">
                          <a:effectLst/>
                        </a:rPr>
                        <a:t>2D</a:t>
                      </a:r>
                      <a:r>
                        <a:rPr lang="en-US" altLang="zh-TW" sz="1200" kern="100" baseline="0" dirty="0" smtClean="0">
                          <a:effectLst/>
                        </a:rPr>
                        <a:t> MODE:     </a:t>
                      </a:r>
                      <a:r>
                        <a:rPr lang="en-US" altLang="zh-TW" sz="1200" kern="100" dirty="0" smtClean="0">
                          <a:solidFill>
                            <a:srgbClr val="0070C0"/>
                          </a:solidFill>
                          <a:effectLst/>
                        </a:rPr>
                        <a:t>[22:12]  </a:t>
                      </a:r>
                      <a:r>
                        <a:rPr lang="en-US" altLang="zh-TW" sz="1200" kern="100" dirty="0" err="1" smtClean="0">
                          <a:solidFill>
                            <a:srgbClr val="0070C0"/>
                          </a:solidFill>
                          <a:effectLst/>
                        </a:rPr>
                        <a:t>y_addr</a:t>
                      </a:r>
                      <a:r>
                        <a:rPr lang="en-US" altLang="zh-TW" sz="1200" kern="1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 </a:t>
                      </a:r>
                      <a:r>
                        <a:rPr lang="en-US" altLang="zh-TW" sz="1200" kern="100" dirty="0" smtClean="0">
                          <a:solidFill>
                            <a:srgbClr val="0070C0"/>
                          </a:solidFill>
                          <a:effectLst/>
                        </a:rPr>
                        <a:t>[11:2]  </a:t>
                      </a:r>
                      <a:r>
                        <a:rPr lang="en-US" altLang="zh-TW" sz="1200" kern="100" dirty="0" err="1" smtClean="0">
                          <a:solidFill>
                            <a:srgbClr val="0070C0"/>
                          </a:solidFill>
                          <a:effectLst/>
                        </a:rPr>
                        <a:t>x_addr</a:t>
                      </a:r>
                      <a:endParaRPr lang="en-US" altLang="zh-TW" sz="1200" kern="100" dirty="0" smtClean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31427" marR="31427" marT="15713" marB="15713" anchor="ctr"/>
                </a:tc>
              </a:tr>
              <a:tr h="12570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BURST_LEN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>
                          <a:effectLst/>
                        </a:rPr>
                        <a:t>[5:0]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Burst </a:t>
                      </a:r>
                      <a:r>
                        <a:rPr lang="en-US" sz="1200" dirty="0" smtClean="0">
                          <a:effectLst/>
                        </a:rPr>
                        <a:t>Length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(Burst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Unit: 64 bits, bus width)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31427" marR="31427" marT="15713" marB="15713" anchor="ctr"/>
                </a:tc>
              </a:tr>
              <a:tr h="40854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BURST_SEQ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>
                          <a:effectLst/>
                        </a:rPr>
                        <a:t>[2:0]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Burst Type</a:t>
                      </a:r>
                    </a:p>
                    <a:p>
                      <a:pPr rtl="0"/>
                      <a:r>
                        <a:rPr lang="en-US" sz="1200" dirty="0" smtClean="0">
                          <a:effectLst/>
                        </a:rPr>
                        <a:t>1D: 3'b000</a:t>
                      </a:r>
                      <a:r>
                        <a:rPr lang="en-US" sz="1200" baseline="0" dirty="0" smtClean="0">
                          <a:effectLst/>
                        </a:rPr>
                        <a:t> 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2D: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3'b111</a:t>
                      </a:r>
                    </a:p>
                    <a:p>
                      <a:pPr rtl="0"/>
                      <a:r>
                        <a:rPr lang="en-US" sz="1200" dirty="0">
                          <a:effectLst/>
                        </a:rPr>
                        <a:t>Others follow </a:t>
                      </a:r>
                      <a:r>
                        <a:rPr lang="en-US" sz="1200" dirty="0" smtClean="0">
                          <a:effectLst/>
                        </a:rPr>
                        <a:t>OCP</a:t>
                      </a:r>
                      <a:r>
                        <a:rPr lang="en-US" sz="1200" baseline="0" dirty="0" smtClean="0">
                          <a:effectLst/>
                        </a:rPr>
                        <a:t> Spec.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</a:tr>
              <a:tr h="50282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REQ_INFO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effectLst/>
                        </a:rPr>
                        <a:t>[1:0]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Command </a:t>
                      </a:r>
                      <a:r>
                        <a:rPr lang="en-US" sz="1200" dirty="0" smtClean="0">
                          <a:effectLst/>
                        </a:rPr>
                        <a:t>Type</a:t>
                      </a:r>
                    </a:p>
                    <a:p>
                      <a:pPr rtl="0"/>
                      <a:r>
                        <a:rPr lang="en-US" sz="1200" dirty="0" smtClean="0">
                          <a:effectLst/>
                        </a:rPr>
                        <a:t>[0] : for urgent at ND1.0 and ND1.1</a:t>
                      </a:r>
                    </a:p>
                  </a:txBody>
                  <a:tcPr marL="31427" marR="31427" marT="15713" marB="15713" anchor="ctr"/>
                </a:tc>
              </a:tr>
              <a:tr h="821827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ADDR_SPACE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effectLst/>
                        </a:rPr>
                        <a:t>[10:0]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Address Space ( For 2D command )</a:t>
                      </a:r>
                    </a:p>
                    <a:p>
                      <a:pPr rtl="0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[10:9]: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PIC_INDEX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(No used)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[8:2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] : BASE_INDEX : 0~127,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#Reference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frame</a:t>
                      </a:r>
                      <a:endParaRPr lang="zh-TW" altLang="en-US" sz="1200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rtl="0"/>
                      <a:r>
                        <a:rPr lang="en-US" altLang="zh-TW" sz="1200" dirty="0">
                          <a:solidFill>
                            <a:srgbClr val="0070C0"/>
                          </a:solidFill>
                          <a:effectLst/>
                        </a:rPr>
                        <a:t>[1:0] : 2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D MODE</a:t>
                      </a:r>
                    </a:p>
                    <a:p>
                      <a:pPr rtl="0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2'b00 : Linear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mode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2'b01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: Frame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mode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2'b10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: Field mode</a:t>
                      </a:r>
                    </a:p>
                    <a:p>
                      <a:pPr rtl="0"/>
                      <a:r>
                        <a:rPr lang="en-US" sz="1200" dirty="0">
                          <a:effectLst/>
                        </a:rPr>
                        <a:t>Others: </a:t>
                      </a:r>
                      <a:r>
                        <a:rPr lang="en-US" sz="1200" dirty="0" smtClean="0">
                          <a:effectLst/>
                        </a:rPr>
                        <a:t>Reserved</a:t>
                      </a:r>
                      <a:endParaRPr lang="en-US" sz="1200" dirty="0">
                        <a:effectLst/>
                      </a:endParaRPr>
                    </a:p>
                    <a:p>
                      <a:pPr rtl="0"/>
                      <a:r>
                        <a:rPr lang="en-US" sz="1200" dirty="0" smtClean="0">
                          <a:effectLst/>
                        </a:rPr>
                        <a:t>*10'b1100 </a:t>
                      </a:r>
                      <a:r>
                        <a:rPr lang="en-US" sz="1200" dirty="0">
                          <a:effectLst/>
                        </a:rPr>
                        <a:t>in some case is for MSI Command</a:t>
                      </a:r>
                    </a:p>
                  </a:txBody>
                  <a:tcPr marL="31427" marR="31427" marT="15713" marB="15713" anchor="ctr"/>
                </a:tc>
              </a:tr>
              <a:tr h="219986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BLOCK_HEIGHT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>
                          <a:effectLst/>
                        </a:rPr>
                        <a:t>[5:0]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Block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Height  (Burst Unit: bytes)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31427" marR="31427" marT="15713" marB="1571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35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Intro. – Masters in DISP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9" name="群組 8"/>
          <p:cNvGrpSpPr/>
          <p:nvPr/>
        </p:nvGrpSpPr>
        <p:grpSpPr>
          <a:xfrm>
            <a:off x="683568" y="1515924"/>
            <a:ext cx="5400600" cy="2676590"/>
            <a:chOff x="1475656" y="1563638"/>
            <a:chExt cx="6400800" cy="2981960"/>
          </a:xfrm>
        </p:grpSpPr>
        <p:pic>
          <p:nvPicPr>
            <p:cNvPr id="4" name="圖片 3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5656" y="1563638"/>
              <a:ext cx="6400800" cy="2981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矩形 4"/>
            <p:cNvSpPr/>
            <p:nvPr/>
          </p:nvSpPr>
          <p:spPr>
            <a:xfrm>
              <a:off x="1914400" y="2874598"/>
              <a:ext cx="720080" cy="5612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914400" y="2408945"/>
              <a:ext cx="720080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907704" y="1942467"/>
              <a:ext cx="720080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236296" y="3507854"/>
              <a:ext cx="576064" cy="5612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740" y="1185289"/>
            <a:ext cx="217170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74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30324"/>
            <a:ext cx="8229600" cy="857250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MBus</a:t>
            </a:r>
            <a:r>
              <a:rPr lang="en-US" altLang="zh-TW" dirty="0" smtClean="0"/>
              <a:t> Commands in DISP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153817"/>
              </p:ext>
            </p:extLst>
          </p:nvPr>
        </p:nvGraphicFramePr>
        <p:xfrm>
          <a:off x="395536" y="915566"/>
          <a:ext cx="8424936" cy="24482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0458"/>
                <a:gridCol w="458943"/>
                <a:gridCol w="611924"/>
                <a:gridCol w="753918"/>
                <a:gridCol w="688414"/>
                <a:gridCol w="852382"/>
                <a:gridCol w="611924"/>
                <a:gridCol w="764904"/>
                <a:gridCol w="764904"/>
                <a:gridCol w="876965"/>
                <a:gridCol w="864096"/>
                <a:gridCol w="936104"/>
              </a:tblGrid>
              <a:tr h="288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Master Name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CMD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BURST_SEQ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REQ_INFO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</a:t>
                      </a: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LENGTH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ADDR_SPACE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BLOCK_HEIGHT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360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BASE ADDRESS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INCR.  OFFSET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PIC_INDEX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BASE_INDEX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2D_MODE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G2D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READ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1D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32(Minimum)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16/32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3600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11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VPP</a:t>
                      </a:r>
                    </a:p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  <a:latin typeface="+mn-lt"/>
                        </a:rPr>
                        <a:t>(DDFCH)</a:t>
                      </a: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R/W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1D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128 (Minimum)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16/32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360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 smtClean="0">
                          <a:effectLst/>
                          <a:latin typeface="+mn-lt"/>
                        </a:rPr>
                        <a:t>READ</a:t>
                      </a:r>
                      <a:endParaRPr lang="en-US" altLang="zh-TW" sz="1050" u="none" strike="noStrike" dirty="0" smtClean="0"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>
                          <a:effectLst/>
                          <a:latin typeface="+mn-lt"/>
                        </a:rPr>
                        <a:t>2D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Register Setting</a:t>
                      </a:r>
                      <a:r>
                        <a:rPr lang="en-US" sz="1050" u="none" strike="noStrike" baseline="0" dirty="0" smtClean="0"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16/32</a:t>
                      </a:r>
                      <a:endParaRPr lang="zh-TW" sz="105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2'b0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2'b01</a:t>
                      </a: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(</a:t>
                      </a:r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Frame mode)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zh-TW" sz="105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solidFill>
                      <a:srgbClr val="92D050"/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16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OSD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READ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1D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u="none" strike="noStrike" dirty="0" smtClean="0">
                          <a:effectLst/>
                          <a:latin typeface="+mn-lt"/>
                        </a:rPr>
                        <a:t>32(Minimum)</a:t>
                      </a:r>
                      <a:endParaRPr lang="zh-TW" alt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16/32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17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AFRC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R/W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1D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128 (Minimum)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  <a:latin typeface="+mn-lt"/>
                        </a:rPr>
                        <a:t>32</a:t>
                      </a:r>
                      <a:endParaRPr lang="zh-TW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337020" y="3363838"/>
            <a:ext cx="84249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/>
              <a:t>Only MFD and DISP in MBUS use 2D command.</a:t>
            </a:r>
          </a:p>
          <a:p>
            <a:r>
              <a:rPr lang="en-US" altLang="zh-TW" sz="1400" dirty="0" smtClean="0"/>
              <a:t>G2D/OSD  : 8bit YUV/RGB : 1D command</a:t>
            </a:r>
          </a:p>
          <a:p>
            <a:r>
              <a:rPr lang="en-US" altLang="zh-TW" sz="1400" dirty="0"/>
              <a:t>	</a:t>
            </a:r>
            <a:r>
              <a:rPr lang="en-US" altLang="zh-TW" sz="1400" dirty="0">
                <a:solidFill>
                  <a:srgbClr val="0070C0"/>
                </a:solidFill>
              </a:rPr>
              <a:t>S</a:t>
            </a:r>
            <a:r>
              <a:rPr lang="en-US" altLang="zh-TW" sz="1400" dirty="0" smtClean="0">
                <a:solidFill>
                  <a:srgbClr val="0070C0"/>
                </a:solidFill>
              </a:rPr>
              <a:t>ource are not related with MFD. </a:t>
            </a:r>
          </a:p>
          <a:p>
            <a:r>
              <a:rPr lang="en-US" altLang="zh-TW" sz="1400" dirty="0" smtClean="0"/>
              <a:t>VPP            : MOTION/EDGE : 1D command, 8 bytes per 6 pixels.</a:t>
            </a:r>
          </a:p>
          <a:p>
            <a:r>
              <a:rPr lang="en-US" altLang="zh-TW" sz="1400" dirty="0">
                <a:solidFill>
                  <a:srgbClr val="0070C0"/>
                </a:solidFill>
              </a:rPr>
              <a:t> </a:t>
            </a:r>
            <a:r>
              <a:rPr lang="en-US" altLang="zh-TW" sz="1400" dirty="0" smtClean="0">
                <a:solidFill>
                  <a:srgbClr val="0070C0"/>
                </a:solidFill>
              </a:rPr>
              <a:t>                      For DEINT, not related with MFD.</a:t>
            </a:r>
          </a:p>
          <a:p>
            <a:r>
              <a:rPr lang="en-US" altLang="zh-TW" sz="1400" dirty="0"/>
              <a:t> </a:t>
            </a:r>
            <a:r>
              <a:rPr lang="en-US" altLang="zh-TW" sz="1400" dirty="0" smtClean="0"/>
              <a:t>                     8 bit LUMA/CHROMA: 1/2D CMD. </a:t>
            </a:r>
          </a:p>
          <a:p>
            <a:r>
              <a:rPr lang="en-US" altLang="zh-TW" sz="1400" dirty="0"/>
              <a:t> </a:t>
            </a:r>
            <a:r>
              <a:rPr lang="en-US" altLang="zh-TW" sz="1400" dirty="0" smtClean="0"/>
              <a:t>                     </a:t>
            </a:r>
            <a:r>
              <a:rPr lang="en-US" altLang="zh-TW" sz="1400" dirty="0" smtClean="0">
                <a:solidFill>
                  <a:srgbClr val="FF0000"/>
                </a:solidFill>
              </a:rPr>
              <a:t>2D CMD is for MFD. Need to extend the bit width to 10 bits.</a:t>
            </a:r>
          </a:p>
          <a:p>
            <a:r>
              <a:rPr lang="en-US" altLang="zh-TW" sz="1400" dirty="0" smtClean="0"/>
              <a:t>AFRC          :  8bit YCbCr422: 1D command </a:t>
            </a:r>
            <a:r>
              <a:rPr lang="en-US" altLang="zh-TW" sz="1400" dirty="0" smtClean="0">
                <a:solidFill>
                  <a:srgbClr val="FF0000"/>
                </a:solidFill>
              </a:rPr>
              <a:t>(TBD)</a:t>
            </a:r>
            <a:endParaRPr lang="en-US" altLang="zh-TW" sz="14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580112" y="3363838"/>
            <a:ext cx="3272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*This table are produced by my RTL code tracing. </a:t>
            </a:r>
          </a:p>
          <a:p>
            <a:r>
              <a:rPr lang="en-US" altLang="zh-TW" sz="1200" dirty="0" smtClean="0"/>
              <a:t>   It may have some differences in real case. 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6062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2D CMDs for 10-bit </a:t>
            </a:r>
            <a:r>
              <a:rPr lang="en-US" altLang="zh-TW" dirty="0" err="1" smtClean="0"/>
              <a:t>rawdata</a:t>
            </a:r>
            <a:endParaRPr lang="zh-TW" altLang="en-US" dirty="0"/>
          </a:p>
        </p:txBody>
      </p:sp>
      <p:graphicFrame>
        <p:nvGraphicFramePr>
          <p:cNvPr id="4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210093"/>
              </p:ext>
            </p:extLst>
          </p:nvPr>
        </p:nvGraphicFramePr>
        <p:xfrm>
          <a:off x="395536" y="987574"/>
          <a:ext cx="8352928" cy="104925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8403"/>
                <a:gridCol w="481677"/>
                <a:gridCol w="493307"/>
                <a:gridCol w="658821"/>
                <a:gridCol w="1703009"/>
                <a:gridCol w="606693"/>
                <a:gridCol w="758367"/>
                <a:gridCol w="758367"/>
                <a:gridCol w="710068"/>
                <a:gridCol w="1080120"/>
                <a:gridCol w="864096"/>
              </a:tblGrid>
              <a:tr h="288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Master Name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CMD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BURST_SEQ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REQ_INFO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</a:t>
                      </a: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LENGTH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ADDR_SPACE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BLOCK_HEIGHT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2160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PIC_INDEX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BASE_INDEX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2D_MODE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5452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11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VPP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50" u="none" strike="noStrike" dirty="0" smtClean="0">
                          <a:effectLst/>
                          <a:latin typeface="+mn-lt"/>
                        </a:rPr>
                        <a:t>(DDFCH)</a:t>
                      </a: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 smtClean="0">
                          <a:effectLst/>
                          <a:latin typeface="+mn-lt"/>
                        </a:rPr>
                        <a:t>READ</a:t>
                      </a:r>
                      <a:endParaRPr lang="en-US" altLang="zh-TW" sz="1050" u="none" strike="noStrike" dirty="0" smtClean="0"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>
                          <a:effectLst/>
                          <a:latin typeface="+mn-lt"/>
                        </a:rPr>
                        <a:t>2D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Register Setting</a:t>
                      </a:r>
                    </a:p>
                    <a:p>
                      <a:pPr algn="ctr" fontAlgn="ctr"/>
                      <a:r>
                        <a:rPr lang="en-US" altLang="zh-TW" sz="1050" b="0" i="0" u="none" strike="noStrike" kern="1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STARTPOINT + OFFSET</a:t>
                      </a:r>
                      <a:endParaRPr lang="en-US" altLang="zh-TW" sz="1050" kern="100" baseline="0" dirty="0" smtClean="0">
                        <a:effectLst/>
                      </a:endParaRPr>
                    </a:p>
                    <a:p>
                      <a:pPr algn="ctr" rtl="0"/>
                      <a:r>
                        <a:rPr lang="en-US" altLang="zh-TW" sz="1050" kern="100" dirty="0" smtClean="0">
                          <a:solidFill>
                            <a:srgbClr val="0070C0"/>
                          </a:solidFill>
                          <a:effectLst/>
                        </a:rPr>
                        <a:t>[22:12]  Y</a:t>
                      </a:r>
                      <a:r>
                        <a:rPr lang="en-US" altLang="zh-TW" sz="1050" kern="100" baseline="-25000" dirty="0" smtClean="0">
                          <a:solidFill>
                            <a:srgbClr val="0070C0"/>
                          </a:solidFill>
                          <a:effectLst/>
                        </a:rPr>
                        <a:t>ADDR</a:t>
                      </a:r>
                      <a:r>
                        <a:rPr lang="en-US" altLang="zh-TW" sz="1050" kern="1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</a:t>
                      </a:r>
                      <a:r>
                        <a:rPr lang="en-US" altLang="zh-TW" sz="1050" kern="100" dirty="0" smtClean="0">
                          <a:solidFill>
                            <a:srgbClr val="0070C0"/>
                          </a:solidFill>
                          <a:effectLst/>
                        </a:rPr>
                        <a:t>[11:2]  X</a:t>
                      </a:r>
                      <a:r>
                        <a:rPr lang="en-US" altLang="zh-TW" sz="1050" kern="100" baseline="-25000" dirty="0" smtClean="0">
                          <a:solidFill>
                            <a:srgbClr val="0070C0"/>
                          </a:solidFill>
                          <a:effectLst/>
                        </a:rPr>
                        <a:t>ADDR</a:t>
                      </a: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16/32</a:t>
                      </a:r>
                      <a:endParaRPr lang="zh-TW" sz="105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2'b0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endParaRPr lang="en-US" sz="1050" u="none" strike="noStrike" dirty="0" smtClean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2'b01</a:t>
                      </a: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(</a:t>
                      </a:r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Frame mode)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zh-TW" sz="105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>
                    <a:noFill/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67544" y="2067694"/>
            <a:ext cx="8136904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</a:rPr>
              <a:t>(X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ADDR</a:t>
            </a:r>
            <a:r>
              <a:rPr lang="en-US" altLang="zh-TW" sz="1400" dirty="0">
                <a:solidFill>
                  <a:srgbClr val="000000"/>
                </a:solidFill>
              </a:rPr>
              <a:t> , Y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ADDR</a:t>
            </a:r>
            <a:r>
              <a:rPr lang="en-US" altLang="zh-TW" sz="1400" dirty="0">
                <a:solidFill>
                  <a:srgbClr val="000000"/>
                </a:solidFill>
              </a:rPr>
              <a:t>) = (X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STARTPOINT </a:t>
            </a:r>
            <a:r>
              <a:rPr lang="en-US" altLang="zh-TW" sz="1400" dirty="0">
                <a:solidFill>
                  <a:srgbClr val="000000"/>
                </a:solidFill>
              </a:rPr>
              <a:t>, Y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STARTPOINT</a:t>
            </a:r>
            <a:r>
              <a:rPr lang="en-US" altLang="zh-TW" sz="1400" dirty="0">
                <a:solidFill>
                  <a:srgbClr val="000000"/>
                </a:solidFill>
              </a:rPr>
              <a:t>  ) + </a:t>
            </a:r>
            <a:r>
              <a:rPr lang="en-US" altLang="zh-TW" sz="1400" dirty="0" smtClean="0">
                <a:solidFill>
                  <a:srgbClr val="000000"/>
                </a:solidFill>
              </a:rPr>
              <a:t>(X</a:t>
            </a:r>
            <a:r>
              <a:rPr lang="en-US" altLang="zh-TW" sz="1400" baseline="-25000" dirty="0" smtClean="0">
                <a:solidFill>
                  <a:srgbClr val="000000"/>
                </a:solidFill>
              </a:rPr>
              <a:t>OFFSET</a:t>
            </a:r>
            <a:r>
              <a:rPr lang="en-US" altLang="zh-TW" sz="1400" dirty="0" smtClean="0">
                <a:solidFill>
                  <a:srgbClr val="000000"/>
                </a:solidFill>
              </a:rPr>
              <a:t> </a:t>
            </a:r>
            <a:r>
              <a:rPr lang="en-US" altLang="zh-TW" sz="1400" dirty="0">
                <a:solidFill>
                  <a:srgbClr val="000000"/>
                </a:solidFill>
              </a:rPr>
              <a:t>, </a:t>
            </a:r>
            <a:r>
              <a:rPr lang="en-US" altLang="zh-TW" sz="1400" dirty="0" smtClean="0">
                <a:solidFill>
                  <a:srgbClr val="000000"/>
                </a:solidFill>
              </a:rPr>
              <a:t>Y</a:t>
            </a:r>
            <a:r>
              <a:rPr lang="en-US" altLang="zh-TW" sz="1400" baseline="-25000" dirty="0" smtClean="0">
                <a:solidFill>
                  <a:srgbClr val="000000"/>
                </a:solidFill>
              </a:rPr>
              <a:t>OFFSET</a:t>
            </a:r>
            <a:r>
              <a:rPr lang="en-US" altLang="zh-TW" sz="1400" dirty="0" smtClean="0">
                <a:solidFill>
                  <a:srgbClr val="000000"/>
                </a:solidFill>
              </a:rPr>
              <a:t> </a:t>
            </a:r>
            <a:r>
              <a:rPr lang="en-US" altLang="zh-TW" sz="1400" dirty="0">
                <a:solidFill>
                  <a:srgbClr val="000000"/>
                </a:solidFill>
              </a:rPr>
              <a:t>)</a:t>
            </a:r>
          </a:p>
          <a:p>
            <a:r>
              <a:rPr lang="en-US" altLang="zh-TW" sz="1400" dirty="0">
                <a:solidFill>
                  <a:srgbClr val="000000"/>
                </a:solidFill>
              </a:rPr>
              <a:t>(X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STARTPOINT</a:t>
            </a:r>
            <a:r>
              <a:rPr lang="en-US" altLang="zh-TW" sz="1400" dirty="0">
                <a:solidFill>
                  <a:srgbClr val="000000"/>
                </a:solidFill>
              </a:rPr>
              <a:t>, Y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STARTPOINT</a:t>
            </a:r>
            <a:r>
              <a:rPr lang="en-US" altLang="zh-TW" sz="1400" dirty="0">
                <a:solidFill>
                  <a:srgbClr val="000000"/>
                </a:solidFill>
              </a:rPr>
              <a:t>) </a:t>
            </a:r>
            <a:r>
              <a:rPr lang="en-US" altLang="zh-TW" sz="1400" dirty="0">
                <a:solidFill>
                  <a:srgbClr val="000000"/>
                </a:solidFill>
                <a:sym typeface="Wingdings" panose="05000000000000000000" pitchFamily="2" charset="2"/>
              </a:rPr>
              <a:t> Defined in</a:t>
            </a:r>
            <a:r>
              <a:rPr lang="en-US" altLang="zh-TW" sz="1400" dirty="0">
                <a:solidFill>
                  <a:srgbClr val="000000"/>
                </a:solidFill>
              </a:rPr>
              <a:t> </a:t>
            </a:r>
            <a:r>
              <a:rPr lang="en-US" altLang="zh-TW" sz="1400" dirty="0" smtClean="0">
                <a:solidFill>
                  <a:srgbClr val="000000"/>
                </a:solidFill>
              </a:rPr>
              <a:t>registers G80.4</a:t>
            </a:r>
            <a:r>
              <a:rPr lang="en-US" altLang="zh-TW" sz="1400" dirty="0">
                <a:solidFill>
                  <a:srgbClr val="000000"/>
                </a:solidFill>
              </a:rPr>
              <a:t>, </a:t>
            </a:r>
            <a:r>
              <a:rPr lang="en-US" altLang="zh-TW" sz="1400" dirty="0" smtClean="0">
                <a:solidFill>
                  <a:srgbClr val="000000"/>
                </a:solidFill>
              </a:rPr>
              <a:t>G80.5</a:t>
            </a:r>
          </a:p>
          <a:p>
            <a:endParaRPr lang="en-US" altLang="zh-TW" sz="1000" dirty="0">
              <a:solidFill>
                <a:srgbClr val="000000"/>
              </a:solidFill>
            </a:endParaRPr>
          </a:p>
          <a:p>
            <a:r>
              <a:rPr lang="en-US" altLang="zh-TW" sz="1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One Transfer  </a:t>
            </a:r>
            <a:r>
              <a:rPr lang="en-US" altLang="zh-TW" sz="1400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MBus</a:t>
            </a:r>
            <a:r>
              <a:rPr lang="en-US" altLang="zh-TW" sz="1400" dirty="0" smtClean="0">
                <a:solidFill>
                  <a:srgbClr val="000000"/>
                </a:solidFill>
                <a:sym typeface="Wingdings" panose="05000000000000000000" pitchFamily="2" charset="2"/>
              </a:rPr>
              <a:t> Data width = 8 bytes  ADDR = ADDR + 8 </a:t>
            </a:r>
            <a:r>
              <a:rPr lang="en-US" altLang="zh-TW" sz="1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 </a:t>
            </a:r>
            <a:r>
              <a:rPr lang="en-US" altLang="zh-TW" sz="1400" dirty="0" smtClean="0">
                <a:solidFill>
                  <a:srgbClr val="000000"/>
                </a:solidFill>
              </a:rPr>
              <a:t>X</a:t>
            </a:r>
            <a:r>
              <a:rPr lang="en-US" altLang="zh-TW" sz="1400" baseline="-25000" dirty="0" smtClean="0">
                <a:solidFill>
                  <a:srgbClr val="000000"/>
                </a:solidFill>
              </a:rPr>
              <a:t>ADDR </a:t>
            </a:r>
            <a:r>
              <a:rPr lang="en-US" altLang="zh-TW" sz="1400" dirty="0" smtClean="0">
                <a:solidFill>
                  <a:srgbClr val="000000"/>
                </a:solidFill>
              </a:rPr>
              <a:t> += 2</a:t>
            </a:r>
          </a:p>
          <a:p>
            <a:endParaRPr lang="en-US" altLang="zh-TW" sz="500" dirty="0" smtClean="0">
              <a:solidFill>
                <a:srgbClr val="000000"/>
              </a:solidFill>
            </a:endParaRPr>
          </a:p>
          <a:p>
            <a:r>
              <a:rPr lang="en-US" altLang="zh-TW" sz="1400" b="1" dirty="0" smtClean="0">
                <a:solidFill>
                  <a:srgbClr val="000000"/>
                </a:solidFill>
              </a:rPr>
              <a:t>CASE: 8-bit extension                          CASE</a:t>
            </a:r>
            <a:r>
              <a:rPr lang="en-US" altLang="zh-TW" sz="1400" b="1" dirty="0">
                <a:solidFill>
                  <a:srgbClr val="000000"/>
                </a:solidFill>
              </a:rPr>
              <a:t>: </a:t>
            </a:r>
            <a:r>
              <a:rPr lang="en-US" altLang="zh-TW" sz="1400" b="1" dirty="0" smtClean="0">
                <a:solidFill>
                  <a:srgbClr val="000000"/>
                </a:solidFill>
              </a:rPr>
              <a:t>10-bit </a:t>
            </a:r>
            <a:r>
              <a:rPr lang="en-US" altLang="zh-TW" sz="1400" b="1" dirty="0">
                <a:solidFill>
                  <a:srgbClr val="000000"/>
                </a:solidFill>
              </a:rPr>
              <a:t>extension</a:t>
            </a:r>
          </a:p>
          <a:p>
            <a:r>
              <a:rPr lang="en-US" altLang="zh-TW" sz="1400" dirty="0" smtClean="0"/>
              <a:t>   </a:t>
            </a:r>
            <a:r>
              <a:rPr lang="en-US" altLang="zh-TW" sz="1400" b="1" dirty="0" smtClean="0"/>
              <a:t>WHEN BURST_LENGTH </a:t>
            </a:r>
            <a:r>
              <a:rPr lang="en-US" altLang="zh-TW" sz="1400" b="1" dirty="0"/>
              <a:t>= 16</a:t>
            </a:r>
          </a:p>
          <a:p>
            <a:r>
              <a:rPr lang="en-US" altLang="zh-TW" sz="1400" dirty="0"/>
              <a:t>  </a:t>
            </a:r>
            <a:r>
              <a:rPr lang="en-US" altLang="zh-TW" sz="1400" dirty="0" smtClean="0"/>
              <a:t>      </a:t>
            </a:r>
            <a:r>
              <a:rPr lang="en-US" altLang="zh-TW" sz="1400" dirty="0">
                <a:solidFill>
                  <a:srgbClr val="000000"/>
                </a:solidFill>
              </a:rPr>
              <a:t>X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OFFSET </a:t>
            </a:r>
            <a:r>
              <a:rPr lang="en-US" altLang="zh-TW" sz="1400" baseline="-25000" dirty="0" smtClean="0">
                <a:solidFill>
                  <a:srgbClr val="000000"/>
                </a:solidFill>
              </a:rPr>
              <a:t> </a:t>
            </a:r>
            <a:r>
              <a:rPr lang="en-US" altLang="zh-TW" sz="1400" dirty="0" smtClean="0"/>
              <a:t>= 16*2 = 32                   	</a:t>
            </a:r>
            <a:r>
              <a:rPr lang="en-US" altLang="zh-TW" sz="1400" dirty="0" smtClean="0">
                <a:sym typeface="Wingdings" panose="05000000000000000000" pitchFamily="2" charset="2"/>
              </a:rPr>
              <a:t> </a:t>
            </a:r>
            <a:r>
              <a:rPr lang="en-US" altLang="zh-TW" sz="1400" dirty="0" smtClean="0">
                <a:solidFill>
                  <a:srgbClr val="FF0000"/>
                </a:solidFill>
              </a:rPr>
              <a:t>X</a:t>
            </a:r>
            <a:r>
              <a:rPr lang="en-US" altLang="zh-TW" sz="1400" baseline="-25000" dirty="0" smtClean="0">
                <a:solidFill>
                  <a:srgbClr val="FF0000"/>
                </a:solidFill>
              </a:rPr>
              <a:t>OFFSET </a:t>
            </a:r>
            <a:r>
              <a:rPr lang="en-US" altLang="zh-TW" sz="1400" dirty="0">
                <a:solidFill>
                  <a:srgbClr val="FF0000"/>
                </a:solidFill>
              </a:rPr>
              <a:t>= 16*2*1.25 = 40 </a:t>
            </a:r>
          </a:p>
          <a:p>
            <a:r>
              <a:rPr lang="en-US" altLang="zh-TW" sz="1400" dirty="0">
                <a:sym typeface="Wingdings" panose="05000000000000000000" pitchFamily="2" charset="2"/>
              </a:rPr>
              <a:t> </a:t>
            </a:r>
            <a:r>
              <a:rPr lang="en-US" altLang="zh-TW" sz="1400" dirty="0" smtClean="0">
                <a:sym typeface="Wingdings" panose="05000000000000000000" pitchFamily="2" charset="2"/>
              </a:rPr>
              <a:t>       </a:t>
            </a:r>
            <a:r>
              <a:rPr lang="en-US" altLang="zh-TW" sz="1400" dirty="0" smtClean="0"/>
              <a:t>BURST_LENGTH </a:t>
            </a:r>
            <a:r>
              <a:rPr lang="en-US" altLang="zh-TW" sz="1400" dirty="0"/>
              <a:t>= 16   </a:t>
            </a:r>
            <a:r>
              <a:rPr lang="en-US" altLang="zh-TW" sz="1400" dirty="0" smtClean="0"/>
              <a:t>	</a:t>
            </a:r>
            <a:r>
              <a:rPr lang="en-US" altLang="zh-TW" sz="1400" dirty="0" smtClean="0">
                <a:sym typeface="Wingdings" panose="05000000000000000000" pitchFamily="2" charset="2"/>
              </a:rPr>
              <a:t> </a:t>
            </a:r>
            <a:r>
              <a:rPr lang="en-US" altLang="zh-TW" sz="1400" dirty="0" smtClean="0">
                <a:solidFill>
                  <a:srgbClr val="FF0000"/>
                </a:solidFill>
              </a:rPr>
              <a:t>BURST_LENGTH </a:t>
            </a:r>
            <a:r>
              <a:rPr lang="en-US" altLang="zh-TW" sz="1400" dirty="0">
                <a:solidFill>
                  <a:srgbClr val="FF0000"/>
                </a:solidFill>
              </a:rPr>
              <a:t>= 16 *1.25 = 20</a:t>
            </a:r>
          </a:p>
          <a:p>
            <a:r>
              <a:rPr lang="en-US" altLang="zh-TW" sz="1400" dirty="0" smtClean="0"/>
              <a:t>   </a:t>
            </a:r>
            <a:r>
              <a:rPr lang="en-US" altLang="zh-TW" sz="1400" b="1" dirty="0" smtClean="0"/>
              <a:t>WHEN BURST_LENGTH </a:t>
            </a:r>
            <a:r>
              <a:rPr lang="en-US" altLang="zh-TW" sz="1400" b="1" dirty="0"/>
              <a:t>= 32</a:t>
            </a:r>
          </a:p>
          <a:p>
            <a:r>
              <a:rPr lang="en-US" altLang="zh-TW" sz="1400" dirty="0"/>
              <a:t>   </a:t>
            </a:r>
            <a:r>
              <a:rPr lang="en-US" altLang="zh-TW" sz="1400" dirty="0" smtClean="0"/>
              <a:t>     </a:t>
            </a:r>
            <a:r>
              <a:rPr lang="en-US" altLang="zh-TW" sz="1400" dirty="0" smtClean="0">
                <a:solidFill>
                  <a:srgbClr val="000000"/>
                </a:solidFill>
              </a:rPr>
              <a:t>X</a:t>
            </a:r>
            <a:r>
              <a:rPr lang="en-US" altLang="zh-TW" sz="1400" baseline="-25000" dirty="0" smtClean="0">
                <a:solidFill>
                  <a:srgbClr val="000000"/>
                </a:solidFill>
              </a:rPr>
              <a:t>OFFSET  </a:t>
            </a:r>
            <a:r>
              <a:rPr lang="en-US" altLang="zh-TW" sz="1400" dirty="0" smtClean="0"/>
              <a:t>= 32*2 = 64     	</a:t>
            </a:r>
            <a:r>
              <a:rPr lang="en-US" altLang="zh-TW" sz="1400" dirty="0" smtClean="0">
                <a:sym typeface="Wingdings" panose="05000000000000000000" pitchFamily="2" charset="2"/>
              </a:rPr>
              <a:t>  </a:t>
            </a:r>
            <a:r>
              <a:rPr lang="en-US" altLang="zh-TW" sz="1400" dirty="0" smtClean="0">
                <a:solidFill>
                  <a:srgbClr val="FF0000"/>
                </a:solidFill>
              </a:rPr>
              <a:t>X</a:t>
            </a:r>
            <a:r>
              <a:rPr lang="en-US" altLang="zh-TW" sz="1400" baseline="-25000" dirty="0" smtClean="0">
                <a:solidFill>
                  <a:srgbClr val="FF0000"/>
                </a:solidFill>
              </a:rPr>
              <a:t>OFFSET </a:t>
            </a:r>
            <a:r>
              <a:rPr lang="en-US" altLang="zh-TW" sz="1400" dirty="0">
                <a:solidFill>
                  <a:srgbClr val="FF0000"/>
                </a:solidFill>
              </a:rPr>
              <a:t>= 32*2*1.25 = 80</a:t>
            </a:r>
          </a:p>
          <a:p>
            <a:r>
              <a:rPr lang="en-US" altLang="zh-TW" sz="1400" dirty="0"/>
              <a:t>   </a:t>
            </a:r>
            <a:r>
              <a:rPr lang="en-US" altLang="zh-TW" sz="1400" dirty="0" smtClean="0"/>
              <a:t>     BURST_LENGTH </a:t>
            </a:r>
            <a:r>
              <a:rPr lang="en-US" altLang="zh-TW" sz="1400" dirty="0"/>
              <a:t>= </a:t>
            </a:r>
            <a:r>
              <a:rPr lang="en-US" altLang="zh-TW" sz="1400" dirty="0" smtClean="0"/>
              <a:t>32  	</a:t>
            </a:r>
            <a:r>
              <a:rPr lang="en-US" altLang="zh-TW" sz="1400" dirty="0" smtClean="0">
                <a:sym typeface="Wingdings" panose="05000000000000000000" pitchFamily="2" charset="2"/>
              </a:rPr>
              <a:t>  </a:t>
            </a:r>
            <a:r>
              <a:rPr lang="en-US" altLang="zh-TW" sz="1400" dirty="0" smtClean="0">
                <a:solidFill>
                  <a:srgbClr val="FF0000"/>
                </a:solidFill>
              </a:rPr>
              <a:t>BURST_LENGTH </a:t>
            </a:r>
            <a:r>
              <a:rPr lang="en-US" altLang="zh-TW" sz="1400" dirty="0">
                <a:solidFill>
                  <a:srgbClr val="FF0000"/>
                </a:solidFill>
              </a:rPr>
              <a:t>= </a:t>
            </a:r>
            <a:r>
              <a:rPr lang="en-US" altLang="zh-TW" sz="1400" dirty="0" smtClean="0">
                <a:solidFill>
                  <a:srgbClr val="FF0000"/>
                </a:solidFill>
              </a:rPr>
              <a:t>32 </a:t>
            </a:r>
            <a:r>
              <a:rPr lang="en-US" altLang="zh-TW" sz="1400" dirty="0">
                <a:solidFill>
                  <a:srgbClr val="FF0000"/>
                </a:solidFill>
              </a:rPr>
              <a:t>*1.25 = </a:t>
            </a:r>
            <a:r>
              <a:rPr lang="en-US" altLang="zh-TW" sz="1400" dirty="0" smtClean="0">
                <a:solidFill>
                  <a:srgbClr val="FF0000"/>
                </a:solidFill>
              </a:rPr>
              <a:t>40</a:t>
            </a:r>
            <a:endParaRPr lang="en-US" altLang="zh-TW" sz="1400" dirty="0"/>
          </a:p>
          <a:p>
            <a:r>
              <a:rPr lang="en-US" altLang="zh-TW" sz="1400" dirty="0">
                <a:solidFill>
                  <a:srgbClr val="000000"/>
                </a:solidFill>
              </a:rPr>
              <a:t>Y</a:t>
            </a:r>
            <a:r>
              <a:rPr lang="en-US" altLang="zh-TW" sz="1400" baseline="-25000" dirty="0">
                <a:solidFill>
                  <a:srgbClr val="000000"/>
                </a:solidFill>
              </a:rPr>
              <a:t>OFFSET </a:t>
            </a:r>
            <a:r>
              <a:rPr lang="en-US" altLang="zh-TW" sz="1400" dirty="0" smtClean="0">
                <a:solidFill>
                  <a:srgbClr val="000000"/>
                </a:solidFill>
              </a:rPr>
              <a:t> = 1, no </a:t>
            </a:r>
            <a:r>
              <a:rPr lang="en-US" altLang="zh-TW" sz="1400" dirty="0">
                <a:solidFill>
                  <a:srgbClr val="000000"/>
                </a:solidFill>
              </a:rPr>
              <a:t>need to change</a:t>
            </a:r>
            <a:r>
              <a:rPr lang="en-US" altLang="zh-TW" sz="1400" dirty="0" smtClean="0">
                <a:solidFill>
                  <a:srgbClr val="000000"/>
                </a:solidFill>
              </a:rPr>
              <a:t>. </a:t>
            </a:r>
          </a:p>
          <a:p>
            <a:endParaRPr lang="en-US" altLang="zh-TW" sz="1400" dirty="0" smtClean="0">
              <a:solidFill>
                <a:srgbClr val="000000"/>
              </a:solidFill>
            </a:endParaRPr>
          </a:p>
          <a:p>
            <a:r>
              <a:rPr lang="en-US" altLang="zh-TW" sz="1400" dirty="0">
                <a:solidFill>
                  <a:srgbClr val="FF0000"/>
                </a:solidFill>
              </a:rPr>
              <a:t>A</a:t>
            </a:r>
            <a:r>
              <a:rPr lang="en-US" altLang="zh-TW" sz="1400" dirty="0" smtClean="0">
                <a:solidFill>
                  <a:srgbClr val="FF0000"/>
                </a:solidFill>
              </a:rPr>
              <a:t>ll follows the rules of 8-byte alignment.</a:t>
            </a:r>
          </a:p>
          <a:p>
            <a:endParaRPr lang="en-US" altLang="zh-TW" sz="1400" dirty="0" smtClean="0">
              <a:solidFill>
                <a:srgbClr val="FF0000"/>
              </a:solidFill>
            </a:endParaRPr>
          </a:p>
          <a:p>
            <a:endParaRPr lang="en-US" altLang="zh-TW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92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1D CMDs for 10-bit </a:t>
            </a:r>
            <a:r>
              <a:rPr lang="en-US" altLang="zh-TW" dirty="0" err="1" smtClean="0"/>
              <a:t>rawdata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88510"/>
              </p:ext>
            </p:extLst>
          </p:nvPr>
        </p:nvGraphicFramePr>
        <p:xfrm>
          <a:off x="323528" y="1131590"/>
          <a:ext cx="8424936" cy="100811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0458"/>
                <a:gridCol w="458943"/>
                <a:gridCol w="611924"/>
                <a:gridCol w="753918"/>
                <a:gridCol w="688414"/>
                <a:gridCol w="852382"/>
                <a:gridCol w="611924"/>
                <a:gridCol w="764904"/>
                <a:gridCol w="764904"/>
                <a:gridCol w="876965"/>
                <a:gridCol w="864096"/>
                <a:gridCol w="936104"/>
              </a:tblGrid>
              <a:tr h="28803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Master Name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CMD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BURST_SEQ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REQ_INFO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BURST_</a:t>
                      </a:r>
                    </a:p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LENGTH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ADDR_SPACE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BLOCK_HEIGHT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  <a:tr h="3600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BASE ADDRESS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INCR.  OFFSET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PIC_INDEX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BASE_INDEX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2D_MODE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17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AFRC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R/W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1D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Register </a:t>
                      </a:r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Setting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128 </a:t>
                      </a:r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(Minimum)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+mn-lt"/>
                        </a:rPr>
                        <a:t>URGENT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32</a:t>
                      </a:r>
                      <a:endParaRPr lang="zh-TW" sz="105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0s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 smtClean="0">
                          <a:effectLst/>
                          <a:latin typeface="+mn-lt"/>
                        </a:rPr>
                        <a:t>0</a:t>
                      </a:r>
                      <a:endParaRPr 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59" marR="4759" marT="4759" marB="0"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412924" y="2499742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 smtClean="0">
                <a:solidFill>
                  <a:srgbClr val="000000"/>
                </a:solidFill>
              </a:rPr>
              <a:t>CASE: 10-bit extension</a:t>
            </a:r>
          </a:p>
          <a:p>
            <a:r>
              <a:rPr lang="en-US" altLang="zh-TW" dirty="0" smtClean="0"/>
              <a:t>   NEW BURST_LENGTH 	= 32*1.25 = 40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NEW INCR. OFFSET     	= 128*1.25 = 160</a:t>
            </a:r>
          </a:p>
          <a:p>
            <a:r>
              <a:rPr lang="en-US" altLang="zh-TW" dirty="0" smtClean="0"/>
              <a:t>      </a:t>
            </a:r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69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100" dirty="0" err="1" smtClean="0"/>
              <a:t>MBus</a:t>
            </a:r>
            <a:r>
              <a:rPr lang="en-US" altLang="zh-TW" sz="3100" dirty="0" smtClean="0"/>
              <a:t> Read Sequence for MFD </a:t>
            </a:r>
            <a:r>
              <a:rPr lang="en-US" altLang="zh-TW" sz="3100" dirty="0" err="1" smtClean="0"/>
              <a:t>rawdata</a:t>
            </a:r>
            <a:r>
              <a:rPr lang="en-US" altLang="zh-TW" sz="3100" dirty="0" smtClean="0"/>
              <a:t> using 2D CMD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Register Setting</a:t>
            </a:r>
          </a:p>
          <a:p>
            <a:r>
              <a:rPr lang="en-US" altLang="zh-TW" dirty="0" smtClean="0"/>
              <a:t>Read Sequence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72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Register Setting for DDFCH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We have to clarity the following settings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DISP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2D CMD Enable – G80.28.6</a:t>
            </a:r>
          </a:p>
          <a:p>
            <a:pPr lvl="1"/>
            <a:r>
              <a:rPr lang="en-US" altLang="zh-TW" dirty="0" smtClean="0"/>
              <a:t>Setting for X</a:t>
            </a:r>
            <a:r>
              <a:rPr lang="en-US" altLang="zh-TW" baseline="-25000" dirty="0" smtClean="0"/>
              <a:t>STARTPOINT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STARTPOINT </a:t>
            </a:r>
            <a:r>
              <a:rPr lang="en-US" altLang="zh-TW" dirty="0" smtClean="0"/>
              <a:t> – G80.0 and G80.1</a:t>
            </a:r>
            <a:endParaRPr lang="en-US" altLang="zh-TW" baseline="-25000" dirty="0"/>
          </a:p>
          <a:p>
            <a:pPr lvl="1"/>
            <a:r>
              <a:rPr lang="en-US" altLang="zh-TW" dirty="0" smtClean="0"/>
              <a:t>Frame Width </a:t>
            </a:r>
            <a:r>
              <a:rPr lang="en-US" altLang="zh-TW" dirty="0" smtClean="0"/>
              <a:t>and Height – G80.2 and G80.3</a:t>
            </a:r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Pointer to Reference Frame in SDCTRL – </a:t>
            </a:r>
            <a:r>
              <a:rPr lang="en-US" altLang="zh-TW" dirty="0" smtClean="0">
                <a:solidFill>
                  <a:srgbClr val="0070C0"/>
                </a:solidFill>
              </a:rPr>
              <a:t>G80.17 to G80.22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lvl="2"/>
            <a:r>
              <a:rPr lang="en-US" altLang="zh-TW" dirty="0" smtClean="0">
                <a:solidFill>
                  <a:srgbClr val="0070C0"/>
                </a:solidFill>
              </a:rPr>
              <a:t>Pervious/Current/Next  </a:t>
            </a:r>
            <a:r>
              <a:rPr lang="en-US" altLang="zh-TW" dirty="0" smtClean="0">
                <a:solidFill>
                  <a:srgbClr val="0070C0"/>
                </a:solidFill>
              </a:rPr>
              <a:t>frame with  </a:t>
            </a:r>
            <a:r>
              <a:rPr lang="en-US" altLang="zh-TW" dirty="0" err="1" smtClean="0">
                <a:solidFill>
                  <a:srgbClr val="0070C0"/>
                </a:solidFill>
              </a:rPr>
              <a:t>Luma</a:t>
            </a:r>
            <a:r>
              <a:rPr lang="en-US" altLang="zh-TW" dirty="0" smtClean="0">
                <a:solidFill>
                  <a:srgbClr val="0070C0"/>
                </a:solidFill>
              </a:rPr>
              <a:t>/Chroma</a:t>
            </a:r>
          </a:p>
          <a:p>
            <a:r>
              <a:rPr lang="en-US" altLang="zh-TW" dirty="0" smtClean="0"/>
              <a:t>SDCTRL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Address Mapping in SDCTRL – G36.0 to G39.31</a:t>
            </a:r>
            <a:endParaRPr lang="en-US" altLang="zh-TW" dirty="0">
              <a:solidFill>
                <a:srgbClr val="0070C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MB size setting matched with MFD</a:t>
            </a:r>
          </a:p>
        </p:txBody>
      </p:sp>
    </p:spTree>
    <p:extLst>
      <p:ext uri="{BB962C8B-B14F-4D97-AF65-F5344CB8AC3E}">
        <p14:creationId xmlns:p14="http://schemas.microsoft.com/office/powerpoint/2010/main" val="120538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2D CMD Enable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 smtClean="0">
                <a:solidFill>
                  <a:srgbClr val="FF0000"/>
                </a:solidFill>
              </a:rPr>
              <a:t>Default : </a:t>
            </a:r>
            <a:r>
              <a:rPr lang="en-US" altLang="zh-TW" sz="1800" dirty="0" smtClean="0">
                <a:solidFill>
                  <a:srgbClr val="FF0000"/>
                </a:solidFill>
              </a:rPr>
              <a:t>G80.28.6 </a:t>
            </a:r>
            <a:r>
              <a:rPr lang="en-US" altLang="zh-TW" sz="1800" dirty="0" smtClean="0">
                <a:solidFill>
                  <a:srgbClr val="FF0000"/>
                </a:solidFill>
              </a:rPr>
              <a:t>= </a:t>
            </a:r>
            <a:r>
              <a:rPr lang="en-US" altLang="zh-TW" sz="1800" dirty="0" smtClean="0">
                <a:solidFill>
                  <a:srgbClr val="FF0000"/>
                </a:solidFill>
              </a:rPr>
              <a:t>1 </a:t>
            </a:r>
            <a:r>
              <a:rPr lang="en-US" altLang="zh-TW" sz="1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Set to 2D mode</a:t>
            </a:r>
            <a:endParaRPr lang="en-US" altLang="zh-TW" sz="1800" dirty="0" smtClean="0">
              <a:solidFill>
                <a:srgbClr val="FF0000"/>
              </a:solidFill>
            </a:endParaRPr>
          </a:p>
          <a:p>
            <a:endParaRPr lang="en-US" altLang="zh-TW" sz="1800" dirty="0"/>
          </a:p>
          <a:p>
            <a:endParaRPr lang="en-US" altLang="zh-TW" sz="1800" dirty="0" smtClean="0"/>
          </a:p>
          <a:p>
            <a:endParaRPr lang="en-US" altLang="zh-TW" sz="1800" dirty="0" smtClean="0"/>
          </a:p>
          <a:p>
            <a:pPr marL="0" indent="0">
              <a:buNone/>
            </a:pPr>
            <a:endParaRPr lang="en-US" altLang="zh-TW" sz="1800" dirty="0"/>
          </a:p>
          <a:p>
            <a:r>
              <a:rPr lang="en-US" altLang="zh-TW" sz="1800" dirty="0" smtClean="0"/>
              <a:t>USER MODE</a:t>
            </a:r>
          </a:p>
          <a:p>
            <a:pPr lvl="2"/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1563638"/>
            <a:ext cx="60674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06588"/>
            <a:ext cx="5781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96"/>
          <a:stretch/>
        </p:blipFill>
        <p:spPr bwMode="auto">
          <a:xfrm>
            <a:off x="1311275" y="3167794"/>
            <a:ext cx="5943600" cy="69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09" b="4598"/>
          <a:stretch/>
        </p:blipFill>
        <p:spPr bwMode="auto">
          <a:xfrm>
            <a:off x="1342728" y="3866170"/>
            <a:ext cx="5943600" cy="558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91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Pointer to Reference Frame in SDCTRL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097374"/>
            <a:ext cx="4038600" cy="3922648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Current Frame</a:t>
            </a:r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pPr marL="0" indent="0">
              <a:buNone/>
            </a:pPr>
            <a:endParaRPr lang="en-US" altLang="zh-TW" sz="3200" dirty="0"/>
          </a:p>
          <a:p>
            <a:r>
              <a:rPr lang="en-US" altLang="zh-TW" sz="2000" dirty="0" smtClean="0"/>
              <a:t>Next</a:t>
            </a:r>
            <a:endParaRPr lang="zh-TW" altLang="en-US" sz="2000" dirty="0"/>
          </a:p>
        </p:txBody>
      </p:sp>
      <p:sp>
        <p:nvSpPr>
          <p:cNvPr id="18" name="內容版面配置區 17"/>
          <p:cNvSpPr>
            <a:spLocks noGrp="1"/>
          </p:cNvSpPr>
          <p:nvPr>
            <p:ph sz="half" idx="2"/>
          </p:nvPr>
        </p:nvSpPr>
        <p:spPr>
          <a:xfrm>
            <a:off x="4648200" y="1106314"/>
            <a:ext cx="4038600" cy="2545556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Pervious</a:t>
            </a:r>
            <a:endParaRPr lang="zh-TW" altLang="en-US" sz="2000" dirty="0"/>
          </a:p>
        </p:txBody>
      </p:sp>
      <p:grpSp>
        <p:nvGrpSpPr>
          <p:cNvPr id="4" name="群組 3"/>
          <p:cNvGrpSpPr>
            <a:grpSpLocks noChangeAspect="1"/>
          </p:cNvGrpSpPr>
          <p:nvPr/>
        </p:nvGrpSpPr>
        <p:grpSpPr>
          <a:xfrm>
            <a:off x="511398" y="1419622"/>
            <a:ext cx="4244588" cy="1851670"/>
            <a:chOff x="-3743325" y="-403535"/>
            <a:chExt cx="7953103" cy="3469482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720"/>
            <a:stretch/>
          </p:blipFill>
          <p:spPr bwMode="auto">
            <a:xfrm>
              <a:off x="-3743325" y="-403535"/>
              <a:ext cx="7486650" cy="807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076" b="37856"/>
            <a:stretch/>
          </p:blipFill>
          <p:spPr bwMode="auto">
            <a:xfrm>
              <a:off x="-3743325" y="1279835"/>
              <a:ext cx="7486650" cy="924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932" b="56735"/>
            <a:stretch/>
          </p:blipFill>
          <p:spPr bwMode="auto">
            <a:xfrm>
              <a:off x="-3276872" y="403535"/>
              <a:ext cx="7486650" cy="876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408"/>
            <a:stretch/>
          </p:blipFill>
          <p:spPr bwMode="auto">
            <a:xfrm>
              <a:off x="-3348880" y="2204381"/>
              <a:ext cx="7429500" cy="86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群組 9"/>
          <p:cNvGrpSpPr>
            <a:grpSpLocks noChangeAspect="1"/>
          </p:cNvGrpSpPr>
          <p:nvPr/>
        </p:nvGrpSpPr>
        <p:grpSpPr>
          <a:xfrm>
            <a:off x="467544" y="3507854"/>
            <a:ext cx="4372470" cy="1615334"/>
            <a:chOff x="-3743325" y="3057302"/>
            <a:chExt cx="7812609" cy="2886235"/>
          </a:xfrm>
        </p:grpSpPr>
        <p:pic>
          <p:nvPicPr>
            <p:cNvPr id="12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201" b="14837"/>
            <a:stretch/>
          </p:blipFill>
          <p:spPr bwMode="auto">
            <a:xfrm>
              <a:off x="-3360216" y="5295837"/>
              <a:ext cx="7429500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887" b="37213"/>
            <a:stretch/>
          </p:blipFill>
          <p:spPr bwMode="auto">
            <a:xfrm>
              <a:off x="-3664967" y="4490566"/>
              <a:ext cx="7429500" cy="805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282" b="51998"/>
            <a:stretch/>
          </p:blipFill>
          <p:spPr bwMode="auto">
            <a:xfrm>
              <a:off x="-3361556" y="3862573"/>
              <a:ext cx="7429500" cy="627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796" b="74551"/>
            <a:stretch/>
          </p:blipFill>
          <p:spPr bwMode="auto">
            <a:xfrm>
              <a:off x="-3743325" y="3057302"/>
              <a:ext cx="7429500" cy="78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群組 15"/>
          <p:cNvGrpSpPr>
            <a:grpSpLocks noChangeAspect="1"/>
          </p:cNvGrpSpPr>
          <p:nvPr/>
        </p:nvGrpSpPr>
        <p:grpSpPr>
          <a:xfrm>
            <a:off x="4754236" y="1581651"/>
            <a:ext cx="4409930" cy="1603035"/>
            <a:chOff x="-4630711" y="1419622"/>
            <a:chExt cx="7833517" cy="2847529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035"/>
            <a:stretch/>
          </p:blipFill>
          <p:spPr bwMode="auto">
            <a:xfrm>
              <a:off x="-4630711" y="1419622"/>
              <a:ext cx="7429500" cy="810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8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1603"/>
            <a:stretch/>
          </p:blipFill>
          <p:spPr bwMode="auto">
            <a:xfrm>
              <a:off x="-4140969" y="2188524"/>
              <a:ext cx="7343775" cy="683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332"/>
            <a:stretch/>
          </p:blipFill>
          <p:spPr bwMode="auto">
            <a:xfrm>
              <a:off x="-4168054" y="3610819"/>
              <a:ext cx="7343775" cy="656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4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03" b="50000"/>
            <a:stretch/>
          </p:blipFill>
          <p:spPr bwMode="auto">
            <a:xfrm>
              <a:off x="-4630711" y="2823418"/>
              <a:ext cx="7343775" cy="787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文字方塊 22"/>
          <p:cNvSpPr txBox="1"/>
          <p:nvPr/>
        </p:nvSpPr>
        <p:spPr>
          <a:xfrm>
            <a:off x="4721629" y="3271292"/>
            <a:ext cx="4427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Pervious and next frames are used for DEINT.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This </a:t>
            </a:r>
            <a:r>
              <a:rPr lang="en-US" altLang="zh-TW" dirty="0" smtClean="0">
                <a:solidFill>
                  <a:srgbClr val="FF0000"/>
                </a:solidFill>
              </a:rPr>
              <a:t>setting </a:t>
            </a:r>
            <a:r>
              <a:rPr lang="en-US" altLang="zh-TW" dirty="0" smtClean="0">
                <a:solidFill>
                  <a:srgbClr val="FF0000"/>
                </a:solidFill>
              </a:rPr>
              <a:t>value will point </a:t>
            </a:r>
            <a:r>
              <a:rPr lang="en-US" altLang="zh-TW" dirty="0" smtClean="0">
                <a:solidFill>
                  <a:srgbClr val="FF0000"/>
                </a:solidFill>
              </a:rPr>
              <a:t>to a corresponding </a:t>
            </a:r>
            <a:r>
              <a:rPr lang="en-US" altLang="zh-TW" dirty="0" smtClean="0">
                <a:solidFill>
                  <a:srgbClr val="FF0000"/>
                </a:solidFill>
              </a:rPr>
              <a:t>address </a:t>
            </a:r>
            <a:r>
              <a:rPr lang="en-US" altLang="zh-TW" dirty="0" smtClean="0">
                <a:solidFill>
                  <a:srgbClr val="FF0000"/>
                </a:solidFill>
              </a:rPr>
              <a:t>which stored in 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G36 to G39.</a:t>
            </a:r>
          </a:p>
          <a:p>
            <a:r>
              <a:rPr lang="en-US" altLang="zh-TW" dirty="0" smtClean="0"/>
              <a:t> 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28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Pointer to Reference Frame in SDCTRL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294013"/>
              </p:ext>
            </p:extLst>
          </p:nvPr>
        </p:nvGraphicFramePr>
        <p:xfrm>
          <a:off x="179512" y="3579862"/>
          <a:ext cx="8496946" cy="134301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04258"/>
                <a:gridCol w="1440160"/>
                <a:gridCol w="4752528"/>
              </a:tblGrid>
              <a:tr h="125706"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Command Phase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Bits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Description</a:t>
                      </a:r>
                    </a:p>
                  </a:txBody>
                  <a:tcPr marL="31427" marR="31427" marT="15713" marB="15713" anchor="ctr"/>
                </a:tc>
              </a:tr>
              <a:tr h="821827">
                <a:tc>
                  <a:txBody>
                    <a:bodyPr/>
                    <a:lstStyle/>
                    <a:p>
                      <a:pPr rtl="0"/>
                      <a:r>
                        <a:rPr lang="en-US" sz="1200" dirty="0" smtClean="0">
                          <a:effectLst/>
                        </a:rPr>
                        <a:t>ADDR_SPACE</a:t>
                      </a:r>
                      <a:endParaRPr lang="en-US" sz="1200" dirty="0">
                        <a:effectLst/>
                      </a:endParaRP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zh-TW" sz="1200" dirty="0">
                          <a:effectLst/>
                        </a:rPr>
                        <a:t>[10:0]</a:t>
                      </a:r>
                    </a:p>
                  </a:txBody>
                  <a:tcPr marL="31427" marR="31427" marT="15713" marB="1571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effectLst/>
                        </a:rPr>
                        <a:t>Address Space ( For 2D command )</a:t>
                      </a:r>
                    </a:p>
                    <a:p>
                      <a:pPr rtl="0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[10:9]: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PIC_INDEX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(No used)   </a:t>
                      </a:r>
                      <a:r>
                        <a:rPr lang="en-US" sz="1200" dirty="0" smtClean="0">
                          <a:solidFill>
                            <a:srgbClr val="FF0000"/>
                          </a:solidFill>
                          <a:effectLst/>
                        </a:rPr>
                        <a:t>[8:2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] : BASE_INDEX : 0~127, </a:t>
                      </a:r>
                      <a:r>
                        <a:rPr lang="en-US" sz="1200" dirty="0" smtClean="0">
                          <a:solidFill>
                            <a:srgbClr val="FF0000"/>
                          </a:solidFill>
                          <a:effectLst/>
                        </a:rPr>
                        <a:t>#Reference</a:t>
                      </a:r>
                      <a:r>
                        <a:rPr lang="en-US" sz="1200" baseline="0" dirty="0" smtClean="0">
                          <a:solidFill>
                            <a:srgbClr val="FF0000"/>
                          </a:solidFill>
                          <a:effectLst/>
                        </a:rPr>
                        <a:t> frame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rtl="0"/>
                      <a:r>
                        <a:rPr lang="en-US" altLang="zh-TW" sz="1200" dirty="0">
                          <a:solidFill>
                            <a:srgbClr val="0070C0"/>
                          </a:solidFill>
                          <a:effectLst/>
                        </a:rPr>
                        <a:t>[1:0] : 2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D MODE</a:t>
                      </a:r>
                    </a:p>
                    <a:p>
                      <a:pPr rtl="0"/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2'b00 : Linear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mode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2'b01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: Frame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mode</a:t>
                      </a:r>
                      <a:r>
                        <a:rPr lang="en-US" sz="1200" baseline="0" dirty="0" smtClean="0">
                          <a:solidFill>
                            <a:srgbClr val="0070C0"/>
                          </a:solidFill>
                          <a:effectLst/>
                        </a:rPr>
                        <a:t>     </a:t>
                      </a:r>
                      <a:r>
                        <a:rPr lang="en-US" sz="1200" dirty="0" smtClean="0">
                          <a:solidFill>
                            <a:srgbClr val="0070C0"/>
                          </a:solidFill>
                          <a:effectLst/>
                        </a:rPr>
                        <a:t>2'b10 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: Field mode</a:t>
                      </a:r>
                    </a:p>
                    <a:p>
                      <a:pPr rtl="0"/>
                      <a:r>
                        <a:rPr lang="en-US" sz="1200" dirty="0">
                          <a:effectLst/>
                        </a:rPr>
                        <a:t>Others: </a:t>
                      </a:r>
                      <a:r>
                        <a:rPr lang="en-US" sz="1200" dirty="0" smtClean="0">
                          <a:effectLst/>
                        </a:rPr>
                        <a:t>Reserved</a:t>
                      </a:r>
                      <a:endParaRPr lang="en-US" sz="1200" dirty="0">
                        <a:effectLst/>
                      </a:endParaRPr>
                    </a:p>
                    <a:p>
                      <a:pPr rtl="0"/>
                      <a:r>
                        <a:rPr lang="en-US" sz="1200" dirty="0" smtClean="0">
                          <a:effectLst/>
                        </a:rPr>
                        <a:t>*10'b1100 </a:t>
                      </a:r>
                      <a:r>
                        <a:rPr lang="en-US" sz="1200" dirty="0">
                          <a:effectLst/>
                        </a:rPr>
                        <a:t>in some case is for MSI Command</a:t>
                      </a:r>
                    </a:p>
                  </a:txBody>
                  <a:tcPr marL="31427" marR="31427" marT="15713" marB="15713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55576" y="177966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smtClean="0"/>
              <a:t>e.g. Set G80.17 = 15’d35</a:t>
            </a:r>
          </a:p>
          <a:p>
            <a:r>
              <a:rPr lang="en-US" altLang="zh-TW" dirty="0" smtClean="0"/>
              <a:t>         35 % 32 = 1 … 3 </a:t>
            </a:r>
            <a:r>
              <a:rPr lang="en-US" altLang="zh-TW" dirty="0" smtClean="0">
                <a:sym typeface="Wingdings" panose="05000000000000000000" pitchFamily="2" charset="2"/>
              </a:rPr>
              <a:t> G(36+1).(3-1)= G37.2</a:t>
            </a:r>
            <a:endParaRPr lang="en-US" altLang="zh-TW" dirty="0" smtClean="0"/>
          </a:p>
        </p:txBody>
      </p:sp>
      <p:grpSp>
        <p:nvGrpSpPr>
          <p:cNvPr id="11" name="群組 10"/>
          <p:cNvGrpSpPr/>
          <p:nvPr/>
        </p:nvGrpSpPr>
        <p:grpSpPr>
          <a:xfrm>
            <a:off x="4303139" y="1041108"/>
            <a:ext cx="4244588" cy="898418"/>
            <a:chOff x="4067944" y="1059582"/>
            <a:chExt cx="4244588" cy="898418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720"/>
            <a:stretch/>
          </p:blipFill>
          <p:spPr bwMode="auto">
            <a:xfrm>
              <a:off x="4067944" y="1059582"/>
              <a:ext cx="3995641" cy="43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932" b="56735"/>
            <a:stretch/>
          </p:blipFill>
          <p:spPr bwMode="auto">
            <a:xfrm>
              <a:off x="4316891" y="1490317"/>
              <a:ext cx="3995641" cy="467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3" name="直線單箭頭接點 12"/>
          <p:cNvCxnSpPr/>
          <p:nvPr/>
        </p:nvCxnSpPr>
        <p:spPr>
          <a:xfrm>
            <a:off x="1475656" y="2425993"/>
            <a:ext cx="4320480" cy="158591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00658" y="2643758"/>
            <a:ext cx="5400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Appended in this filed for 2D CMDs.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SDCTRL </a:t>
            </a:r>
            <a:r>
              <a:rPr lang="en-US" altLang="zh-TW" dirty="0" smtClean="0">
                <a:solidFill>
                  <a:srgbClr val="FF0000"/>
                </a:solidFill>
              </a:rPr>
              <a:t>can</a:t>
            </a:r>
            <a:r>
              <a:rPr lang="en-US" altLang="zh-TW" dirty="0" smtClean="0">
                <a:solidFill>
                  <a:srgbClr val="FF0000"/>
                </a:solidFill>
              </a:rPr>
              <a:t> use this to identify </a:t>
            </a:r>
            <a:r>
              <a:rPr lang="en-US" altLang="zh-TW" dirty="0" smtClean="0">
                <a:solidFill>
                  <a:srgbClr val="FF0000"/>
                </a:solidFill>
              </a:rPr>
              <a:t>the base address of data</a:t>
            </a:r>
          </a:p>
        </p:txBody>
      </p:sp>
    </p:spTree>
    <p:extLst>
      <p:ext uri="{BB962C8B-B14F-4D97-AF65-F5344CB8AC3E}">
        <p14:creationId xmlns:p14="http://schemas.microsoft.com/office/powerpoint/2010/main" val="881252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Actual Address mapping in SDCTRL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G36 to G39, total 128 registers</a:t>
            </a:r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0" y="1779662"/>
            <a:ext cx="5029076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6012160" y="4168700"/>
            <a:ext cx="30381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Actual MBUS ADDR:</a:t>
            </a:r>
          </a:p>
          <a:p>
            <a:r>
              <a:rPr lang="en-US" altLang="zh-TW" dirty="0" smtClean="0"/>
              <a:t>0xb0000000 + </a:t>
            </a:r>
          </a:p>
          <a:p>
            <a:r>
              <a:rPr lang="en-US" altLang="zh-TW" dirty="0" smtClean="0"/>
              <a:t>(BG_2D_BASE_INDEX </a:t>
            </a:r>
            <a:r>
              <a:rPr lang="en-US" altLang="zh-TW" dirty="0" smtClean="0"/>
              <a:t>* 1024)</a:t>
            </a:r>
          </a:p>
        </p:txBody>
      </p:sp>
      <p:sp>
        <p:nvSpPr>
          <p:cNvPr id="9" name="向右箭號 8"/>
          <p:cNvSpPr/>
          <p:nvPr/>
        </p:nvSpPr>
        <p:spPr>
          <a:xfrm>
            <a:off x="5076056" y="4515966"/>
            <a:ext cx="93610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16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Actual Address mapping in SDCTRL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395536" y="915566"/>
            <a:ext cx="8229600" cy="4179912"/>
          </a:xfrm>
        </p:spPr>
        <p:txBody>
          <a:bodyPr>
            <a:normAutofit fontScale="70000" lnSpcReduction="20000"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MFD and DISP must have the same value.</a:t>
            </a:r>
          </a:p>
          <a:p>
            <a:r>
              <a:rPr lang="en-US" altLang="zh-TW" dirty="0" smtClean="0"/>
              <a:t>Write Frame Width = XX_XX_SIZE_X *16.</a:t>
            </a:r>
            <a:endParaRPr lang="zh-TW" altLang="en-US" dirty="0">
              <a:solidFill>
                <a:srgbClr val="0070C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3" y="1347614"/>
            <a:ext cx="3735999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692" y="1403270"/>
            <a:ext cx="4703363" cy="2684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3923928" y="2252796"/>
            <a:ext cx="9361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70C0"/>
                </a:solidFill>
              </a:rPr>
              <a:t>2’b00</a:t>
            </a:r>
          </a:p>
          <a:p>
            <a:endParaRPr lang="en-US" altLang="zh-TW" sz="1400" dirty="0" smtClean="0">
              <a:solidFill>
                <a:srgbClr val="0070C0"/>
              </a:solidFill>
            </a:endParaRPr>
          </a:p>
          <a:p>
            <a:r>
              <a:rPr lang="en-US" altLang="zh-TW" sz="1400" dirty="0" smtClean="0">
                <a:solidFill>
                  <a:srgbClr val="0070C0"/>
                </a:solidFill>
              </a:rPr>
              <a:t>2’b01</a:t>
            </a:r>
          </a:p>
          <a:p>
            <a:endParaRPr lang="en-US" altLang="zh-TW" sz="1400" dirty="0" smtClean="0">
              <a:solidFill>
                <a:srgbClr val="0070C0"/>
              </a:solidFill>
            </a:endParaRPr>
          </a:p>
          <a:p>
            <a:r>
              <a:rPr lang="en-US" altLang="zh-TW" sz="1400" dirty="0" smtClean="0">
                <a:solidFill>
                  <a:srgbClr val="0070C0"/>
                </a:solidFill>
              </a:rPr>
              <a:t>2’b10</a:t>
            </a:r>
          </a:p>
          <a:p>
            <a:r>
              <a:rPr lang="en-US" altLang="zh-TW" sz="1400" dirty="0" smtClean="0">
                <a:solidFill>
                  <a:srgbClr val="0070C0"/>
                </a:solidFill>
              </a:rPr>
              <a:t>(for DISP)</a:t>
            </a:r>
          </a:p>
          <a:p>
            <a:r>
              <a:rPr lang="en-US" altLang="zh-TW" sz="1400" dirty="0" smtClean="0">
                <a:solidFill>
                  <a:srgbClr val="0070C0"/>
                </a:solidFill>
              </a:rPr>
              <a:t>2’b11</a:t>
            </a:r>
          </a:p>
          <a:p>
            <a:r>
              <a:rPr lang="en-US" altLang="zh-TW" sz="1400" dirty="0" smtClean="0">
                <a:solidFill>
                  <a:srgbClr val="0070C0"/>
                </a:solidFill>
              </a:rPr>
              <a:t>(for MFD)</a:t>
            </a:r>
            <a:endParaRPr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3" name="向右箭號 2"/>
          <p:cNvSpPr/>
          <p:nvPr/>
        </p:nvSpPr>
        <p:spPr>
          <a:xfrm>
            <a:off x="3779912" y="2787774"/>
            <a:ext cx="216024" cy="477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zh-TW" sz="2800" dirty="0" smtClean="0"/>
              <a:t>Case: An example uses 2D commands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720x576 YUV420, MFD output using 2D CMDs</a:t>
            </a:r>
          </a:p>
          <a:p>
            <a:r>
              <a:rPr lang="en-US" altLang="zh-TW" dirty="0" smtClean="0"/>
              <a:t>MFD follows the same setting with DISP</a:t>
            </a:r>
          </a:p>
          <a:p>
            <a:pPr lvl="1"/>
            <a:r>
              <a:rPr lang="en-US" altLang="zh-TW" dirty="0" err="1" smtClean="0"/>
              <a:t>Luma</a:t>
            </a:r>
            <a:r>
              <a:rPr lang="en-US" altLang="zh-TW" dirty="0" smtClean="0"/>
              <a:t> 720x576, </a:t>
            </a:r>
            <a:r>
              <a:rPr lang="en-US" altLang="zh-TW" dirty="0"/>
              <a:t>s</a:t>
            </a:r>
            <a:r>
              <a:rPr lang="en-US" altLang="zh-TW" dirty="0" smtClean="0"/>
              <a:t>tored in 0xa3086c00</a:t>
            </a:r>
          </a:p>
          <a:p>
            <a:pPr lvl="1"/>
            <a:r>
              <a:rPr lang="en-US" altLang="zh-TW" dirty="0" smtClean="0"/>
              <a:t>Chroma 720x288, stored in 0xa18de000</a:t>
            </a:r>
          </a:p>
          <a:p>
            <a:pPr marL="0" indent="0">
              <a:buNone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32011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35280" cy="857250"/>
          </a:xfrm>
        </p:spPr>
        <p:txBody>
          <a:bodyPr>
            <a:normAutofit fontScale="90000"/>
          </a:bodyPr>
          <a:lstStyle/>
          <a:p>
            <a:pPr lvl="1" algn="l"/>
            <a:r>
              <a:rPr lang="en-US" altLang="zh-TW" sz="2800" dirty="0" smtClean="0"/>
              <a:t>Case : An Example with register setting for 2D CMDs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000" dirty="0" smtClean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059582"/>
            <a:ext cx="75438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9904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Read Sequence of </a:t>
            </a:r>
            <a:r>
              <a:rPr lang="en-US" altLang="zh-TW" dirty="0" err="1" smtClean="0"/>
              <a:t>Luma</a:t>
            </a:r>
            <a:r>
              <a:rPr lang="en-US" altLang="zh-TW" dirty="0" smtClean="0"/>
              <a:t> 720x576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419319"/>
              </p:ext>
            </p:extLst>
          </p:nvPr>
        </p:nvGraphicFramePr>
        <p:xfrm>
          <a:off x="755576" y="1821530"/>
          <a:ext cx="7560840" cy="2838450"/>
        </p:xfrm>
        <a:graphic>
          <a:graphicData uri="http://schemas.openxmlformats.org/drawingml/2006/table">
            <a:tbl>
              <a:tblPr/>
              <a:tblGrid>
                <a:gridCol w="1890210"/>
                <a:gridCol w="1890210"/>
                <a:gridCol w="1890210"/>
                <a:gridCol w="1890210"/>
              </a:tblGrid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800" b="0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ADDR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1800" b="0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ADDR</a:t>
                      </a:r>
                      <a:endParaRPr lang="en-US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44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0x23F (575)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779912" y="4770592"/>
            <a:ext cx="1253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Read </a:t>
            </a:r>
            <a:r>
              <a:rPr lang="en-US" altLang="zh-TW" dirty="0">
                <a:solidFill>
                  <a:srgbClr val="FF0000"/>
                </a:solidFill>
              </a:rPr>
              <a:t>Order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10826"/>
              </p:ext>
            </p:extLst>
          </p:nvPr>
        </p:nvGraphicFramePr>
        <p:xfrm>
          <a:off x="5220072" y="4850483"/>
          <a:ext cx="685800" cy="209550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9955"/>
              </p:ext>
            </p:extLst>
          </p:nvPr>
        </p:nvGraphicFramePr>
        <p:xfrm>
          <a:off x="5957292" y="4803998"/>
          <a:ext cx="3295228" cy="222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5228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 256x1 bytes data with </a:t>
                      </a:r>
                      <a:r>
                        <a:rPr lang="en-US" sz="1400" u="none" strike="noStrike" dirty="0" smtClean="0">
                          <a:effectLst/>
                        </a:rPr>
                        <a:t>BURST_WIDTH=32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新細明體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754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HISTORY, no patterns use 2D Commands</a:t>
            </a:r>
          </a:p>
        </p:txBody>
      </p:sp>
    </p:spTree>
    <p:extLst>
      <p:ext uri="{BB962C8B-B14F-4D97-AF65-F5344CB8AC3E}">
        <p14:creationId xmlns:p14="http://schemas.microsoft.com/office/powerpoint/2010/main" val="400648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0"/>
            <a:ext cx="7505700" cy="664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42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0"/>
            <a:ext cx="83629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673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3478"/>
            <a:ext cx="86963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15530"/>
            <a:ext cx="99822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1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13177</TotalTime>
  <Words>908</Words>
  <Application>Microsoft Office PowerPoint</Application>
  <PresentationFormat>如螢幕大小 (16:9)</PresentationFormat>
  <Paragraphs>343</Paragraphs>
  <Slides>24</Slides>
  <Notes>0</Notes>
  <HiddenSlides>6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Office 佈景主題</vt:lpstr>
      <vt:lpstr>Y10 2D command &amp;  Corresponding Reg. setting in DISP</vt:lpstr>
      <vt:lpstr>Abbreviation</vt:lpstr>
      <vt:lpstr>Discussed Issues</vt:lpstr>
      <vt:lpstr>Outline</vt:lpstr>
      <vt:lpstr>Intro. – MBUS 2D Command </vt:lpstr>
      <vt:lpstr>Intro. – MBUS 2D Command </vt:lpstr>
      <vt:lpstr>Intro. – Masters in DISP</vt:lpstr>
      <vt:lpstr>MBus Commands in DISP</vt:lpstr>
      <vt:lpstr>2D CMDs for 10-bit rawdata</vt:lpstr>
      <vt:lpstr>1D CMDs for 10-bit rawdata</vt:lpstr>
      <vt:lpstr>MBus Read Sequence for MFD rawdata using 2D CMD</vt:lpstr>
      <vt:lpstr>Register Setting for DDFCH</vt:lpstr>
      <vt:lpstr>2D CMD Enable</vt:lpstr>
      <vt:lpstr>Pointer to Reference Frame in SDCTRL</vt:lpstr>
      <vt:lpstr>Pointer to Reference Frame in SDCTRL</vt:lpstr>
      <vt:lpstr>Actual Address mapping in SDCTRL</vt:lpstr>
      <vt:lpstr>Actual Address mapping in SDCTRL</vt:lpstr>
      <vt:lpstr>Case: An example uses 2D commands</vt:lpstr>
      <vt:lpstr>Case : An Example with register setting for 2D CMDs</vt:lpstr>
      <vt:lpstr>Read Sequence of Luma 720x576</vt:lpstr>
      <vt:lpstr>PowerPoint 簡報</vt:lpstr>
      <vt:lpstr>PowerPoint 簡報</vt:lpstr>
      <vt:lpstr>PowerPoint 簡報</vt:lpstr>
      <vt:lpstr>PowerPoint 簡報</vt:lpstr>
    </vt:vector>
  </TitlesOfParts>
  <Company>Availink,Inc.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2D Command for DISPLAY &amp; Master review in MBUS</dc:title>
  <dc:creator>Jerry Chang 張宗賢</dc:creator>
  <cp:lastModifiedBy>Jerry Chang 張宗賢</cp:lastModifiedBy>
  <cp:revision>66</cp:revision>
  <dcterms:created xsi:type="dcterms:W3CDTF">2019-07-29T08:47:37Z</dcterms:created>
  <dcterms:modified xsi:type="dcterms:W3CDTF">2019-08-07T12:44:59Z</dcterms:modified>
</cp:coreProperties>
</file>