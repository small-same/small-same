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2" r:id="rId6"/>
    <p:sldId id="261" r:id="rId7"/>
    <p:sldId id="263" r:id="rId8"/>
    <p:sldId id="265" r:id="rId9"/>
    <p:sldId id="259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224" y="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35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459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70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70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28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335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42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59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04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85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C30EC-9002-43F9-B736-90D8A5D0174C}" type="datetimeFigureOut">
              <a:rPr lang="zh-TW" altLang="en-US" smtClean="0"/>
              <a:t>2020/1/9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93B46-756D-4B8F-933B-BA4E3BFCF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82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twang.org/programming/memory-layout-of-c-progra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p1.wikidot.com/elfobjfile" TargetMode="External"/><Relationship Id="rId4" Type="http://schemas.openxmlformats.org/officeDocument/2006/relationships/hyperlink" Target="https://www.crifan.com/detailed_lma_load_memory_address_and_vma_virtual_memory_addres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Issue Discussion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2020/01/10</a:t>
            </a:r>
          </a:p>
          <a:p>
            <a:r>
              <a:rPr lang="en-US" altLang="zh-TW" dirty="0" smtClean="0"/>
              <a:t>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595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Execution flow for </a:t>
            </a:r>
            <a:r>
              <a:rPr lang="en-US" altLang="zh-TW" dirty="0" err="1" smtClean="0"/>
              <a:t>csim_ASIC</a:t>
            </a:r>
            <a:endParaRPr lang="en-US" altLang="zh-TW" dirty="0" smtClean="0"/>
          </a:p>
          <a:p>
            <a:r>
              <a:rPr lang="en-US" altLang="zh-TW" dirty="0" smtClean="0"/>
              <a:t>Issue Discussion</a:t>
            </a:r>
          </a:p>
          <a:p>
            <a:pPr lvl="1"/>
            <a:r>
              <a:rPr lang="en-US" altLang="zh-TW" dirty="0" smtClean="0"/>
              <a:t>Function execution at specified address (CBDMA_SRAM)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308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Execution flow for </a:t>
            </a:r>
            <a:r>
              <a:rPr lang="en-US" altLang="zh-TW" dirty="0" err="1" smtClean="0"/>
              <a:t>csim_ASIC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Execution Steps</a:t>
            </a:r>
          </a:p>
          <a:p>
            <a:pPr marL="0" indent="0">
              <a:buNone/>
            </a:pPr>
            <a:r>
              <a:rPr lang="en-US" altLang="zh-TW" sz="2400" dirty="0" smtClean="0"/>
              <a:t>ROM </a:t>
            </a:r>
            <a:r>
              <a:rPr lang="en-US" altLang="zh-TW" sz="2400" dirty="0" smtClean="0">
                <a:sym typeface="Wingdings" panose="05000000000000000000" pitchFamily="2" charset="2"/>
              </a:rPr>
              <a:t>            SPI_FLASH                                     DRAM</a:t>
            </a:r>
          </a:p>
          <a:p>
            <a:pPr marL="0" indent="0">
              <a:buNone/>
            </a:pPr>
            <a:r>
              <a:rPr lang="en-US" altLang="zh-TW" sz="2400" dirty="0" smtClean="0"/>
              <a:t>(0xbfc0xxxx)     </a:t>
            </a:r>
            <a:r>
              <a:rPr lang="en-US" altLang="zh-TW" sz="2400" dirty="0" smtClean="0">
                <a:sym typeface="Wingdings" panose="05000000000000000000" pitchFamily="2" charset="2"/>
              </a:rPr>
              <a:t>(0x9800xxxx or 0xb800xxxx)        (0x8100xxxx)</a:t>
            </a:r>
          </a:p>
          <a:p>
            <a:pPr marL="0" indent="0">
              <a:buNone/>
            </a:pPr>
            <a:endParaRPr lang="en-US" altLang="zh-TW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TW" sz="2400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TW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TW" sz="2400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TW" sz="2400" dirty="0" smtClean="0">
                <a:sym typeface="Wingdings" panose="05000000000000000000" pitchFamily="2" charset="2"/>
              </a:rPr>
              <a:t>Q1. How to move the code to DRAM?</a:t>
            </a:r>
          </a:p>
          <a:p>
            <a:pPr marL="0" indent="0">
              <a:buNone/>
            </a:pPr>
            <a:r>
              <a:rPr lang="en-US" altLang="zh-TW" sz="2400" dirty="0" smtClean="0">
                <a:sym typeface="Wingdings" panose="05000000000000000000" pitchFamily="2" charset="2"/>
              </a:rPr>
              <a:t>Q2. Why CPU start to fetches code from DRAM, not FLASH?</a:t>
            </a:r>
          </a:p>
          <a:p>
            <a:pPr marL="0" indent="0">
              <a:buNone/>
            </a:pPr>
            <a:r>
              <a:rPr lang="en-US" altLang="zh-TW" sz="2400" dirty="0">
                <a:sym typeface="Wingdings" panose="05000000000000000000" pitchFamily="2" charset="2"/>
              </a:rPr>
              <a:t> </a:t>
            </a:r>
            <a:r>
              <a:rPr lang="en-US" altLang="zh-TW" sz="2400" dirty="0" smtClean="0">
                <a:sym typeface="Wingdings" panose="05000000000000000000" pitchFamily="2" charset="2"/>
              </a:rPr>
              <a:t>      </a:t>
            </a:r>
            <a:r>
              <a:rPr lang="en-US" altLang="zh-TW" sz="2400" dirty="0" err="1" smtClean="0">
                <a:sym typeface="Wingdings" panose="05000000000000000000" pitchFamily="2" charset="2"/>
              </a:rPr>
              <a:t>Ans</a:t>
            </a:r>
            <a:r>
              <a:rPr lang="en-US" altLang="zh-TW" sz="2400" dirty="0" smtClean="0">
                <a:sym typeface="Wingdings" panose="05000000000000000000" pitchFamily="2" charset="2"/>
              </a:rPr>
              <a:t>: MMU may changed, 0x81000000 </a:t>
            </a:r>
            <a:r>
              <a:rPr lang="en-US" altLang="zh-TW" sz="2400" dirty="0" smtClean="0">
                <a:solidFill>
                  <a:srgbClr val="0070C0"/>
                </a:solidFill>
                <a:sym typeface="Wingdings" panose="05000000000000000000" pitchFamily="2" charset="2"/>
              </a:rPr>
              <a:t>(need to trace code)</a:t>
            </a:r>
            <a:endParaRPr lang="en-US" altLang="zh-TW" sz="2400" dirty="0" smtClean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TW" sz="2400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TW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TW" dirty="0">
              <a:sym typeface="Wingdings" panose="05000000000000000000" pitchFamily="2" charset="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6" y="3212976"/>
            <a:ext cx="8928992" cy="1128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762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sym typeface="Wingdings" panose="05000000000000000000" pitchFamily="2" charset="2"/>
              </a:rPr>
              <a:t>Q1. How to move the code to DRAM?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8928992" cy="1128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向右箭號 3"/>
          <p:cNvSpPr/>
          <p:nvPr/>
        </p:nvSpPr>
        <p:spPr>
          <a:xfrm rot="5400000">
            <a:off x="8542156" y="1232756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0" y="2348880"/>
            <a:ext cx="5773283" cy="4287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線接點 6"/>
          <p:cNvCxnSpPr/>
          <p:nvPr/>
        </p:nvCxnSpPr>
        <p:spPr>
          <a:xfrm>
            <a:off x="179512" y="2636912"/>
            <a:ext cx="0" cy="36004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79512" y="3861048"/>
            <a:ext cx="0" cy="36004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79572" y="5373216"/>
            <a:ext cx="0" cy="36004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79572" y="6248360"/>
            <a:ext cx="0" cy="36004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344922"/>
            <a:ext cx="3119548" cy="137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15"/>
          <p:cNvSpPr txBox="1"/>
          <p:nvPr/>
        </p:nvSpPr>
        <p:spPr>
          <a:xfrm>
            <a:off x="5841856" y="3769876"/>
            <a:ext cx="312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Move .data, .</a:t>
            </a:r>
            <a:r>
              <a:rPr lang="en-US" altLang="zh-TW" sz="1400" dirty="0" err="1" smtClean="0"/>
              <a:t>rodata</a:t>
            </a:r>
            <a:r>
              <a:rPr lang="en-US" altLang="zh-TW" sz="1400" dirty="0" smtClean="0"/>
              <a:t>,.text to 0x81000000</a:t>
            </a:r>
          </a:p>
          <a:p>
            <a:r>
              <a:rPr lang="en-US" altLang="zh-TW" sz="1400" dirty="0" smtClean="0"/>
              <a:t>Size: 0x35A8= 0x42C+0x654+0x2B28 </a:t>
            </a:r>
            <a:endParaRPr lang="zh-TW" altLang="en-US" sz="1400" dirty="0"/>
          </a:p>
        </p:txBody>
      </p:sp>
      <p:cxnSp>
        <p:nvCxnSpPr>
          <p:cNvPr id="26" name="直線接點 25"/>
          <p:cNvCxnSpPr/>
          <p:nvPr/>
        </p:nvCxnSpPr>
        <p:spPr>
          <a:xfrm>
            <a:off x="5868144" y="3861048"/>
            <a:ext cx="0" cy="36004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179512" y="4581128"/>
            <a:ext cx="60" cy="28803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5872396" y="4286220"/>
            <a:ext cx="60" cy="366916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5868144" y="4201924"/>
            <a:ext cx="2070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Move .</a:t>
            </a:r>
            <a:r>
              <a:rPr lang="en-US" altLang="zh-TW" sz="1400" dirty="0" err="1" smtClean="0"/>
              <a:t>bss</a:t>
            </a:r>
            <a:r>
              <a:rPr lang="en-US" altLang="zh-TW" sz="1400" dirty="0" smtClean="0"/>
              <a:t> to 0x81004000</a:t>
            </a:r>
          </a:p>
          <a:p>
            <a:r>
              <a:rPr lang="en-US" altLang="zh-TW" sz="1400" dirty="0" smtClean="0"/>
              <a:t>Size: 0x8000 </a:t>
            </a:r>
            <a:endParaRPr lang="zh-TW" altLang="en-US" sz="1400" dirty="0"/>
          </a:p>
        </p:txBody>
      </p:sp>
      <p:sp>
        <p:nvSpPr>
          <p:cNvPr id="32" name="矩形 31"/>
          <p:cNvSpPr/>
          <p:nvPr/>
        </p:nvSpPr>
        <p:spPr>
          <a:xfrm>
            <a:off x="5854120" y="5951021"/>
            <a:ext cx="3289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>
                <a:sym typeface="Wingdings" panose="05000000000000000000" pitchFamily="2" charset="2"/>
              </a:rPr>
              <a:t>Ans</a:t>
            </a:r>
            <a:r>
              <a:rPr lang="en-US" altLang="zh-TW" dirty="0" smtClean="0">
                <a:sym typeface="Wingdings" panose="05000000000000000000" pitchFamily="2" charset="2"/>
              </a:rPr>
              <a:t>: It copies code using DDR_SETTER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776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sz="3200" dirty="0" smtClean="0"/>
              <a:t>Issue Discussion</a:t>
            </a:r>
            <a:br>
              <a:rPr lang="en-US" altLang="zh-TW" sz="3200" dirty="0" smtClean="0"/>
            </a:br>
            <a:r>
              <a:rPr lang="en-US" altLang="zh-TW" sz="3200" dirty="0" smtClean="0"/>
              <a:t>– Function execution at CBDMA SRAM address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Solutions 1</a:t>
            </a:r>
            <a:r>
              <a:rPr lang="en-US" altLang="zh-TW" dirty="0" smtClean="0">
                <a:sym typeface="Wingdings" panose="05000000000000000000" pitchFamily="2" charset="2"/>
              </a:rPr>
              <a:t> FAIL</a:t>
            </a:r>
          </a:p>
          <a:p>
            <a:pPr lvl="1"/>
            <a:r>
              <a:rPr lang="en-US" altLang="zh-TW" dirty="0" smtClean="0">
                <a:sym typeface="Wingdings" panose="05000000000000000000" pitchFamily="2" charset="2"/>
              </a:rPr>
              <a:t>Change SECTION from Linking Script in ASIC_CSIM</a:t>
            </a:r>
          </a:p>
          <a:p>
            <a:pPr lvl="1"/>
            <a:r>
              <a:rPr lang="en-US" altLang="zh-TW" dirty="0" smtClean="0">
                <a:sym typeface="Wingdings" panose="05000000000000000000" pitchFamily="2" charset="2"/>
              </a:rPr>
              <a:t>0xbffc000 is too far from ENTRY (0x81000000), GCC reports “</a:t>
            </a:r>
            <a:r>
              <a:rPr lang="en-US" altLang="zh-TW" b="1" dirty="0"/>
              <a:t> relocation </a:t>
            </a:r>
            <a:r>
              <a:rPr lang="en-US" altLang="zh-TW" b="1" dirty="0" smtClean="0"/>
              <a:t>truncated,” </a:t>
            </a:r>
            <a:r>
              <a:rPr lang="en-US" altLang="zh-TW" dirty="0" smtClean="0">
                <a:sym typeface="Wingdings" panose="05000000000000000000" pitchFamily="2" charset="2"/>
              </a:rPr>
              <a:t>I guess it not allow to build such a huge binary file (try to use –</a:t>
            </a:r>
            <a:r>
              <a:rPr lang="en-US" altLang="zh-TW" dirty="0" err="1" smtClean="0">
                <a:sym typeface="Wingdings" panose="05000000000000000000" pitchFamily="2" charset="2"/>
              </a:rPr>
              <a:t>mcmodel</a:t>
            </a:r>
            <a:r>
              <a:rPr lang="en-US" altLang="zh-TW" dirty="0" smtClean="0">
                <a:sym typeface="Wingdings" panose="05000000000000000000" pitchFamily="2" charset="2"/>
              </a:rPr>
              <a:t>=large)</a:t>
            </a:r>
          </a:p>
          <a:p>
            <a:pPr marL="457200" lvl="1" indent="0">
              <a:buNone/>
            </a:pPr>
            <a:r>
              <a:rPr lang="en-US" altLang="zh-TW" dirty="0" smtClean="0">
                <a:sym typeface="Wingdings" panose="05000000000000000000" pitchFamily="2" charset="2"/>
              </a:rPr>
              <a:t>( Approximated size 0xbffc0000- 0x81000000 ~= 1GB)</a:t>
            </a:r>
          </a:p>
          <a:p>
            <a:pPr marL="457200" lvl="1" indent="0">
              <a:buNone/>
            </a:pPr>
            <a:r>
              <a:rPr lang="en-US" altLang="zh-TW" dirty="0" smtClean="0">
                <a:sym typeface="Wingdings" panose="05000000000000000000" pitchFamily="2" charset="2"/>
              </a:rPr>
              <a:t>.</a:t>
            </a:r>
            <a:r>
              <a:rPr lang="en-US" altLang="zh-TW" dirty="0" err="1" smtClean="0">
                <a:sym typeface="Wingdings" panose="05000000000000000000" pitchFamily="2" charset="2"/>
              </a:rPr>
              <a:t>ld</a:t>
            </a:r>
            <a:r>
              <a:rPr lang="en-US" altLang="zh-TW" dirty="0" smtClean="0">
                <a:sym typeface="Wingdings" panose="05000000000000000000" pitchFamily="2" charset="2"/>
              </a:rPr>
              <a:t> file</a:t>
            </a:r>
          </a:p>
          <a:p>
            <a:pPr marL="457200" lvl="1" indent="0">
              <a:buNone/>
            </a:pPr>
            <a:endParaRPr lang="en-US" altLang="zh-TW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TW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TW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TW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TW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TW" dirty="0" smtClean="0">
                <a:sym typeface="Wingdings" panose="05000000000000000000" pitchFamily="2" charset="2"/>
              </a:rPr>
              <a:t>.h file</a:t>
            </a:r>
          </a:p>
          <a:p>
            <a:pPr marL="457200" lvl="1" indent="0">
              <a:buNone/>
            </a:pPr>
            <a:endParaRPr lang="en-US" altLang="zh-TW" dirty="0" smtClean="0">
              <a:sym typeface="Wingdings" panose="05000000000000000000" pitchFamily="2" charset="2"/>
            </a:endParaRPr>
          </a:p>
          <a:p>
            <a:pPr lvl="1"/>
            <a:endParaRPr lang="en-US" altLang="zh-TW" dirty="0" smtClean="0">
              <a:sym typeface="Wingdings" panose="05000000000000000000" pitchFamily="2" charset="2"/>
            </a:endParaRP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036665"/>
            <a:ext cx="351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324697"/>
            <a:ext cx="45434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191969"/>
            <a:ext cx="59055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940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200" dirty="0" smtClean="0"/>
              <a:t>Issue Discussion</a:t>
            </a:r>
            <a:br>
              <a:rPr lang="en-US" altLang="zh-TW" sz="3200" dirty="0" smtClean="0"/>
            </a:br>
            <a:r>
              <a:rPr lang="en-US" altLang="zh-TW" sz="3200" dirty="0" smtClean="0"/>
              <a:t>– Function execution at CBDMA SRAM address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dirty="0" smtClean="0"/>
              <a:t>Solutions 2 </a:t>
            </a:r>
            <a:r>
              <a:rPr lang="en-US" altLang="zh-TW" sz="2000" dirty="0" smtClean="0">
                <a:sym typeface="Wingdings" panose="05000000000000000000" pitchFamily="2" charset="2"/>
              </a:rPr>
              <a:t> FAIL</a:t>
            </a:r>
          </a:p>
          <a:p>
            <a:pPr lvl="1"/>
            <a:r>
              <a:rPr lang="en-US" altLang="zh-TW" sz="1800" dirty="0" smtClean="0">
                <a:sym typeface="Wingdings" panose="05000000000000000000" pitchFamily="2" charset="2"/>
              </a:rPr>
              <a:t>Simple Function pointer + </a:t>
            </a:r>
            <a:r>
              <a:rPr lang="en-US" altLang="zh-TW" sz="1800" dirty="0" err="1" smtClean="0">
                <a:sym typeface="Wingdings" panose="05000000000000000000" pitchFamily="2" charset="2"/>
              </a:rPr>
              <a:t>memcpy</a:t>
            </a:r>
            <a:endParaRPr lang="en-US" altLang="zh-TW" sz="1800" dirty="0" smtClean="0">
              <a:sym typeface="Wingdings" panose="05000000000000000000" pitchFamily="2" charset="2"/>
            </a:endParaRPr>
          </a:p>
          <a:p>
            <a:pPr lvl="2"/>
            <a:r>
              <a:rPr lang="en-US" altLang="zh-TW" sz="1800" dirty="0" smtClean="0">
                <a:sym typeface="Wingdings" panose="05000000000000000000" pitchFamily="2" charset="2"/>
              </a:rPr>
              <a:t>It can not allow to use the branch instructions because the jump address is absolute address</a:t>
            </a:r>
            <a:endParaRPr lang="zh-TW" altLang="en-US" sz="18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86"/>
          <a:stretch/>
        </p:blipFill>
        <p:spPr bwMode="auto">
          <a:xfrm>
            <a:off x="179512" y="2948548"/>
            <a:ext cx="3584768" cy="231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948548"/>
            <a:ext cx="4896544" cy="384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60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sym typeface="Wingdings" panose="05000000000000000000" pitchFamily="2" charset="2"/>
              </a:rPr>
              <a:t>Function pointer + </a:t>
            </a:r>
            <a:r>
              <a:rPr lang="en-US" altLang="zh-TW" sz="2000" dirty="0">
                <a:sym typeface="Wingdings" panose="05000000000000000000" pitchFamily="2" charset="2"/>
              </a:rPr>
              <a:t> </a:t>
            </a:r>
            <a:r>
              <a:rPr lang="en-US" altLang="zh-TW" sz="2000" dirty="0" smtClean="0">
                <a:sym typeface="Wingdings" panose="05000000000000000000" pitchFamily="2" charset="2"/>
              </a:rPr>
              <a:t>in</a:t>
            </a:r>
            <a:r>
              <a:rPr lang="en-US" altLang="zh-TW" sz="2000" dirty="0" smtClean="0"/>
              <a:t>dependent compilation with different linking</a:t>
            </a:r>
          </a:p>
          <a:p>
            <a:r>
              <a:rPr lang="en-US" altLang="zh-TW" sz="2000" dirty="0" smtClean="0"/>
              <a:t>Main (</a:t>
            </a:r>
            <a:r>
              <a:rPr lang="en-US" altLang="zh-TW" sz="2000" dirty="0" err="1" smtClean="0"/>
              <a:t>testcase</a:t>
            </a:r>
            <a:r>
              <a:rPr lang="en-US" altLang="zh-TW" sz="2000" dirty="0" smtClean="0"/>
              <a:t>)</a:t>
            </a:r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r>
              <a:rPr lang="en-US" altLang="zh-TW" sz="2000" dirty="0" smtClean="0"/>
              <a:t>Subject function</a:t>
            </a:r>
            <a:endParaRPr lang="zh-TW" altLang="en-US" sz="2000" dirty="0"/>
          </a:p>
        </p:txBody>
      </p:sp>
      <p:pic>
        <p:nvPicPr>
          <p:cNvPr id="4098" name="Picture 2" descr="image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803587"/>
            <a:ext cx="3286465" cy="282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3438922" cy="186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pPr algn="l"/>
            <a:r>
              <a:rPr lang="en-US" altLang="zh-TW" sz="2800" dirty="0" smtClean="0"/>
              <a:t>Solutions 3 (Success)</a:t>
            </a:r>
            <a:endParaRPr lang="zh-TW" altLang="en-US" sz="2800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03587"/>
            <a:ext cx="35433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698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204864"/>
            <a:ext cx="4425270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6372"/>
            <a:ext cx="35433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240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altLang="zh-TW" sz="4000" dirty="0" smtClean="0">
                <a:sym typeface="Wingdings" panose="05000000000000000000" pitchFamily="2" charset="2"/>
              </a:rPr>
              <a:t>Appendix</a:t>
            </a:r>
            <a:endParaRPr lang="en-US" altLang="zh-TW" sz="4000" dirty="0" smtClean="0">
              <a:sym typeface="Wingdings" panose="05000000000000000000" pitchFamily="2" charset="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sym typeface="Wingdings" panose="05000000000000000000" pitchFamily="2" charset="2"/>
              </a:rPr>
              <a:t>.dis file (follows ELF format)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76872"/>
            <a:ext cx="4419997" cy="205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51520" y="4407411"/>
            <a:ext cx="55446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1600" dirty="0" smtClean="0">
                <a:sym typeface="Wingdings" panose="05000000000000000000" pitchFamily="2" charset="2"/>
              </a:rPr>
              <a:t>VMA(Virtual Memory Address)  : CPU View </a:t>
            </a:r>
          </a:p>
          <a:p>
            <a:pPr marL="0" lvl="1"/>
            <a:r>
              <a:rPr lang="en-US" altLang="zh-TW" sz="1600" dirty="0" smtClean="0">
                <a:sym typeface="Wingdings" panose="05000000000000000000" pitchFamily="2" charset="2"/>
              </a:rPr>
              <a:t>LMA(Load Memory Address       : </a:t>
            </a:r>
            <a:r>
              <a:rPr lang="en-US" altLang="zh-TW" sz="1600" dirty="0">
                <a:sym typeface="Wingdings" panose="05000000000000000000" pitchFamily="2" charset="2"/>
              </a:rPr>
              <a:t> </a:t>
            </a:r>
            <a:r>
              <a:rPr lang="en-US" altLang="zh-TW" sz="1600" dirty="0" smtClean="0">
                <a:sym typeface="Wingdings" panose="05000000000000000000" pitchFamily="2" charset="2"/>
              </a:rPr>
              <a:t>Real system a</a:t>
            </a:r>
            <a:r>
              <a:rPr lang="en-US" altLang="zh-TW" sz="1600" dirty="0" smtClean="0">
                <a:sym typeface="Wingdings" panose="05000000000000000000" pitchFamily="2" charset="2"/>
              </a:rPr>
              <a:t>ddr</a:t>
            </a:r>
            <a:r>
              <a:rPr lang="en-US" altLang="zh-TW" sz="1600" dirty="0" smtClean="0">
                <a:sym typeface="Wingdings" panose="05000000000000000000" pitchFamily="2" charset="2"/>
              </a:rPr>
              <a:t>ess </a:t>
            </a:r>
            <a:r>
              <a:rPr lang="en-US" altLang="zh-TW" sz="1600" dirty="0">
                <a:sym typeface="Wingdings" panose="05000000000000000000" pitchFamily="2" charset="2"/>
              </a:rPr>
              <a:t>m</a:t>
            </a:r>
            <a:r>
              <a:rPr lang="en-US" altLang="zh-TW" sz="1600" dirty="0" smtClean="0">
                <a:sym typeface="Wingdings" panose="05000000000000000000" pitchFamily="2" charset="2"/>
              </a:rPr>
              <a:t>apping</a:t>
            </a:r>
            <a:endParaRPr lang="zh-TW" altLang="en-US" sz="1600" dirty="0"/>
          </a:p>
        </p:txBody>
      </p:sp>
      <p:sp>
        <p:nvSpPr>
          <p:cNvPr id="6" name="弧形箭號 (下彎) 5"/>
          <p:cNvSpPr/>
          <p:nvPr/>
        </p:nvSpPr>
        <p:spPr>
          <a:xfrm>
            <a:off x="2461518" y="2276872"/>
            <a:ext cx="742330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88024" y="2276872"/>
            <a:ext cx="43711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</a:t>
            </a:r>
            <a:r>
              <a:rPr lang="en-US" altLang="zh-TW" dirty="0" err="1" smtClean="0"/>
              <a:t>init</a:t>
            </a:r>
            <a:r>
              <a:rPr lang="en-US" altLang="zh-TW" dirty="0"/>
              <a:t> </a:t>
            </a:r>
            <a:r>
              <a:rPr lang="en-US" altLang="zh-TW" dirty="0" smtClean="0"/>
              <a:t>: Executing code before instruction</a:t>
            </a:r>
          </a:p>
          <a:p>
            <a:r>
              <a:rPr lang="en-US" altLang="zh-TW" dirty="0" smtClean="0"/>
              <a:t>.data: Initialized data, e.g.,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a = 5 ;</a:t>
            </a:r>
          </a:p>
          <a:p>
            <a:r>
              <a:rPr lang="en-US" altLang="zh-TW" dirty="0" smtClean="0"/>
              <a:t>.</a:t>
            </a:r>
            <a:r>
              <a:rPr lang="en-US" altLang="zh-TW" dirty="0" err="1" smtClean="0"/>
              <a:t>rodata</a:t>
            </a:r>
            <a:r>
              <a:rPr lang="en-US" altLang="zh-TW" dirty="0" smtClean="0"/>
              <a:t>: Constant data, e.g., </a:t>
            </a:r>
            <a:r>
              <a:rPr lang="en-US" altLang="zh-TW" dirty="0" err="1" smtClean="0"/>
              <a:t>const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5 ; (RO)</a:t>
            </a:r>
          </a:p>
          <a:p>
            <a:r>
              <a:rPr lang="en-US" altLang="zh-TW" dirty="0" smtClean="0"/>
              <a:t>.text : Instruction</a:t>
            </a:r>
          </a:p>
          <a:p>
            <a:r>
              <a:rPr lang="en-US" altLang="zh-TW" dirty="0" smtClean="0"/>
              <a:t>.</a:t>
            </a:r>
            <a:r>
              <a:rPr lang="en-US" altLang="zh-TW" dirty="0" err="1" smtClean="0"/>
              <a:t>bss</a:t>
            </a:r>
            <a:r>
              <a:rPr lang="en-US" altLang="zh-TW" dirty="0" smtClean="0"/>
              <a:t>: Uninitialized data, e.g., 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51520" y="4869160"/>
            <a:ext cx="56743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Following this setting,</a:t>
            </a:r>
          </a:p>
          <a:p>
            <a:r>
              <a:rPr lang="en-US" altLang="zh-TW" dirty="0" smtClean="0"/>
              <a:t>    0x81000000 should maps to 0x98000000</a:t>
            </a:r>
          </a:p>
          <a:p>
            <a:r>
              <a:rPr lang="en-US" altLang="zh-TW" dirty="0" smtClean="0"/>
              <a:t>In </a:t>
            </a:r>
            <a:r>
              <a:rPr lang="en-US" altLang="zh-TW" dirty="0" err="1" smtClean="0"/>
              <a:t>csim_ASIC</a:t>
            </a:r>
            <a:r>
              <a:rPr lang="en-US" altLang="zh-TW" dirty="0" smtClean="0"/>
              <a:t>, 0x81000000 maps to 0x81000000 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                       cause by MMU setting (need to clarify)</a:t>
            </a:r>
          </a:p>
        </p:txBody>
      </p:sp>
      <p:sp>
        <p:nvSpPr>
          <p:cNvPr id="9" name="矩形 8"/>
          <p:cNvSpPr/>
          <p:nvPr/>
        </p:nvSpPr>
        <p:spPr>
          <a:xfrm>
            <a:off x="395536" y="3836308"/>
            <a:ext cx="4104456" cy="2407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34068" y="6038775"/>
            <a:ext cx="7038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smtClean="0"/>
              <a:t>References:</a:t>
            </a:r>
            <a:endParaRPr lang="zh-TW" altLang="en-US" sz="1200" dirty="0" smtClean="0"/>
          </a:p>
          <a:p>
            <a:r>
              <a:rPr lang="en-US" altLang="zh-TW" sz="1200" dirty="0" smtClean="0">
                <a:hlinkClick r:id="rId3"/>
              </a:rPr>
              <a:t>https://blog.gtwang.org/programming/memory-layout-of-c-program/</a:t>
            </a:r>
            <a:endParaRPr lang="en-US" altLang="zh-TW" sz="1200" dirty="0" smtClean="0"/>
          </a:p>
          <a:p>
            <a:r>
              <a:rPr lang="en-US" altLang="zh-TW" sz="1200" dirty="0" smtClean="0">
                <a:hlinkClick r:id="rId4"/>
              </a:rPr>
              <a:t>https://www.crifan.com/detailed_lma_load_memory_address_and_vma_virtual_memory_address/</a:t>
            </a:r>
            <a:endParaRPr lang="en-US" altLang="zh-TW" sz="1200" dirty="0" smtClean="0"/>
          </a:p>
          <a:p>
            <a:r>
              <a:rPr lang="en-US" altLang="zh-TW" sz="1200" dirty="0" smtClean="0">
                <a:hlinkClick r:id="rId5"/>
              </a:rPr>
              <a:t>http://sp1.wikidot.com/elfobjfile</a:t>
            </a:r>
            <a:endParaRPr lang="en-US" altLang="zh-TW" sz="1200" dirty="0" smtClean="0"/>
          </a:p>
        </p:txBody>
      </p:sp>
    </p:spTree>
    <p:extLst>
      <p:ext uri="{BB962C8B-B14F-4D97-AF65-F5344CB8AC3E}">
        <p14:creationId xmlns:p14="http://schemas.microsoft.com/office/powerpoint/2010/main" val="34438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302</Words>
  <Application>Microsoft Office PowerPoint</Application>
  <PresentationFormat>如螢幕大小 (4:3)</PresentationFormat>
  <Paragraphs>68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Issue Discussion</vt:lpstr>
      <vt:lpstr>Outline</vt:lpstr>
      <vt:lpstr>Execution flow for csim_ASIC</vt:lpstr>
      <vt:lpstr>Q1. How to move the code to DRAM?</vt:lpstr>
      <vt:lpstr>Issue Discussion – Function execution at CBDMA SRAM address</vt:lpstr>
      <vt:lpstr>Issue Discussion – Function execution at CBDMA SRAM address</vt:lpstr>
      <vt:lpstr>Solutions 3 (Success)</vt:lpstr>
      <vt:lpstr>PowerPoint 簡報</vt:lpstr>
      <vt:lpstr>Appendix</vt:lpstr>
    </vt:vector>
  </TitlesOfParts>
  <Company>Availink,Inc.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 Discussion for asic_csim and</dc:title>
  <dc:creator>Jerry Chang 張宗賢</dc:creator>
  <cp:lastModifiedBy>Jerry Chang 張宗賢</cp:lastModifiedBy>
  <cp:revision>21</cp:revision>
  <dcterms:created xsi:type="dcterms:W3CDTF">2020-01-09T06:08:43Z</dcterms:created>
  <dcterms:modified xsi:type="dcterms:W3CDTF">2020-01-10T03:45:24Z</dcterms:modified>
</cp:coreProperties>
</file>