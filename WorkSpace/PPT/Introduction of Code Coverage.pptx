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3" r:id="rId4"/>
    <p:sldId id="258" r:id="rId5"/>
    <p:sldId id="269" r:id="rId6"/>
    <p:sldId id="260" r:id="rId7"/>
    <p:sldId id="261" r:id="rId8"/>
    <p:sldId id="267" r:id="rId9"/>
    <p:sldId id="271" r:id="rId10"/>
    <p:sldId id="281" r:id="rId11"/>
    <p:sldId id="272" r:id="rId12"/>
    <p:sldId id="270" r:id="rId13"/>
    <p:sldId id="274" r:id="rId14"/>
    <p:sldId id="278" r:id="rId15"/>
    <p:sldId id="277" r:id="rId16"/>
    <p:sldId id="279" r:id="rId1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-155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FF3C0-AEBE-4B07-A320-A16767A944E4}" type="datetimeFigureOut">
              <a:rPr lang="zh-TW" altLang="en-US" smtClean="0"/>
              <a:t>2020/2/14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04CBA-D602-447B-B954-DD1913AC3B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5743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04CBA-D602-447B-B954-DD1913AC3BE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0166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2020/2/14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2020/2/14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2020/2/14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2020/2/14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2020/2/14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2020/2/14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2020/2/14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2020/2/14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2020/2/14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2020/2/14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2020/2/14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2020/2/14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Introduction of Code Coverage</a:t>
            </a:r>
            <a:br>
              <a:rPr lang="en-US" altLang="zh-TW" dirty="0" smtClean="0"/>
            </a:br>
            <a:r>
              <a:rPr lang="en-US" altLang="zh-TW" sz="3200" dirty="0" smtClean="0"/>
              <a:t>(Using VCS)</a:t>
            </a:r>
            <a:endParaRPr lang="zh-TW" altLang="en-US" sz="32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Jerry Chang</a:t>
            </a:r>
          </a:p>
          <a:p>
            <a:r>
              <a:rPr lang="en-US" altLang="zh-TW" sz="2400" dirty="0" smtClean="0"/>
              <a:t>2020/02/13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60121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Code Coverage for VCS</a:t>
            </a:r>
          </a:p>
          <a:p>
            <a:pPr lvl="1"/>
            <a:r>
              <a:rPr lang="en-US" altLang="zh-TW" dirty="0"/>
              <a:t>Coverage </a:t>
            </a:r>
            <a:r>
              <a:rPr lang="en-US" altLang="zh-TW" dirty="0" smtClean="0"/>
              <a:t>Types</a:t>
            </a:r>
            <a:endParaRPr lang="en-US" altLang="zh-TW" dirty="0"/>
          </a:p>
          <a:p>
            <a:pPr lvl="1"/>
            <a:r>
              <a:rPr lang="en-US" altLang="zh-TW" dirty="0" smtClean="0"/>
              <a:t>VCS Flow</a:t>
            </a:r>
          </a:p>
          <a:p>
            <a:pPr lvl="1"/>
            <a:r>
              <a:rPr lang="en-US" altLang="zh-TW" dirty="0" smtClean="0"/>
              <a:t>VCS Flow in </a:t>
            </a:r>
            <a:r>
              <a:rPr lang="en-US" altLang="zh-TW" dirty="0" err="1" smtClean="0"/>
              <a:t>csim_ASIC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214326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Code Coverage for VCS</a:t>
            </a:r>
          </a:p>
          <a:p>
            <a:pPr lvl="1"/>
            <a:r>
              <a:rPr lang="en-US" altLang="zh-TW" dirty="0"/>
              <a:t>Coverage </a:t>
            </a:r>
            <a:r>
              <a:rPr lang="en-US" altLang="zh-TW" dirty="0" smtClean="0"/>
              <a:t>Types</a:t>
            </a:r>
            <a:endParaRPr lang="en-US" altLang="zh-TW" dirty="0"/>
          </a:p>
          <a:p>
            <a:pPr lvl="1"/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VCS Flow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VCS Flow in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</a:rPr>
              <a:t>csim_ASIC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258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Coverage </a:t>
            </a:r>
            <a:r>
              <a:rPr lang="en-US" altLang="zh-TW" dirty="0" smtClean="0"/>
              <a:t>Type</a:t>
            </a:r>
            <a:endParaRPr lang="en-US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According to the VCS coverage UG, it gives 5 kinds of coverage type</a:t>
            </a:r>
          </a:p>
          <a:p>
            <a:pPr lvl="1"/>
            <a:r>
              <a:rPr lang="en-US" altLang="zh-TW" dirty="0" smtClean="0"/>
              <a:t>Line Coverage</a:t>
            </a:r>
          </a:p>
          <a:p>
            <a:pPr lvl="1"/>
            <a:r>
              <a:rPr lang="en-US" altLang="zh-TW" dirty="0" smtClean="0"/>
              <a:t>Toggle Coverage</a:t>
            </a:r>
          </a:p>
          <a:p>
            <a:pPr lvl="1"/>
            <a:r>
              <a:rPr lang="en-US" altLang="zh-TW" dirty="0" smtClean="0"/>
              <a:t>Condition Coverage</a:t>
            </a:r>
          </a:p>
          <a:p>
            <a:pPr lvl="1"/>
            <a:r>
              <a:rPr lang="en-US" altLang="zh-TW" dirty="0" smtClean="0"/>
              <a:t>Branch Coverage</a:t>
            </a:r>
          </a:p>
          <a:p>
            <a:pPr lvl="1"/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FSM Coverage</a:t>
            </a:r>
          </a:p>
          <a:p>
            <a:pPr lvl="1"/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76056" y="3486199"/>
            <a:ext cx="14872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/>
              <a:t>Example </a:t>
            </a:r>
            <a:r>
              <a:rPr lang="en-US" altLang="zh-TW" sz="2400" dirty="0"/>
              <a:t>A</a:t>
            </a:r>
            <a:endParaRPr lang="zh-TW" altLang="en-US" sz="2400" dirty="0"/>
          </a:p>
        </p:txBody>
      </p:sp>
      <p:sp>
        <p:nvSpPr>
          <p:cNvPr id="6" name="右大括弧 5"/>
          <p:cNvSpPr/>
          <p:nvPr/>
        </p:nvSpPr>
        <p:spPr>
          <a:xfrm>
            <a:off x="4499992" y="2780928"/>
            <a:ext cx="432048" cy="18722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右大括弧 6"/>
          <p:cNvSpPr/>
          <p:nvPr/>
        </p:nvSpPr>
        <p:spPr>
          <a:xfrm>
            <a:off x="4502793" y="4653136"/>
            <a:ext cx="432048" cy="43204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076056" y="4638327"/>
            <a:ext cx="14872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/>
              <a:t>Example B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76601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A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241555"/>
            <a:ext cx="6192688" cy="5465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4078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Line </a:t>
            </a:r>
            <a:r>
              <a:rPr lang="en-US" altLang="zh-TW" dirty="0" smtClean="0"/>
              <a:t>Coverage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Which line has been executed in always block</a:t>
            </a:r>
          </a:p>
          <a:p>
            <a:pPr lvl="1"/>
            <a:r>
              <a:rPr lang="en-US" altLang="zh-TW" sz="2400" dirty="0" smtClean="0"/>
              <a:t>Green </a:t>
            </a:r>
            <a:r>
              <a:rPr lang="en-US" altLang="zh-TW" sz="2400" dirty="0" smtClean="0">
                <a:sym typeface="Wingdings" panose="05000000000000000000" pitchFamily="2" charset="2"/>
              </a:rPr>
              <a:t>Executed</a:t>
            </a:r>
          </a:p>
          <a:p>
            <a:pPr lvl="1"/>
            <a:r>
              <a:rPr lang="en-US" altLang="zh-TW" sz="2400" dirty="0" smtClean="0">
                <a:sym typeface="Wingdings" panose="05000000000000000000" pitchFamily="2" charset="2"/>
              </a:rPr>
              <a:t>Red Not executed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924944"/>
            <a:ext cx="4752528" cy="3818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4211960" y="5986154"/>
            <a:ext cx="45447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Line Coverage Rate (Statement) : 5/7 = 71.43%</a:t>
            </a:r>
          </a:p>
          <a:p>
            <a:r>
              <a:rPr lang="en-US" altLang="zh-TW" dirty="0" smtClean="0"/>
              <a:t>Line </a:t>
            </a:r>
            <a:r>
              <a:rPr lang="en-US" altLang="zh-TW" dirty="0"/>
              <a:t>Coverage Rate </a:t>
            </a:r>
            <a:r>
              <a:rPr lang="en-US" altLang="zh-TW" dirty="0" smtClean="0"/>
              <a:t>(Block) </a:t>
            </a:r>
            <a:r>
              <a:rPr lang="en-US" altLang="zh-TW" dirty="0"/>
              <a:t>: </a:t>
            </a:r>
            <a:r>
              <a:rPr lang="en-US" altLang="zh-TW" dirty="0" smtClean="0"/>
              <a:t>4/5 </a:t>
            </a:r>
            <a:r>
              <a:rPr lang="en-US" altLang="zh-TW" dirty="0"/>
              <a:t>= </a:t>
            </a:r>
            <a:r>
              <a:rPr lang="en-US" altLang="zh-TW" dirty="0" smtClean="0"/>
              <a:t>80.0%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27657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Toggle </a:t>
            </a:r>
            <a:r>
              <a:rPr lang="en-US" altLang="zh-TW" dirty="0" smtClean="0"/>
              <a:t>Coverage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Signal/Port (i.e., </a:t>
            </a:r>
            <a:r>
              <a:rPr lang="en-US" altLang="zh-TW" sz="2800" dirty="0" err="1" smtClean="0"/>
              <a:t>reg</a:t>
            </a:r>
            <a:r>
              <a:rPr lang="en-US" altLang="zh-TW" sz="2800" dirty="0" smtClean="0"/>
              <a:t>/wire/input/output …) transition</a:t>
            </a:r>
          </a:p>
          <a:p>
            <a:pPr lvl="1"/>
            <a:r>
              <a:rPr lang="en-US" altLang="zh-TW" sz="2400" dirty="0" smtClean="0"/>
              <a:t>Transitions, 0</a:t>
            </a:r>
            <a:r>
              <a:rPr lang="en-US" altLang="zh-TW" sz="2400" dirty="0" smtClean="0">
                <a:sym typeface="Wingdings" panose="05000000000000000000" pitchFamily="2" charset="2"/>
              </a:rPr>
              <a:t></a:t>
            </a:r>
            <a:r>
              <a:rPr lang="en-US" altLang="zh-TW" sz="2400" dirty="0" smtClean="0"/>
              <a:t>1, 1</a:t>
            </a:r>
            <a:r>
              <a:rPr lang="en-US" altLang="zh-TW" sz="2400" dirty="0" smtClean="0">
                <a:sym typeface="Wingdings" panose="05000000000000000000" pitchFamily="2" charset="2"/>
              </a:rPr>
              <a:t></a:t>
            </a:r>
            <a:r>
              <a:rPr lang="en-US" altLang="zh-TW" sz="2400" dirty="0" smtClean="0"/>
              <a:t>0 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76872"/>
            <a:ext cx="5040170" cy="44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2256624"/>
            <a:ext cx="4942057" cy="2488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4283968" y="5661248"/>
            <a:ext cx="3941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Toggle </a:t>
            </a:r>
            <a:r>
              <a:rPr lang="en-US" altLang="zh-TW" dirty="0" smtClean="0"/>
              <a:t>Coverage Rate: 65/152 = 42.76%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6399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Condition </a:t>
            </a:r>
            <a:r>
              <a:rPr lang="en-US" altLang="zh-TW" dirty="0" smtClean="0"/>
              <a:t>Coverage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Condition in sub expression or expression are evaluated (0 and 1 are all evaluated).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92" y="2276872"/>
            <a:ext cx="41719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661248"/>
            <a:ext cx="4701208" cy="101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259585"/>
            <a:ext cx="1861575" cy="1196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564904"/>
            <a:ext cx="1540136" cy="1230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/>
        </p:nvSpPr>
        <p:spPr>
          <a:xfrm>
            <a:off x="5004048" y="6237312"/>
            <a:ext cx="3611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Condition Coverage Rate: 1/5 = 20% </a:t>
            </a:r>
            <a:endParaRPr lang="zh-TW" altLang="en-US" dirty="0"/>
          </a:p>
        </p:txBody>
      </p:sp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689435"/>
            <a:ext cx="469582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8970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Branch Coverage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Coverage of expression and case statements (e.g., </a:t>
            </a:r>
            <a:r>
              <a:rPr lang="en-US" altLang="zh-TW" sz="2800" dirty="0" err="1" smtClean="0"/>
              <a:t>if..else</a:t>
            </a:r>
            <a:r>
              <a:rPr lang="en-US" altLang="zh-TW" sz="2800" dirty="0" smtClean="0"/>
              <a:t>/case/‘?’)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that affect the control flow</a:t>
            </a:r>
            <a:endParaRPr lang="zh-TW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4932040" y="5157192"/>
            <a:ext cx="3576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Branch </a:t>
            </a:r>
            <a:r>
              <a:rPr lang="en-US" altLang="zh-TW" dirty="0" smtClean="0"/>
              <a:t>Coverage Rate = 1/3 = 33.3%</a:t>
            </a:r>
            <a:endParaRPr lang="zh-TW" alt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123" y="2780928"/>
            <a:ext cx="55816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4258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Coverage </a:t>
            </a:r>
            <a:r>
              <a:rPr lang="en-US" altLang="zh-TW" dirty="0" smtClean="0"/>
              <a:t>Type</a:t>
            </a:r>
            <a:endParaRPr lang="en-US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According to the VCS coverage UG, it gives 5 kinds of coverage type</a:t>
            </a:r>
          </a:p>
          <a:p>
            <a:pPr lvl="1"/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Line Coverage</a:t>
            </a:r>
          </a:p>
          <a:p>
            <a:pPr lvl="1"/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Toggle Coverage</a:t>
            </a:r>
          </a:p>
          <a:p>
            <a:pPr lvl="1"/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Condition Coverage</a:t>
            </a:r>
          </a:p>
          <a:p>
            <a:pPr lvl="1"/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Branch Coverage</a:t>
            </a:r>
          </a:p>
          <a:p>
            <a:pPr lvl="1"/>
            <a:r>
              <a:rPr lang="en-US" altLang="zh-TW" dirty="0" smtClean="0"/>
              <a:t>FSM Coverage</a:t>
            </a:r>
          </a:p>
          <a:p>
            <a:pPr lvl="1"/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76056" y="3486199"/>
            <a:ext cx="14872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/>
              <a:t>Example </a:t>
            </a:r>
            <a:r>
              <a:rPr lang="en-US" altLang="zh-TW" sz="2400" dirty="0"/>
              <a:t>A</a:t>
            </a:r>
            <a:endParaRPr lang="zh-TW" altLang="en-US" sz="2400" dirty="0"/>
          </a:p>
        </p:txBody>
      </p:sp>
      <p:sp>
        <p:nvSpPr>
          <p:cNvPr id="6" name="右大括弧 5"/>
          <p:cNvSpPr/>
          <p:nvPr/>
        </p:nvSpPr>
        <p:spPr>
          <a:xfrm>
            <a:off x="4499992" y="2780928"/>
            <a:ext cx="432048" cy="18722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右大括弧 6"/>
          <p:cNvSpPr/>
          <p:nvPr/>
        </p:nvSpPr>
        <p:spPr>
          <a:xfrm>
            <a:off x="4502793" y="4653136"/>
            <a:ext cx="432048" cy="43204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076056" y="4638327"/>
            <a:ext cx="14872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/>
              <a:t>Example B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53669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B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60848"/>
            <a:ext cx="9210675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07504" y="6093296"/>
            <a:ext cx="2680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Bit : 2, 4 states</a:t>
            </a:r>
          </a:p>
          <a:p>
            <a:r>
              <a:rPr lang="en-US" altLang="zh-TW" dirty="0" smtClean="0"/>
              <a:t>Transition Paths : c</a:t>
            </a:r>
            <a:r>
              <a:rPr lang="en-US" altLang="zh-TW" baseline="-25000" dirty="0" smtClean="0"/>
              <a:t>2</a:t>
            </a:r>
            <a:r>
              <a:rPr lang="en-US" altLang="zh-TW" baseline="30000" dirty="0" smtClean="0"/>
              <a:t>4</a:t>
            </a:r>
            <a:r>
              <a:rPr lang="en-US" altLang="zh-TW" dirty="0" smtClean="0"/>
              <a:t> = 12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04939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FSM Coverage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268760"/>
            <a:ext cx="9210675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1186206"/>
            <a:ext cx="5048825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8" y="4633999"/>
            <a:ext cx="2181225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4412010"/>
            <a:ext cx="2867025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5700895" y="6414403"/>
            <a:ext cx="32718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FSM </a:t>
            </a:r>
            <a:r>
              <a:rPr lang="en-US" altLang="zh-TW" dirty="0" smtClean="0"/>
              <a:t>Coverage Rate = 6/12 = 50%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99758" y="6137404"/>
            <a:ext cx="2588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State: 2^2 = 4</a:t>
            </a:r>
          </a:p>
          <a:p>
            <a:r>
              <a:rPr lang="en-US" altLang="zh-TW" dirty="0" smtClean="0"/>
              <a:t>Transition Paths : c</a:t>
            </a:r>
            <a:r>
              <a:rPr lang="en-US" altLang="zh-TW" baseline="30000" dirty="0" smtClean="0"/>
              <a:t>4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= 12 </a:t>
            </a:r>
            <a:endParaRPr lang="zh-TW" altLang="en-US" dirty="0"/>
          </a:p>
        </p:txBody>
      </p:sp>
      <p:sp>
        <p:nvSpPr>
          <p:cNvPr id="5" name="向右箭號 4"/>
          <p:cNvSpPr/>
          <p:nvPr/>
        </p:nvSpPr>
        <p:spPr>
          <a:xfrm>
            <a:off x="2379877" y="5297264"/>
            <a:ext cx="288032" cy="2673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6333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Code Coverage for VCS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Coverage 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Types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altLang="zh-TW" dirty="0" smtClean="0"/>
              <a:t>VCS Flow</a:t>
            </a:r>
          </a:p>
          <a:p>
            <a:pPr lvl="2"/>
            <a:r>
              <a:rPr lang="en-US" altLang="zh-TW" dirty="0" smtClean="0"/>
              <a:t>Compilation (</a:t>
            </a:r>
            <a:r>
              <a:rPr lang="en-US" altLang="zh-TW" dirty="0" err="1" smtClean="0"/>
              <a:t>vcs</a:t>
            </a:r>
            <a:r>
              <a:rPr lang="en-US" altLang="zh-TW" dirty="0" smtClean="0"/>
              <a:t>) &amp; Simulation (</a:t>
            </a:r>
            <a:r>
              <a:rPr lang="en-US" altLang="zh-TW" dirty="0" err="1" smtClean="0"/>
              <a:t>simv</a:t>
            </a:r>
            <a:r>
              <a:rPr lang="en-US" altLang="zh-TW" dirty="0" smtClean="0"/>
              <a:t>)</a:t>
            </a:r>
          </a:p>
          <a:p>
            <a:pPr lvl="2"/>
            <a:r>
              <a:rPr lang="en-US" altLang="zh-TW" dirty="0" smtClean="0"/>
              <a:t>Converge Data Merge (</a:t>
            </a:r>
            <a:r>
              <a:rPr lang="en-US" altLang="zh-TW" dirty="0" err="1" smtClean="0"/>
              <a:t>urg</a:t>
            </a:r>
            <a:r>
              <a:rPr lang="en-US" altLang="zh-TW" dirty="0" smtClean="0"/>
              <a:t>) </a:t>
            </a:r>
          </a:p>
          <a:p>
            <a:pPr lvl="2"/>
            <a:r>
              <a:rPr lang="en-US" altLang="zh-TW" dirty="0" smtClean="0"/>
              <a:t>Debugging (</a:t>
            </a:r>
            <a:r>
              <a:rPr lang="en-US" altLang="zh-TW" dirty="0" err="1" smtClean="0"/>
              <a:t>dve</a:t>
            </a:r>
            <a:r>
              <a:rPr lang="en-US" altLang="zh-TW" dirty="0" smtClean="0"/>
              <a:t> or browser)</a:t>
            </a:r>
          </a:p>
          <a:p>
            <a:pPr lvl="1"/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VCS Flow in </a:t>
            </a:r>
            <a:r>
              <a:rPr lang="en-US" altLang="zh-TW" dirty="0" err="1" smtClean="0">
                <a:solidFill>
                  <a:schemeClr val="bg1">
                    <a:lumMod val="75000"/>
                  </a:schemeClr>
                </a:solidFill>
              </a:rPr>
              <a:t>csim_ASIC</a:t>
            </a:r>
            <a:endParaRPr lang="en-US" altLang="zh-TW" dirty="0" smtClean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890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VCS </a:t>
            </a:r>
            <a:r>
              <a:rPr lang="en-US" altLang="zh-TW" dirty="0" smtClean="0"/>
              <a:t>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Compilation &amp; </a:t>
            </a:r>
            <a:r>
              <a:rPr lang="en-US" altLang="zh-TW" dirty="0" smtClean="0"/>
              <a:t>Simulation</a:t>
            </a:r>
          </a:p>
          <a:p>
            <a:pPr marL="0" indent="0"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–</a:t>
            </a:r>
            <a:r>
              <a:rPr lang="en-US" altLang="zh-TW" sz="1800" dirty="0" err="1">
                <a:solidFill>
                  <a:srgbClr val="FF0000"/>
                </a:solidFill>
              </a:rPr>
              <a:t>lca</a:t>
            </a:r>
            <a:r>
              <a:rPr lang="en-US" altLang="zh-TW" sz="1800" dirty="0">
                <a:solidFill>
                  <a:srgbClr val="FF0000"/>
                </a:solidFill>
              </a:rPr>
              <a:t> (limited custom available)         </a:t>
            </a:r>
            <a:r>
              <a:rPr lang="en-US" altLang="zh-TW" sz="1800" dirty="0" smtClean="0">
                <a:solidFill>
                  <a:srgbClr val="FF0000"/>
                </a:solidFill>
              </a:rPr>
              <a:t>        </a:t>
            </a:r>
            <a:r>
              <a:rPr lang="en-US" altLang="zh-TW" sz="1800" dirty="0"/>
              <a:t>=&gt; </a:t>
            </a:r>
            <a:r>
              <a:rPr lang="zh-TW" altLang="en-US" sz="1800" dirty="0"/>
              <a:t>啟動</a:t>
            </a:r>
            <a:r>
              <a:rPr lang="en-US" altLang="zh-TW" sz="1800" dirty="0"/>
              <a:t>license</a:t>
            </a:r>
            <a:r>
              <a:rPr lang="zh-TW" altLang="en-US" sz="1800" dirty="0"/>
              <a:t>的命令語句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–cm </a:t>
            </a:r>
            <a:r>
              <a:rPr lang="en-US" altLang="zh-TW" sz="1800" dirty="0" err="1">
                <a:solidFill>
                  <a:srgbClr val="FF0000"/>
                </a:solidFill>
              </a:rPr>
              <a:t>line+fsm+cond+branch+tgl+assert</a:t>
            </a:r>
            <a:r>
              <a:rPr lang="en-US" altLang="zh-TW" sz="1800" dirty="0">
                <a:solidFill>
                  <a:srgbClr val="FF0000"/>
                </a:solidFill>
              </a:rPr>
              <a:t> </a:t>
            </a:r>
            <a:r>
              <a:rPr lang="zh-TW" altLang="en-US" sz="1800" dirty="0">
                <a:solidFill>
                  <a:srgbClr val="FF0000"/>
                </a:solidFill>
              </a:rPr>
              <a:t>  </a:t>
            </a:r>
            <a:r>
              <a:rPr lang="en-US" altLang="zh-TW" sz="1800" dirty="0"/>
              <a:t>=&gt;</a:t>
            </a:r>
            <a:r>
              <a:rPr lang="zh-TW" altLang="en-US" sz="1800" dirty="0"/>
              <a:t>打開不同種類的</a:t>
            </a:r>
            <a:r>
              <a:rPr lang="en-US" altLang="zh-TW" sz="1800" dirty="0"/>
              <a:t>coverage</a:t>
            </a:r>
            <a:r>
              <a:rPr lang="zh-TW" altLang="en-US" sz="1800" dirty="0"/>
              <a:t>分析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–</a:t>
            </a:r>
            <a:r>
              <a:rPr lang="en-US" altLang="zh-TW" sz="1800" dirty="0" err="1">
                <a:solidFill>
                  <a:srgbClr val="FF0000"/>
                </a:solidFill>
              </a:rPr>
              <a:t>cm_dir</a:t>
            </a:r>
            <a:r>
              <a:rPr lang="en-US" altLang="zh-TW" sz="1800" dirty="0">
                <a:solidFill>
                  <a:srgbClr val="FF0000"/>
                </a:solidFill>
              </a:rPr>
              <a:t>  </a:t>
            </a:r>
            <a:r>
              <a:rPr lang="en-US" altLang="zh-TW" sz="1800" dirty="0"/>
              <a:t>“</a:t>
            </a:r>
            <a:r>
              <a:rPr lang="en-US" altLang="zh-TW" sz="1800" dirty="0" err="1"/>
              <a:t>coverage_dir</a:t>
            </a:r>
            <a:r>
              <a:rPr lang="en-US" altLang="zh-TW" sz="1800" dirty="0"/>
              <a:t>” </a:t>
            </a:r>
            <a:r>
              <a:rPr lang="zh-TW" altLang="en-US" sz="1800" dirty="0"/>
              <a:t>               </a:t>
            </a:r>
            <a:r>
              <a:rPr lang="zh-TW" altLang="en-US" sz="1800" dirty="0" smtClean="0"/>
              <a:t>            </a:t>
            </a:r>
            <a:r>
              <a:rPr lang="en-US" altLang="zh-TW" sz="1800" dirty="0"/>
              <a:t>=&gt;</a:t>
            </a:r>
            <a:r>
              <a:rPr lang="zh-TW" altLang="en-US" sz="1800" dirty="0"/>
              <a:t>存取</a:t>
            </a:r>
            <a:r>
              <a:rPr lang="en-US" altLang="zh-TW" sz="1800" dirty="0"/>
              <a:t>coverage</a:t>
            </a:r>
            <a:r>
              <a:rPr lang="zh-TW" altLang="en-US" sz="1800" dirty="0"/>
              <a:t> </a:t>
            </a:r>
            <a:r>
              <a:rPr lang="en-US" altLang="zh-TW" sz="1800" dirty="0"/>
              <a:t>data</a:t>
            </a:r>
            <a:r>
              <a:rPr lang="zh-TW" altLang="en-US" sz="1800" dirty="0"/>
              <a:t>的資料夾路徑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–</a:t>
            </a:r>
            <a:r>
              <a:rPr lang="en-US" altLang="zh-TW" sz="1800" dirty="0" err="1">
                <a:solidFill>
                  <a:srgbClr val="FF0000"/>
                </a:solidFill>
              </a:rPr>
              <a:t>cm_hier</a:t>
            </a:r>
            <a:r>
              <a:rPr lang="en-US" altLang="zh-TW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/>
              <a:t>“</a:t>
            </a:r>
            <a:r>
              <a:rPr lang="en-US" altLang="zh-TW" sz="1800" dirty="0" err="1"/>
              <a:t>coverage_hierachy</a:t>
            </a:r>
            <a:r>
              <a:rPr lang="en-US" altLang="zh-TW" sz="1800" dirty="0"/>
              <a:t>”</a:t>
            </a:r>
            <a:r>
              <a:rPr lang="zh-TW" altLang="en-US" sz="1800" dirty="0"/>
              <a:t>    </a:t>
            </a:r>
            <a:r>
              <a:rPr lang="zh-TW" altLang="en-US" sz="1800" dirty="0" smtClean="0"/>
              <a:t>             </a:t>
            </a:r>
            <a:r>
              <a:rPr lang="en-US" altLang="zh-TW" sz="1800" dirty="0"/>
              <a:t>=&gt;</a:t>
            </a:r>
            <a:r>
              <a:rPr lang="zh-TW" altLang="en-US" sz="1800" dirty="0"/>
              <a:t>需要分析</a:t>
            </a:r>
            <a:r>
              <a:rPr lang="en-US" altLang="zh-TW" sz="1800" dirty="0"/>
              <a:t>coverage</a:t>
            </a:r>
            <a:r>
              <a:rPr lang="zh-TW" altLang="en-US" sz="1800" dirty="0"/>
              <a:t>的</a:t>
            </a:r>
            <a:r>
              <a:rPr lang="en-US" altLang="zh-TW" sz="1800" dirty="0"/>
              <a:t>hierarchy</a:t>
            </a:r>
          </a:p>
          <a:p>
            <a:pPr marL="342900" lvl="2" indent="-342900"/>
            <a:r>
              <a:rPr lang="en-US" altLang="zh-TW" sz="3200" dirty="0"/>
              <a:t>Converge Data Merge (</a:t>
            </a:r>
            <a:r>
              <a:rPr lang="en-US" altLang="zh-TW" sz="3200" dirty="0" err="1"/>
              <a:t>urg</a:t>
            </a:r>
            <a:r>
              <a:rPr lang="en-US" altLang="zh-TW" sz="3200" dirty="0" smtClean="0"/>
              <a:t>)</a:t>
            </a:r>
          </a:p>
          <a:p>
            <a:pPr marL="0" indent="0">
              <a:buNone/>
            </a:pPr>
            <a:r>
              <a:rPr lang="en-US" altLang="zh-TW" sz="2000" dirty="0">
                <a:solidFill>
                  <a:srgbClr val="FF0000"/>
                </a:solidFill>
              </a:rPr>
              <a:t>–</a:t>
            </a:r>
            <a:r>
              <a:rPr lang="en-US" altLang="zh-TW" sz="2000" dirty="0" err="1">
                <a:solidFill>
                  <a:srgbClr val="FF0000"/>
                </a:solidFill>
              </a:rPr>
              <a:t>dir</a:t>
            </a:r>
            <a:r>
              <a:rPr lang="en-US" altLang="zh-TW" sz="2000" dirty="0">
                <a:solidFill>
                  <a:srgbClr val="FF0000"/>
                </a:solidFill>
              </a:rPr>
              <a:t>                                               </a:t>
            </a:r>
            <a:r>
              <a:rPr lang="en-US" altLang="zh-TW" sz="2000" dirty="0" smtClean="0">
                <a:solidFill>
                  <a:srgbClr val="FF0000"/>
                </a:solidFill>
              </a:rPr>
              <a:t>            </a:t>
            </a:r>
            <a:r>
              <a:rPr lang="en-US" altLang="zh-TW" sz="2000" dirty="0"/>
              <a:t>=&gt;</a:t>
            </a:r>
            <a:r>
              <a:rPr lang="zh-TW" altLang="en-US" sz="2000" dirty="0"/>
              <a:t> 需要</a:t>
            </a:r>
            <a:r>
              <a:rPr lang="en-US" altLang="zh-TW" sz="2000" dirty="0"/>
              <a:t>merge</a:t>
            </a:r>
            <a:r>
              <a:rPr lang="zh-TW" altLang="en-US" sz="2000" dirty="0"/>
              <a:t>的所有</a:t>
            </a:r>
            <a:r>
              <a:rPr lang="en-US" altLang="zh-TW" sz="2000" dirty="0"/>
              <a:t>coverage </a:t>
            </a:r>
            <a:r>
              <a:rPr lang="zh-TW" altLang="en-US" sz="2000" dirty="0"/>
              <a:t>資料夾</a:t>
            </a:r>
            <a:r>
              <a:rPr lang="en-US" altLang="zh-TW" sz="2000" dirty="0"/>
              <a:t> </a:t>
            </a:r>
          </a:p>
          <a:p>
            <a:pPr marL="0" indent="0">
              <a:buNone/>
            </a:pPr>
            <a:r>
              <a:rPr lang="en-US" altLang="zh-TW" sz="2000" dirty="0">
                <a:solidFill>
                  <a:srgbClr val="FF0000"/>
                </a:solidFill>
              </a:rPr>
              <a:t>–metric </a:t>
            </a:r>
            <a:r>
              <a:rPr lang="en-US" altLang="zh-TW" sz="2000" dirty="0" err="1">
                <a:solidFill>
                  <a:srgbClr val="FF0000"/>
                </a:solidFill>
              </a:rPr>
              <a:t>line+fsm+cond+branch+tgl</a:t>
            </a:r>
            <a:r>
              <a:rPr lang="en-US" altLang="zh-TW" sz="2000" dirty="0">
                <a:solidFill>
                  <a:srgbClr val="FF0000"/>
                </a:solidFill>
              </a:rPr>
              <a:t> </a:t>
            </a:r>
            <a:r>
              <a:rPr lang="zh-TW" altLang="en-US" sz="2000" dirty="0">
                <a:solidFill>
                  <a:srgbClr val="FF0000"/>
                </a:solidFill>
              </a:rPr>
              <a:t>  </a:t>
            </a:r>
            <a:r>
              <a:rPr lang="en-US" altLang="zh-TW" sz="2000" dirty="0"/>
              <a:t>=&gt;</a:t>
            </a:r>
            <a:r>
              <a:rPr lang="zh-TW" altLang="en-US" sz="2000" dirty="0"/>
              <a:t> 指定輸出的</a:t>
            </a:r>
            <a:r>
              <a:rPr lang="en-US" altLang="zh-TW" sz="2000" dirty="0"/>
              <a:t>coverage</a:t>
            </a:r>
            <a:r>
              <a:rPr lang="zh-TW" altLang="en-US" sz="2000" dirty="0"/>
              <a:t>類型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>
                <a:solidFill>
                  <a:srgbClr val="FF0000"/>
                </a:solidFill>
              </a:rPr>
              <a:t>–report  </a:t>
            </a:r>
            <a:r>
              <a:rPr lang="en-US" altLang="zh-TW" sz="2000" dirty="0"/>
              <a:t>                           </a:t>
            </a:r>
            <a:r>
              <a:rPr lang="zh-TW" altLang="en-US" sz="2000" dirty="0"/>
              <a:t>         </a:t>
            </a:r>
            <a:r>
              <a:rPr lang="zh-TW" altLang="en-US" sz="2000" dirty="0" smtClean="0"/>
              <a:t>              </a:t>
            </a:r>
            <a:r>
              <a:rPr lang="en-US" altLang="zh-TW" sz="2000" dirty="0"/>
              <a:t>=&gt;</a:t>
            </a:r>
            <a:r>
              <a:rPr lang="zh-TW" altLang="en-US" sz="2000" dirty="0"/>
              <a:t> 指定輸出</a:t>
            </a:r>
            <a:r>
              <a:rPr lang="en-US" altLang="zh-TW" sz="2000" dirty="0"/>
              <a:t>coverage report</a:t>
            </a:r>
            <a:r>
              <a:rPr lang="zh-TW" altLang="en-US" sz="2000" dirty="0"/>
              <a:t>的路徑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>
                <a:solidFill>
                  <a:srgbClr val="FF0000"/>
                </a:solidFill>
              </a:rPr>
              <a:t>–format </a:t>
            </a:r>
            <a:r>
              <a:rPr lang="en-US" altLang="zh-TW" sz="2000" dirty="0"/>
              <a:t>                                  </a:t>
            </a:r>
            <a:r>
              <a:rPr lang="zh-TW" altLang="en-US" sz="2000" dirty="0"/>
              <a:t> </a:t>
            </a:r>
            <a:r>
              <a:rPr lang="zh-TW" altLang="en-US" sz="2000" dirty="0" smtClean="0"/>
              <a:t>               </a:t>
            </a:r>
            <a:r>
              <a:rPr lang="en-US" altLang="zh-TW" sz="2000" dirty="0"/>
              <a:t>=&gt; </a:t>
            </a:r>
            <a:r>
              <a:rPr lang="zh-TW" altLang="en-US" sz="2000" dirty="0"/>
              <a:t>指定輸出</a:t>
            </a:r>
            <a:r>
              <a:rPr lang="en-US" altLang="zh-TW" sz="2000" dirty="0"/>
              <a:t>report</a:t>
            </a:r>
            <a:r>
              <a:rPr lang="zh-TW" altLang="en-US" sz="2000" dirty="0"/>
              <a:t>的格式</a:t>
            </a:r>
            <a:r>
              <a:rPr lang="en-US" altLang="zh-TW" sz="2000" dirty="0"/>
              <a:t>(html</a:t>
            </a:r>
            <a:r>
              <a:rPr lang="zh-TW" altLang="en-US" sz="2000" dirty="0"/>
              <a:t>、</a:t>
            </a:r>
            <a:r>
              <a:rPr lang="en-US" altLang="zh-TW" sz="2000" dirty="0"/>
              <a:t>text</a:t>
            </a:r>
            <a:r>
              <a:rPr lang="en-US" altLang="zh-TW" sz="2000" dirty="0" smtClean="0"/>
              <a:t>)</a:t>
            </a:r>
            <a:endParaRPr lang="en-US" altLang="zh-TW" sz="2800" dirty="0"/>
          </a:p>
          <a:p>
            <a:pPr marL="342900" lvl="2" indent="-342900"/>
            <a:r>
              <a:rPr lang="en-US" altLang="zh-TW" sz="3200" dirty="0"/>
              <a:t>Debugging (</a:t>
            </a:r>
            <a:r>
              <a:rPr lang="en-US" altLang="zh-TW" sz="3200" dirty="0" err="1"/>
              <a:t>dve</a:t>
            </a:r>
            <a:r>
              <a:rPr lang="en-US" altLang="zh-TW" sz="3200" dirty="0"/>
              <a:t> or browser</a:t>
            </a:r>
            <a:r>
              <a:rPr lang="en-US" altLang="zh-TW" sz="3200" dirty="0" smtClean="0"/>
              <a:t>)</a:t>
            </a:r>
          </a:p>
          <a:p>
            <a:pPr marL="342900" lvl="2" indent="-342900"/>
            <a:endParaRPr lang="en-US" altLang="zh-TW" sz="32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91598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VCS Flow </a:t>
            </a:r>
            <a:r>
              <a:rPr lang="en-US" altLang="zh-TW" dirty="0"/>
              <a:t>in </a:t>
            </a:r>
            <a:r>
              <a:rPr lang="en-US" altLang="zh-TW" dirty="0" err="1"/>
              <a:t>csim_ASIC</a:t>
            </a:r>
            <a:endParaRPr lang="en-US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</a:t>
            </a:r>
            <a:r>
              <a:rPr lang="en-US" altLang="zh-TW" dirty="0" smtClean="0"/>
              <a:t>ake </a:t>
            </a:r>
            <a:r>
              <a:rPr lang="en-US" altLang="zh-TW" dirty="0" err="1" smtClean="0"/>
              <a:t>pattern_name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run_options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COV=ON</a:t>
            </a:r>
          </a:p>
          <a:p>
            <a:r>
              <a:rPr lang="en-US" altLang="zh-TW" dirty="0"/>
              <a:t>m</a:t>
            </a:r>
            <a:r>
              <a:rPr lang="en-US" altLang="zh-TW" dirty="0" smtClean="0"/>
              <a:t>ake </a:t>
            </a:r>
            <a:r>
              <a:rPr lang="en-US" altLang="zh-TW" dirty="0" err="1" smtClean="0"/>
              <a:t>vcs_cov_merge</a:t>
            </a:r>
            <a:endParaRPr lang="en-US" altLang="zh-TW" dirty="0" smtClean="0"/>
          </a:p>
          <a:p>
            <a:r>
              <a:rPr lang="en-US" altLang="zh-TW" dirty="0"/>
              <a:t>m</a:t>
            </a:r>
            <a:r>
              <a:rPr lang="en-US" altLang="zh-TW" dirty="0" smtClean="0"/>
              <a:t>ake </a:t>
            </a:r>
            <a:r>
              <a:rPr lang="en-US" altLang="zh-TW" dirty="0" err="1" smtClean="0"/>
              <a:t>vcs_cov_rpt</a:t>
            </a:r>
            <a:endParaRPr lang="zh-TW" altLang="en-US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60" y="5342847"/>
            <a:ext cx="8896340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5571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60" y="836712"/>
            <a:ext cx="8847836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4" y="4437112"/>
            <a:ext cx="8962530" cy="2271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720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400</Words>
  <Application>Microsoft Office PowerPoint</Application>
  <PresentationFormat>如螢幕大小 (4:3)</PresentationFormat>
  <Paragraphs>80</Paragraphs>
  <Slides>16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7" baseType="lpstr">
      <vt:lpstr>Office 佈景主題</vt:lpstr>
      <vt:lpstr>Introduction of Code Coverage (Using VCS)</vt:lpstr>
      <vt:lpstr>Outline</vt:lpstr>
      <vt:lpstr>Outline</vt:lpstr>
      <vt:lpstr>Coverage Type</vt:lpstr>
      <vt:lpstr>Example A </vt:lpstr>
      <vt:lpstr>Line Coverage</vt:lpstr>
      <vt:lpstr>Toggle Coverage</vt:lpstr>
      <vt:lpstr>Condition Coverage</vt:lpstr>
      <vt:lpstr>Branch Coverage</vt:lpstr>
      <vt:lpstr>Coverage Type</vt:lpstr>
      <vt:lpstr>Example B</vt:lpstr>
      <vt:lpstr>FSM Coverage</vt:lpstr>
      <vt:lpstr>Outline</vt:lpstr>
      <vt:lpstr>VCS Flow</vt:lpstr>
      <vt:lpstr>VCS Flow in csim_ASIC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Jerry Chang 張宗賢</dc:creator>
  <cp:lastModifiedBy>Jerry Chang 張宗賢</cp:lastModifiedBy>
  <cp:revision>30</cp:revision>
  <dcterms:created xsi:type="dcterms:W3CDTF">2020-02-13T03:16:17Z</dcterms:created>
  <dcterms:modified xsi:type="dcterms:W3CDTF">2020-02-14T08:19:47Z</dcterms:modified>
</cp:coreProperties>
</file>