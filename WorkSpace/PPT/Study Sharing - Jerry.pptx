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75" r:id="rId7"/>
    <p:sldId id="260" r:id="rId8"/>
    <p:sldId id="266" r:id="rId9"/>
    <p:sldId id="261" r:id="rId10"/>
    <p:sldId id="262" r:id="rId11"/>
    <p:sldId id="264" r:id="rId12"/>
    <p:sldId id="265" r:id="rId13"/>
    <p:sldId id="267" r:id="rId14"/>
    <p:sldId id="268" r:id="rId15"/>
    <p:sldId id="269" r:id="rId16"/>
    <p:sldId id="271" r:id="rId17"/>
    <p:sldId id="272" r:id="rId18"/>
    <p:sldId id="277" r:id="rId19"/>
    <p:sldId id="270" r:id="rId20"/>
    <p:sldId id="276" r:id="rId21"/>
    <p:sldId id="280" r:id="rId22"/>
    <p:sldId id="278" r:id="rId23"/>
    <p:sldId id="279" r:id="rId24"/>
    <p:sldId id="282" r:id="rId25"/>
    <p:sldId id="283" r:id="rId26"/>
    <p:sldId id="281" r:id="rId27"/>
    <p:sldId id="284" r:id="rId28"/>
    <p:sldId id="285" r:id="rId29"/>
    <p:sldId id="288" r:id="rId30"/>
    <p:sldId id="289" r:id="rId31"/>
    <p:sldId id="290" r:id="rId32"/>
    <p:sldId id="293" r:id="rId33"/>
    <p:sldId id="292" r:id="rId34"/>
    <p:sldId id="295" r:id="rId35"/>
    <p:sldId id="304" r:id="rId36"/>
    <p:sldId id="296" r:id="rId37"/>
    <p:sldId id="297" r:id="rId38"/>
    <p:sldId id="298" r:id="rId39"/>
    <p:sldId id="299" r:id="rId40"/>
    <p:sldId id="300" r:id="rId41"/>
    <p:sldId id="301" r:id="rId42"/>
    <p:sldId id="305" r:id="rId43"/>
    <p:sldId id="306" r:id="rId44"/>
    <p:sldId id="307" r:id="rId45"/>
    <p:sldId id="308" r:id="rId46"/>
    <p:sldId id="309" r:id="rId47"/>
    <p:sldId id="310" r:id="rId48"/>
    <p:sldId id="312" r:id="rId49"/>
    <p:sldId id="311" r:id="rId50"/>
    <p:sldId id="314" r:id="rId51"/>
    <p:sldId id="313" r:id="rId52"/>
    <p:sldId id="315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6" r:id="rId62"/>
    <p:sldId id="325" r:id="rId63"/>
    <p:sldId id="330" r:id="rId64"/>
    <p:sldId id="331" r:id="rId65"/>
    <p:sldId id="329" r:id="rId66"/>
    <p:sldId id="327" r:id="rId67"/>
    <p:sldId id="328" r:id="rId68"/>
    <p:sldId id="332" r:id="rId69"/>
    <p:sldId id="333" r:id="rId70"/>
    <p:sldId id="334" r:id="rId71"/>
    <p:sldId id="335" r:id="rId72"/>
    <p:sldId id="337" r:id="rId73"/>
    <p:sldId id="338" r:id="rId74"/>
    <p:sldId id="339" r:id="rId75"/>
    <p:sldId id="340" r:id="rId76"/>
    <p:sldId id="342" r:id="rId77"/>
    <p:sldId id="341" r:id="rId78"/>
    <p:sldId id="357" r:id="rId79"/>
    <p:sldId id="352" r:id="rId80"/>
    <p:sldId id="353" r:id="rId81"/>
    <p:sldId id="355" r:id="rId82"/>
    <p:sldId id="354" r:id="rId83"/>
    <p:sldId id="356" r:id="rId84"/>
    <p:sldId id="347" r:id="rId85"/>
    <p:sldId id="346" r:id="rId86"/>
    <p:sldId id="345" r:id="rId87"/>
    <p:sldId id="348" r:id="rId88"/>
    <p:sldId id="349" r:id="rId89"/>
    <p:sldId id="350" r:id="rId90"/>
    <p:sldId id="359" r:id="rId91"/>
    <p:sldId id="360" r:id="rId92"/>
    <p:sldId id="343" r:id="rId93"/>
    <p:sldId id="344" r:id="rId94"/>
    <p:sldId id="362" r:id="rId95"/>
    <p:sldId id="361" r:id="rId96"/>
    <p:sldId id="364" r:id="rId97"/>
    <p:sldId id="365" r:id="rId98"/>
    <p:sldId id="367" r:id="rId99"/>
    <p:sldId id="368" r:id="rId100"/>
    <p:sldId id="363" r:id="rId101"/>
    <p:sldId id="369" r:id="rId102"/>
    <p:sldId id="370" r:id="rId103"/>
    <p:sldId id="371" r:id="rId104"/>
    <p:sldId id="377" r:id="rId105"/>
    <p:sldId id="378" r:id="rId106"/>
    <p:sldId id="291" r:id="rId107"/>
    <p:sldId id="380" r:id="rId108"/>
    <p:sldId id="379" r:id="rId109"/>
    <p:sldId id="373" r:id="rId110"/>
    <p:sldId id="374" r:id="rId111"/>
    <p:sldId id="273" r:id="rId112"/>
    <p:sldId id="375" r:id="rId113"/>
    <p:sldId id="382" r:id="rId114"/>
    <p:sldId id="381" r:id="rId115"/>
    <p:sldId id="383" r:id="rId116"/>
    <p:sldId id="384" r:id="rId117"/>
    <p:sldId id="385" r:id="rId118"/>
    <p:sldId id="388" r:id="rId119"/>
    <p:sldId id="387" r:id="rId1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5" autoAdjust="0"/>
    <p:restoredTop sz="94799" autoAdjust="0"/>
  </p:normalViewPr>
  <p:slideViewPr>
    <p:cSldViewPr>
      <p:cViewPr>
        <p:scale>
          <a:sx n="125" d="100"/>
          <a:sy n="125" d="100"/>
        </p:scale>
        <p:origin x="-1212" y="3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999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784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8641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182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65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039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461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816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7172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649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9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74138-8DF2-4EE1-83FC-599EAD451715}" type="datetimeFigureOut">
              <a:rPr lang="zh-TW" altLang="en-US" smtClean="0"/>
              <a:t>2020/9/22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82AA4-80B7-4B52-8B1A-8EDE45D5A7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52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lsi-expert.com/2012/03/delay-wire-load-model-static-timing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lsi-expert.com/2016/12/unate-timing-arc.htm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wenku.baidu.com/view/567a578c680203d8ce2f24a7.html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unoob.com/cplusplus/cpp-polymorphism.html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gi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gi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gi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35520466" TargetMode="Externa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gif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@15 March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34848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Topics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S</a:t>
            </a:r>
            <a:r>
              <a:rPr lang="en-US" altLang="zh-TW" sz="2800" dirty="0" smtClean="0"/>
              <a:t>et including path in Genus</a:t>
            </a:r>
            <a:endParaRPr lang="en-US" altLang="zh-TW" sz="2800" dirty="0"/>
          </a:p>
          <a:p>
            <a:r>
              <a:rPr lang="en-US" altLang="zh-TW" sz="2800" dirty="0" smtClean="0"/>
              <a:t>Wire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Load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Model(WLM) </a:t>
            </a:r>
          </a:p>
          <a:p>
            <a:pPr lvl="1"/>
            <a:r>
              <a:rPr lang="en-US" altLang="zh-TW" sz="2400" dirty="0" smtClean="0"/>
              <a:t>Read Wire</a:t>
            </a:r>
            <a:r>
              <a:rPr lang="zh-TW" altLang="en-US" sz="2400" dirty="0" smtClean="0"/>
              <a:t> </a:t>
            </a:r>
            <a:r>
              <a:rPr lang="en-US" altLang="zh-TW" sz="2400" dirty="0"/>
              <a:t>L</a:t>
            </a:r>
            <a:r>
              <a:rPr lang="en-US" altLang="zh-TW" sz="2400" dirty="0" smtClean="0"/>
              <a:t>oad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Model(WLM) attributes in Liberty file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(.lib)</a:t>
            </a:r>
          </a:p>
          <a:p>
            <a:pPr lvl="1"/>
            <a:r>
              <a:rPr lang="en-US" altLang="zh-TW" sz="2400" dirty="0" smtClean="0"/>
              <a:t>Setup WLM in GENUS</a:t>
            </a:r>
          </a:p>
          <a:p>
            <a:r>
              <a:rPr lang="en-US" altLang="zh-TW" sz="2800" dirty="0" smtClean="0"/>
              <a:t>Usage of </a:t>
            </a:r>
            <a:r>
              <a:rPr lang="en-US" altLang="zh-TW" sz="2800" dirty="0" err="1" smtClean="0"/>
              <a:t>syn_generic</a:t>
            </a:r>
            <a:r>
              <a:rPr lang="en-US" altLang="zh-TW" sz="2800" dirty="0" smtClean="0"/>
              <a:t>, </a:t>
            </a:r>
            <a:r>
              <a:rPr lang="en-US" altLang="zh-TW" sz="2800" dirty="0" err="1" smtClean="0"/>
              <a:t>syn_map</a:t>
            </a:r>
            <a:r>
              <a:rPr lang="en-US" altLang="zh-TW" sz="2800" dirty="0" smtClean="0"/>
              <a:t>, and </a:t>
            </a:r>
            <a:r>
              <a:rPr lang="en-US" altLang="zh-TW" sz="2800" dirty="0" err="1" smtClean="0"/>
              <a:t>syn_opt</a:t>
            </a:r>
            <a:endParaRPr lang="en-US" altLang="zh-TW" sz="2800" dirty="0" smtClean="0"/>
          </a:p>
          <a:p>
            <a:r>
              <a:rPr lang="en-US" altLang="zh-TW" sz="2800" dirty="0" smtClean="0"/>
              <a:t>Low power setting in GENUS</a:t>
            </a:r>
          </a:p>
        </p:txBody>
      </p:sp>
    </p:spTree>
    <p:extLst>
      <p:ext uri="{BB962C8B-B14F-4D97-AF65-F5344CB8AC3E}">
        <p14:creationId xmlns:p14="http://schemas.microsoft.com/office/powerpoint/2010/main" val="2146604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Set including path in Genus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2816"/>
            <a:ext cx="8207605" cy="23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73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 smtClean="0"/>
              <a:t>Read Wire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Load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Model attributes in Liberty file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How to read </a:t>
            </a:r>
            <a:r>
              <a:rPr lang="en-US" altLang="zh-TW" dirty="0" err="1" smtClean="0"/>
              <a:t>wire_load_model</a:t>
            </a:r>
            <a:r>
              <a:rPr lang="en-US" altLang="zh-TW" dirty="0" smtClean="0"/>
              <a:t> in Liberty file</a:t>
            </a:r>
          </a:p>
          <a:p>
            <a:r>
              <a:rPr lang="en-US" altLang="zh-TW" sz="2400" dirty="0" smtClean="0"/>
              <a:t>You can choose different WLM in lib for different module  </a:t>
            </a:r>
          </a:p>
          <a:p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793500"/>
            <a:ext cx="630555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907704" y="6335879"/>
            <a:ext cx="70897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 smtClean="0"/>
              <a:t>Reference site: </a:t>
            </a:r>
            <a:r>
              <a:rPr lang="en-US" altLang="zh-TW" sz="1400" dirty="0" smtClean="0">
                <a:hlinkClick r:id="rId3"/>
              </a:rPr>
              <a:t>http://www.vlsi-expert.com/2012/03/delay-wire-load-model-static-timing.html</a:t>
            </a:r>
            <a:endParaRPr lang="en-US" altLang="zh-TW" sz="1400" dirty="0" smtClean="0"/>
          </a:p>
        </p:txBody>
      </p:sp>
    </p:spTree>
    <p:extLst>
      <p:ext uri="{BB962C8B-B14F-4D97-AF65-F5344CB8AC3E}">
        <p14:creationId xmlns:p14="http://schemas.microsoft.com/office/powerpoint/2010/main" val="1717812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 smtClean="0"/>
              <a:t>Read Wire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Load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Model attributes in Liberty file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Example to calculate exploration case 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77072"/>
            <a:ext cx="80772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993" y="2088177"/>
            <a:ext cx="4505350" cy="251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817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Extend.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Create zero wire load model for DC or PT.</a:t>
            </a:r>
          </a:p>
          <a:p>
            <a:r>
              <a:rPr lang="en-US" altLang="zh-TW" dirty="0" smtClean="0"/>
              <a:t>You have to create a “fake” </a:t>
            </a:r>
            <a:r>
              <a:rPr lang="en-US" altLang="zh-TW" dirty="0"/>
              <a:t>.</a:t>
            </a:r>
            <a:r>
              <a:rPr lang="en-US" altLang="zh-TW" dirty="0" smtClean="0"/>
              <a:t>lib file and using </a:t>
            </a:r>
            <a:r>
              <a:rPr lang="en-US" altLang="zh-TW" dirty="0" err="1" smtClean="0"/>
              <a:t>lc_shell</a:t>
            </a:r>
            <a:r>
              <a:rPr lang="en-US" altLang="zh-TW" dirty="0" smtClean="0"/>
              <a:t> to transform to .</a:t>
            </a:r>
            <a:r>
              <a:rPr lang="en-US" altLang="zh-TW" dirty="0" err="1" smtClean="0"/>
              <a:t>db</a:t>
            </a: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444984"/>
            <a:ext cx="3312368" cy="267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0942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How to setup WLM in GENUS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Set wire load mode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Set wire load model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598532"/>
            <a:ext cx="4032448" cy="326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923332"/>
            <a:ext cx="569595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1563134" y="5229200"/>
            <a:ext cx="3460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Example for setting no wire model:</a:t>
            </a:r>
            <a:endParaRPr lang="zh-TW" altLang="en-US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26"/>
          <a:stretch/>
        </p:blipFill>
        <p:spPr bwMode="auto">
          <a:xfrm>
            <a:off x="1259632" y="2204864"/>
            <a:ext cx="7287380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4433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Check to use NO-WLM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47" y="1412776"/>
            <a:ext cx="9085110" cy="4765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376509"/>
            <a:ext cx="3409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8247964" y="2420889"/>
            <a:ext cx="864096" cy="3816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8261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48" y="404664"/>
            <a:ext cx="7743825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9797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 smtClean="0"/>
              <a:t>Usage of </a:t>
            </a:r>
            <a:r>
              <a:rPr lang="en-US" altLang="zh-TW" sz="3200" dirty="0" err="1" smtClean="0"/>
              <a:t>syn_generic</a:t>
            </a:r>
            <a:r>
              <a:rPr lang="en-US" altLang="zh-TW" sz="3200" dirty="0" smtClean="0"/>
              <a:t>, </a:t>
            </a:r>
            <a:r>
              <a:rPr lang="en-US" altLang="zh-TW" sz="3200" dirty="0" err="1" smtClean="0"/>
              <a:t>syn_map</a:t>
            </a:r>
            <a:r>
              <a:rPr lang="en-US" altLang="zh-TW" sz="3200" dirty="0" smtClean="0"/>
              <a:t>, and </a:t>
            </a:r>
            <a:r>
              <a:rPr lang="en-US" altLang="zh-TW" sz="3200" dirty="0" err="1" smtClean="0"/>
              <a:t>syn_opt</a:t>
            </a:r>
            <a:endParaRPr lang="zh-TW" altLang="en-US" sz="3200" dirty="0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00808"/>
            <a:ext cx="8229600" cy="323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085184"/>
            <a:ext cx="6840760" cy="170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7127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 smtClean="0"/>
              <a:t>Usage of </a:t>
            </a:r>
            <a:r>
              <a:rPr lang="en-US" altLang="zh-TW" sz="3200" dirty="0" err="1" smtClean="0"/>
              <a:t>syn_generic</a:t>
            </a:r>
            <a:r>
              <a:rPr lang="en-US" altLang="zh-TW" sz="3200" dirty="0" smtClean="0"/>
              <a:t>, </a:t>
            </a:r>
            <a:r>
              <a:rPr lang="en-US" altLang="zh-TW" sz="3200" dirty="0" err="1" smtClean="0"/>
              <a:t>syn_map</a:t>
            </a:r>
            <a:r>
              <a:rPr lang="en-US" altLang="zh-TW" sz="3200" dirty="0" smtClean="0"/>
              <a:t>, and </a:t>
            </a:r>
            <a:r>
              <a:rPr lang="en-US" altLang="zh-TW" sz="3200" dirty="0" err="1" smtClean="0"/>
              <a:t>syn_opt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01" y="1628800"/>
            <a:ext cx="8208912" cy="1964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333"/>
          <a:stretch/>
        </p:blipFill>
        <p:spPr bwMode="auto">
          <a:xfrm>
            <a:off x="395536" y="4509120"/>
            <a:ext cx="6603370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5126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 smtClean="0"/>
              <a:t>Usage of </a:t>
            </a:r>
            <a:r>
              <a:rPr lang="en-US" altLang="zh-TW" sz="3200" dirty="0" err="1" smtClean="0"/>
              <a:t>syn_generic</a:t>
            </a:r>
            <a:r>
              <a:rPr lang="en-US" altLang="zh-TW" sz="3200" dirty="0" smtClean="0"/>
              <a:t>, </a:t>
            </a:r>
            <a:r>
              <a:rPr lang="en-US" altLang="zh-TW" sz="3200" dirty="0" err="1" smtClean="0"/>
              <a:t>syn_map</a:t>
            </a:r>
            <a:r>
              <a:rPr lang="en-US" altLang="zh-TW" sz="3200" dirty="0" smtClean="0"/>
              <a:t>, and </a:t>
            </a:r>
            <a:r>
              <a:rPr lang="en-US" altLang="zh-TW" sz="3200" dirty="0" err="1" smtClean="0"/>
              <a:t>syn_opt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8454774" cy="2243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67"/>
          <a:stretch/>
        </p:blipFill>
        <p:spPr bwMode="auto">
          <a:xfrm>
            <a:off x="476130" y="4528774"/>
            <a:ext cx="6398146" cy="170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784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Low power setting in </a:t>
            </a:r>
            <a:r>
              <a:rPr lang="en-US" altLang="zh-TW" dirty="0" smtClean="0"/>
              <a:t>GENUS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378"/>
            <a:ext cx="766762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065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Low power setting in GENUS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02756"/>
            <a:ext cx="5867400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9001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Low power setting in GENUS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5686425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395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@21 March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588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Topics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err="1" smtClean="0"/>
              <a:t>set_false_path</a:t>
            </a: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v.s</a:t>
            </a:r>
            <a:r>
              <a:rPr lang="en-US" altLang="zh-TW" sz="2800" dirty="0" smtClean="0"/>
              <a:t>. </a:t>
            </a:r>
            <a:r>
              <a:rPr lang="en-US" altLang="zh-TW" sz="2800" dirty="0" err="1" smtClean="0"/>
              <a:t>set_disable_timing</a:t>
            </a:r>
            <a:endParaRPr lang="en-US" altLang="zh-TW" sz="2800" dirty="0" smtClean="0"/>
          </a:p>
          <a:p>
            <a:r>
              <a:rPr lang="en-US" altLang="zh-TW" sz="2800" dirty="0" smtClean="0"/>
              <a:t>Clock source latency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&amp;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Clock network </a:t>
            </a:r>
            <a:r>
              <a:rPr lang="en-US" altLang="zh-TW" sz="2800" dirty="0" err="1" smtClean="0"/>
              <a:t>latancy</a:t>
            </a:r>
            <a:endParaRPr lang="en-US" altLang="zh-TW" sz="2800" dirty="0" smtClean="0"/>
          </a:p>
          <a:p>
            <a:r>
              <a:rPr lang="en-US" altLang="zh-TW" sz="2800" dirty="0" smtClean="0"/>
              <a:t>Delay Time Calculation (not study yet)</a:t>
            </a:r>
          </a:p>
          <a:p>
            <a:r>
              <a:rPr lang="en-US" altLang="zh-TW" sz="2800" dirty="0" err="1" smtClean="0"/>
              <a:t>Unate</a:t>
            </a:r>
            <a:r>
              <a:rPr lang="en-US" altLang="zh-TW" sz="2800" dirty="0" smtClean="0"/>
              <a:t>  &amp; Non-</a:t>
            </a:r>
            <a:r>
              <a:rPr lang="en-US" altLang="zh-TW" sz="2800" dirty="0" err="1" smtClean="0"/>
              <a:t>unate</a:t>
            </a:r>
            <a:endParaRPr lang="en-US" altLang="zh-TW" sz="2800" dirty="0" smtClean="0"/>
          </a:p>
        </p:txBody>
      </p:sp>
    </p:spTree>
    <p:extLst>
      <p:ext uri="{BB962C8B-B14F-4D97-AF65-F5344CB8AC3E}">
        <p14:creationId xmlns:p14="http://schemas.microsoft.com/office/powerpoint/2010/main" val="1057640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set_false_path</a:t>
            </a:r>
            <a:r>
              <a:rPr lang="en-US" altLang="zh-TW" dirty="0"/>
              <a:t> </a:t>
            </a:r>
            <a:r>
              <a:rPr lang="en-US" altLang="zh-TW" dirty="0" err="1"/>
              <a:t>v.s</a:t>
            </a:r>
            <a:r>
              <a:rPr lang="en-US" altLang="zh-TW" dirty="0"/>
              <a:t>. </a:t>
            </a:r>
            <a:r>
              <a:rPr lang="en-US" altLang="zh-TW" dirty="0" err="1" smtClean="0"/>
              <a:t>set_disable_timing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59744"/>
            <a:ext cx="9144000" cy="4046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向右箭號 3"/>
          <p:cNvSpPr/>
          <p:nvPr/>
        </p:nvSpPr>
        <p:spPr>
          <a:xfrm>
            <a:off x="3563888" y="1916832"/>
            <a:ext cx="86409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4536927" y="1840178"/>
            <a:ext cx="1886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對</a:t>
            </a:r>
            <a:r>
              <a:rPr lang="en-US" altLang="zh-TW" dirty="0" smtClean="0"/>
              <a:t>clock path </a:t>
            </a:r>
            <a:r>
              <a:rPr lang="zh-TW" altLang="en-US" dirty="0" smtClean="0"/>
              <a:t>無效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5865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Clock source latency</a:t>
            </a:r>
            <a:r>
              <a:rPr lang="zh-TW" altLang="en-US" sz="3200" dirty="0"/>
              <a:t> </a:t>
            </a:r>
            <a:r>
              <a:rPr lang="en-US" altLang="zh-TW" sz="3200" dirty="0"/>
              <a:t>&amp;</a:t>
            </a:r>
            <a:r>
              <a:rPr lang="zh-TW" altLang="en-US" sz="3200" dirty="0"/>
              <a:t> </a:t>
            </a:r>
            <a:r>
              <a:rPr lang="en-US" altLang="zh-TW" sz="3200" dirty="0"/>
              <a:t>Clock network </a:t>
            </a:r>
            <a:r>
              <a:rPr lang="en-US" altLang="zh-TW" sz="3200" dirty="0" smtClean="0"/>
              <a:t>latency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653136"/>
            <a:ext cx="5006502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「clock latency」的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6120680" cy="277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294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Delay Time Calculation (not </a:t>
            </a:r>
            <a:r>
              <a:rPr lang="en-US" altLang="zh-TW" dirty="0" smtClean="0"/>
              <a:t>study yet)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32" y="1484784"/>
            <a:ext cx="8194416" cy="4891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8348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Unate</a:t>
            </a:r>
            <a:r>
              <a:rPr lang="en-US" altLang="zh-TW" dirty="0"/>
              <a:t>  &amp; Non-</a:t>
            </a:r>
            <a:r>
              <a:rPr lang="en-US" altLang="zh-TW" dirty="0" err="1"/>
              <a:t>unate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Unate</a:t>
            </a:r>
            <a:r>
              <a:rPr lang="en-US" altLang="zh-TW" dirty="0" smtClean="0"/>
              <a:t>: </a:t>
            </a:r>
            <a:r>
              <a:rPr lang="zh-TW" altLang="en-US" dirty="0" smtClean="0"/>
              <a:t>當輸入一邊固定時</a:t>
            </a:r>
            <a:r>
              <a:rPr lang="en-US" altLang="zh-TW" dirty="0" smtClean="0"/>
              <a:t>,</a:t>
            </a:r>
            <a:r>
              <a:rPr lang="zh-TW" altLang="en-US" dirty="0" smtClean="0"/>
              <a:t>輸出可以由另一邊輸入</a:t>
            </a:r>
            <a:r>
              <a:rPr lang="zh-TW" altLang="en-US" dirty="0"/>
              <a:t>單獨決定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Non-</a:t>
            </a:r>
            <a:r>
              <a:rPr lang="en-US" altLang="zh-TW" dirty="0" err="1" smtClean="0"/>
              <a:t>unate</a:t>
            </a:r>
            <a:r>
              <a:rPr lang="en-US" altLang="zh-TW" dirty="0" smtClean="0"/>
              <a:t>:</a:t>
            </a:r>
            <a:r>
              <a:rPr lang="zh-TW" altLang="en-US" dirty="0" smtClean="0"/>
              <a:t>輸出</a:t>
            </a:r>
            <a:r>
              <a:rPr lang="zh-TW" altLang="en-US" dirty="0"/>
              <a:t>無法由特定輸入單獨</a:t>
            </a:r>
            <a:r>
              <a:rPr lang="zh-TW" altLang="en-US" dirty="0" smtClean="0"/>
              <a:t>決定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7297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Unate</a:t>
            </a:r>
            <a:r>
              <a:rPr lang="en-US" altLang="zh-TW" dirty="0"/>
              <a:t>  &amp; </a:t>
            </a:r>
            <a:r>
              <a:rPr lang="en-US" altLang="zh-TW" dirty="0" smtClean="0"/>
              <a:t>Non-</a:t>
            </a:r>
            <a:r>
              <a:rPr lang="en-US" altLang="zh-TW" dirty="0" err="1" smtClean="0"/>
              <a:t>unate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Example: OR Gate </a:t>
            </a:r>
            <a:endParaRPr lang="zh-TW" altLang="en-US" dirty="0"/>
          </a:p>
        </p:txBody>
      </p:sp>
      <p:pic>
        <p:nvPicPr>
          <p:cNvPr id="3074" name="Picture 2" descr="「or gate timing arc」的圖片搜尋結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276872"/>
            <a:ext cx="298132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123728" y="6309320"/>
            <a:ext cx="6877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Reference: </a:t>
            </a:r>
            <a:r>
              <a:rPr lang="en-US" altLang="zh-TW" dirty="0" smtClean="0">
                <a:hlinkClick r:id="rId3"/>
              </a:rPr>
              <a:t>http</a:t>
            </a:r>
            <a:r>
              <a:rPr lang="en-US" altLang="zh-TW" dirty="0">
                <a:hlinkClick r:id="rId3"/>
              </a:rPr>
              <a:t>://</a:t>
            </a:r>
            <a:r>
              <a:rPr lang="en-US" altLang="zh-TW" dirty="0" smtClean="0">
                <a:hlinkClick r:id="rId3"/>
              </a:rPr>
              <a:t>www.vlsi-expert.com/2016/12/unate-timing-arc.html</a:t>
            </a:r>
            <a:endParaRPr lang="en-US" altLang="zh-TW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81" y="2420888"/>
            <a:ext cx="3168352" cy="1850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4437112"/>
            <a:ext cx="4012411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6228184" y="5733256"/>
            <a:ext cx="2577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OR GATE</a:t>
            </a:r>
            <a:r>
              <a:rPr lang="zh-TW" altLang="en-US" dirty="0" smtClean="0"/>
              <a:t> </a:t>
            </a:r>
            <a:r>
              <a:rPr lang="en-US" altLang="zh-TW" dirty="0" smtClean="0"/>
              <a:t>is positive </a:t>
            </a:r>
            <a:r>
              <a:rPr lang="en-US" altLang="zh-TW" dirty="0" err="1" smtClean="0"/>
              <a:t>unate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7693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 smtClean="0"/>
              <a:t>XOR </a:t>
            </a:r>
            <a:r>
              <a:rPr lang="en-US" altLang="zh-TW" dirty="0"/>
              <a:t>Gate 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098" name="Picture 2" descr="https://3.bp.blogspot.com/-t0whZo8cWW0/WGEto46Ea3I/AAAAAAAABJY/tPE8VQCRLesgW42q7Szgm7MgVoQyQDPrQCLcB/s1600/Timing%2BArc%2BXOR%2Brising%2Bed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856" y="1549127"/>
            <a:ext cx="298132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2.bp.blogspot.com/-xuP3x_7IUa0/WGEtzsOLxEI/AAAAAAAABJc/J_1KlsAsgEwS99W4gWk-Q3fZJj7NNrr2gCLcB/s1600/Timing%2BArc%2BXOR%2Bfalling%2Bedg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254227"/>
            <a:ext cx="2971800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01" y="2505661"/>
            <a:ext cx="2808312" cy="1853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01" y="4677556"/>
            <a:ext cx="3787664" cy="1255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3979805" y="6237312"/>
            <a:ext cx="2340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XOR GATE</a:t>
            </a:r>
            <a:r>
              <a:rPr lang="zh-TW" altLang="en-US" dirty="0" smtClean="0"/>
              <a:t> </a:t>
            </a:r>
            <a:r>
              <a:rPr lang="en-US" altLang="zh-TW" dirty="0" smtClean="0"/>
              <a:t>is non-</a:t>
            </a:r>
            <a:r>
              <a:rPr lang="en-US" altLang="zh-TW" dirty="0" err="1" smtClean="0"/>
              <a:t>unate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8615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smtClean="0"/>
              <a:t>@27 </a:t>
            </a:r>
            <a:r>
              <a:rPr lang="en-US" altLang="zh-TW" dirty="0" smtClean="0"/>
              <a:t>March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5695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Topics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How to read/write genus attributes</a:t>
            </a:r>
          </a:p>
          <a:p>
            <a:r>
              <a:rPr lang="en-US" altLang="zh-TW" sz="2800" dirty="0" smtClean="0"/>
              <a:t>Group of attributes: </a:t>
            </a:r>
            <a:r>
              <a:rPr lang="en-US" altLang="zh-TW" sz="2800" dirty="0" err="1" smtClean="0"/>
              <a:t>hinst</a:t>
            </a:r>
            <a:r>
              <a:rPr lang="en-US" altLang="zh-TW" sz="2800" dirty="0" smtClean="0"/>
              <a:t>, </a:t>
            </a:r>
            <a:r>
              <a:rPr lang="en-US" altLang="zh-TW" sz="2800" dirty="0" err="1" smtClean="0"/>
              <a:t>hpins</a:t>
            </a:r>
            <a:r>
              <a:rPr lang="en-US" altLang="zh-TW" sz="2800" dirty="0" smtClean="0"/>
              <a:t>, </a:t>
            </a:r>
            <a:r>
              <a:rPr lang="en-US" altLang="zh-TW" sz="2800" dirty="0" err="1" smtClean="0"/>
              <a:t>hnets</a:t>
            </a:r>
            <a:endParaRPr lang="en-US" altLang="zh-TW" sz="2800" dirty="0" smtClean="0"/>
          </a:p>
        </p:txBody>
      </p:sp>
    </p:spTree>
    <p:extLst>
      <p:ext uri="{BB962C8B-B14F-4D97-AF65-F5344CB8AC3E}">
        <p14:creationId xmlns:p14="http://schemas.microsoft.com/office/powerpoint/2010/main" val="3774505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Group of attributes: </a:t>
            </a:r>
            <a:r>
              <a:rPr lang="en-US" altLang="zh-TW" dirty="0" err="1"/>
              <a:t>hinst</a:t>
            </a:r>
            <a:r>
              <a:rPr lang="en-US" altLang="zh-TW" dirty="0"/>
              <a:t>, </a:t>
            </a:r>
            <a:r>
              <a:rPr lang="en-US" altLang="zh-TW" dirty="0" err="1"/>
              <a:t>hpins</a:t>
            </a:r>
            <a:r>
              <a:rPr lang="en-US" altLang="zh-TW" dirty="0"/>
              <a:t>, </a:t>
            </a:r>
            <a:r>
              <a:rPr lang="en-US" altLang="zh-TW" dirty="0" err="1" smtClean="0"/>
              <a:t>hnets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76400"/>
            <a:ext cx="49149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75" y="4581128"/>
            <a:ext cx="54959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56" y="3212976"/>
            <a:ext cx="5791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9907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How to read/write genus </a:t>
            </a:r>
            <a:r>
              <a:rPr lang="en-US" altLang="zh-TW" dirty="0" smtClean="0"/>
              <a:t>attributes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373216"/>
            <a:ext cx="44767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49149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91" y="4173488"/>
            <a:ext cx="54959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72" y="2805336"/>
            <a:ext cx="5791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3159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Toggle rate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1" y="3789040"/>
            <a:ext cx="11036350" cy="2387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0" y="1340768"/>
            <a:ext cx="9051779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1238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@3 April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7308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Topics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How to change the default color scheme of GVIM</a:t>
            </a:r>
          </a:p>
          <a:p>
            <a:r>
              <a:rPr lang="en-US" altLang="zh-TW" sz="2800" dirty="0"/>
              <a:t>How to install PERL module locally</a:t>
            </a:r>
            <a:endParaRPr lang="en-US" altLang="zh-TW" sz="2800" dirty="0" smtClean="0"/>
          </a:p>
        </p:txBody>
      </p:sp>
    </p:spTree>
    <p:extLst>
      <p:ext uri="{BB962C8B-B14F-4D97-AF65-F5344CB8AC3E}">
        <p14:creationId xmlns:p14="http://schemas.microsoft.com/office/powerpoint/2010/main" val="2876560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How to change the default color scheme of GVIM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Step 1 : go to your home dir.</a:t>
            </a:r>
          </a:p>
          <a:p>
            <a:endParaRPr lang="en-US" altLang="zh-TW" dirty="0"/>
          </a:p>
          <a:p>
            <a:r>
              <a:rPr lang="en-US" altLang="zh-TW" dirty="0" smtClean="0"/>
              <a:t>Step 2 : edit .</a:t>
            </a:r>
            <a:r>
              <a:rPr lang="en-US" altLang="zh-TW" dirty="0" err="1" smtClean="0"/>
              <a:t>vimrc</a:t>
            </a:r>
            <a:r>
              <a:rPr lang="en-US" altLang="zh-TW" dirty="0" smtClean="0"/>
              <a:t> and set </a:t>
            </a:r>
            <a:r>
              <a:rPr lang="en-US" altLang="zh-TW" dirty="0" err="1" smtClean="0"/>
              <a:t>colorscheme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Question: Help to set </a:t>
            </a:r>
            <a:r>
              <a:rPr lang="en-US" altLang="zh-TW" dirty="0" err="1" smtClean="0"/>
              <a:t>filetype</a:t>
            </a:r>
            <a:r>
              <a:rPr lang="en-US" altLang="zh-TW" dirty="0" smtClean="0"/>
              <a:t> for </a:t>
            </a:r>
            <a:r>
              <a:rPr lang="en-US" altLang="zh-TW" dirty="0" err="1" smtClean="0"/>
              <a:t>systemverilog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2308126"/>
            <a:ext cx="4663375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284984"/>
            <a:ext cx="3237364" cy="200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8515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install PERL module locally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164482"/>
            <a:ext cx="70675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6800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90" y="2204864"/>
            <a:ext cx="8136904" cy="479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2348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@9 April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2855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Topics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LEC Setting file discussion</a:t>
            </a:r>
          </a:p>
          <a:p>
            <a:r>
              <a:rPr lang="en-US" altLang="zh-TW" sz="2800" dirty="0" smtClean="0"/>
              <a:t>Difference between IAP/ICP/ISP</a:t>
            </a:r>
          </a:p>
          <a:p>
            <a:r>
              <a:rPr lang="en-US" altLang="zh-TW" sz="2800" dirty="0"/>
              <a:t>Volatile on Embedded </a:t>
            </a:r>
            <a:r>
              <a:rPr lang="en-US" altLang="zh-TW" sz="2800" dirty="0" smtClean="0"/>
              <a:t>C</a:t>
            </a:r>
          </a:p>
          <a:p>
            <a:endParaRPr lang="en-US" altLang="zh-TW" sz="2800" dirty="0" smtClean="0"/>
          </a:p>
        </p:txBody>
      </p:sp>
    </p:spTree>
    <p:extLst>
      <p:ext uri="{BB962C8B-B14F-4D97-AF65-F5344CB8AC3E}">
        <p14:creationId xmlns:p14="http://schemas.microsoft.com/office/powerpoint/2010/main" val="3536745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Default Setting for LEC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08" y="1628800"/>
            <a:ext cx="8248062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373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900" y="2323728"/>
            <a:ext cx="6467475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97"/>
          <a:stretch/>
        </p:blipFill>
        <p:spPr bwMode="auto">
          <a:xfrm>
            <a:off x="547608" y="1628800"/>
            <a:ext cx="8248062" cy="445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4165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412776"/>
            <a:ext cx="5124450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1662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564904"/>
            <a:ext cx="6477128" cy="3941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55207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431" y="1700808"/>
            <a:ext cx="7305675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43919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12776"/>
            <a:ext cx="7915275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6089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Differences </a:t>
            </a:r>
            <a:r>
              <a:rPr lang="en-US" altLang="zh-TW" dirty="0"/>
              <a:t>between </a:t>
            </a:r>
            <a:r>
              <a:rPr lang="en-US" altLang="zh-TW" dirty="0" smtClean="0"/>
              <a:t>IAP/ICP/ISP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wenku.baidu.com/view/567a578c680203d8ce2f24a7.html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99645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Volatile on Embedded C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5" y="1124744"/>
            <a:ext cx="5495925" cy="555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00808"/>
            <a:ext cx="3276600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66353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@16 April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99579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Keil</a:t>
            </a:r>
            <a:r>
              <a:rPr lang="en-US" altLang="zh-TW" dirty="0" smtClean="0"/>
              <a:t> C Clock Setting file (</a:t>
            </a:r>
            <a:r>
              <a:rPr lang="en-US" altLang="zh-TW" dirty="0" err="1" smtClean="0"/>
              <a:t>startup.s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8799886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Keil</a:t>
            </a:r>
            <a:r>
              <a:rPr lang="en-US" altLang="zh-TW" dirty="0"/>
              <a:t> C Clock Setting file (</a:t>
            </a:r>
            <a:r>
              <a:rPr lang="en-US" altLang="zh-TW" dirty="0" err="1"/>
              <a:t>startup.s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41176" y="1412776"/>
            <a:ext cx="8363272" cy="4525963"/>
          </a:xfrm>
        </p:spPr>
        <p:txBody>
          <a:bodyPr>
            <a:normAutofit/>
          </a:bodyPr>
          <a:lstStyle/>
          <a:p>
            <a:r>
              <a:rPr lang="en-US" altLang="zh-TW" sz="2800" dirty="0" err="1" smtClean="0"/>
              <a:t>Keil</a:t>
            </a:r>
            <a:r>
              <a:rPr lang="en-US" altLang="zh-TW" sz="2800" dirty="0" smtClean="0"/>
              <a:t> C compiler will use the assemble file “startup_h32F57352.s” to initialize the system setting (e.g., clock).</a:t>
            </a:r>
          </a:p>
          <a:p>
            <a:r>
              <a:rPr lang="en-US" altLang="zh-TW" sz="2400" dirty="0" smtClean="0"/>
              <a:t>As shown is this figure, this </a:t>
            </a:r>
          </a:p>
          <a:p>
            <a:pPr marL="0" indent="0">
              <a:buNone/>
            </a:pPr>
            <a:r>
              <a:rPr lang="en-US" altLang="zh-TW" sz="2400" dirty="0" smtClean="0"/>
              <a:t>assemble code will call</a:t>
            </a:r>
          </a:p>
          <a:p>
            <a:pPr marL="0" indent="0">
              <a:buNone/>
            </a:pPr>
            <a:r>
              <a:rPr lang="en-US" altLang="zh-TW" sz="2400" dirty="0" smtClean="0"/>
              <a:t> the function “</a:t>
            </a:r>
            <a:r>
              <a:rPr lang="en-US" altLang="zh-TW" sz="2400" dirty="0" err="1" smtClean="0"/>
              <a:t>SystemInit</a:t>
            </a:r>
            <a:r>
              <a:rPr lang="en-US" altLang="zh-TW" sz="2400" dirty="0" smtClean="0"/>
              <a:t>” </a:t>
            </a:r>
          </a:p>
          <a:p>
            <a:pPr marL="0" indent="0">
              <a:buNone/>
            </a:pPr>
            <a:r>
              <a:rPr lang="en-US" altLang="zh-TW" sz="2400" dirty="0" smtClean="0"/>
              <a:t>which referenced in </a:t>
            </a:r>
          </a:p>
          <a:p>
            <a:pPr marL="0" indent="0">
              <a:buNone/>
            </a:pPr>
            <a:r>
              <a:rPr lang="en-US" altLang="zh-TW" sz="2400" dirty="0" smtClean="0"/>
              <a:t>“system_ht32f57352.c”</a:t>
            </a:r>
            <a:endParaRPr lang="zh-TW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420888"/>
            <a:ext cx="4950635" cy="3748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84453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Keil</a:t>
            </a:r>
            <a:r>
              <a:rPr lang="en-US" altLang="zh-TW" dirty="0"/>
              <a:t> C Clock Setting file </a:t>
            </a:r>
            <a:r>
              <a:rPr lang="en-US" altLang="zh-TW" dirty="0" smtClean="0"/>
              <a:t>(</a:t>
            </a:r>
            <a:r>
              <a:rPr lang="en-US" altLang="zh-TW" dirty="0"/>
              <a:t>system_ht32f57352.c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E.g. 8MHz setting </a:t>
            </a:r>
          </a:p>
          <a:p>
            <a:endParaRPr lang="en-US" altLang="zh-TW" sz="2400" dirty="0" smtClean="0"/>
          </a:p>
          <a:p>
            <a:endParaRPr lang="en-US" altLang="zh-TW" sz="2400" dirty="0"/>
          </a:p>
          <a:p>
            <a:endParaRPr lang="en-US" altLang="zh-TW" sz="2400" dirty="0" smtClean="0"/>
          </a:p>
          <a:p>
            <a:endParaRPr lang="en-US" altLang="zh-TW" sz="2400" dirty="0"/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E.g. 60MHz setting</a:t>
            </a:r>
            <a:endParaRPr lang="zh-TW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31" y="4365104"/>
            <a:ext cx="7431038" cy="2457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33" y="1772816"/>
            <a:ext cx="7824167" cy="2285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16645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@23 April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2414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How to trace the specified BUS values and Mark the line of time radix in Verdi</a:t>
            </a:r>
          </a:p>
          <a:p>
            <a:r>
              <a:rPr lang="en-US" altLang="zh-TW" dirty="0" smtClean="0"/>
              <a:t>#IRQ Handler and Interrupt routine. 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337747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@2 May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37391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SDC modification process before netlist released</a:t>
            </a:r>
          </a:p>
          <a:p>
            <a:r>
              <a:rPr lang="en-US" altLang="zh-TW" dirty="0" smtClean="0"/>
              <a:t>Timing check after APR released (TBD)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30343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SDC modification process before netlist released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Released items</a:t>
            </a:r>
          </a:p>
          <a:p>
            <a:pPr lvl="1"/>
            <a:r>
              <a:rPr lang="en-US" altLang="zh-TW" dirty="0" smtClean="0"/>
              <a:t>Netlist (.v)</a:t>
            </a:r>
          </a:p>
          <a:p>
            <a:pPr lvl="1"/>
            <a:r>
              <a:rPr lang="en-US" altLang="zh-TW" smtClean="0"/>
              <a:t>SDC</a:t>
            </a:r>
          </a:p>
          <a:p>
            <a:pPr lvl="1"/>
            <a:endParaRPr lang="en-US" altLang="zh-TW" smtClean="0"/>
          </a:p>
          <a:p>
            <a:r>
              <a:rPr lang="en-US" altLang="zh-TW" dirty="0" smtClean="0"/>
              <a:t>write out </a:t>
            </a:r>
            <a:r>
              <a:rPr lang="en-US" altLang="zh-TW" dirty="0" err="1" smtClean="0"/>
              <a:t>tcl</a:t>
            </a:r>
            <a:endParaRPr lang="en-US" altLang="zh-TW" dirty="0" smtClean="0"/>
          </a:p>
          <a:p>
            <a:pPr lvl="1"/>
            <a:r>
              <a:rPr lang="en-US" altLang="zh-TW" dirty="0" err="1"/>
              <a:t>write_sdc</a:t>
            </a:r>
            <a:r>
              <a:rPr lang="en-US" altLang="zh-TW" dirty="0"/>
              <a:t> -version 1.7 &gt; ./NETLIST/UM01UMH711_dc.sdc</a:t>
            </a:r>
          </a:p>
          <a:p>
            <a:r>
              <a:rPr lang="en-US" altLang="zh-TW" dirty="0" smtClean="0"/>
              <a:t>Remove </a:t>
            </a:r>
            <a:r>
              <a:rPr lang="en-US" altLang="zh-TW" dirty="0" err="1" smtClean="0"/>
              <a:t>case_analysis</a:t>
            </a:r>
            <a:r>
              <a:rPr lang="en-US" altLang="zh-TW" dirty="0" smtClean="0"/>
              <a:t> in </a:t>
            </a:r>
            <a:r>
              <a:rPr lang="en-US" altLang="zh-TW" dirty="0" err="1" smtClean="0"/>
              <a:t>sdc</a:t>
            </a:r>
            <a:endParaRPr lang="en-US" altLang="zh-TW" dirty="0" smtClean="0"/>
          </a:p>
          <a:p>
            <a:r>
              <a:rPr lang="en-US" altLang="zh-TW" dirty="0" smtClean="0"/>
              <a:t>Set current design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996952"/>
            <a:ext cx="4098284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44292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</a:t>
            </a:r>
            <a:r>
              <a:rPr lang="en-US" altLang="zh-TW" dirty="0"/>
              <a:t>8</a:t>
            </a:r>
            <a:r>
              <a:rPr lang="en-US" altLang="zh-TW" dirty="0" smtClean="0"/>
              <a:t> May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79139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Get clock attribute on Genus</a:t>
            </a:r>
          </a:p>
          <a:p>
            <a:r>
              <a:rPr lang="en-US" altLang="zh-TW" dirty="0" smtClean="0"/>
              <a:t>Report synthesis message to check the constraints</a:t>
            </a:r>
          </a:p>
          <a:p>
            <a:r>
              <a:rPr lang="en-US" altLang="zh-TW" dirty="0"/>
              <a:t>How to disable non-used clock in STA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84974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Get clock attribute on </a:t>
            </a:r>
            <a:r>
              <a:rPr lang="en-US" altLang="zh-TW" dirty="0" smtClean="0"/>
              <a:t>Genus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1. set into </a:t>
            </a:r>
            <a:r>
              <a:rPr lang="en-US" altLang="zh-TW" dirty="0" err="1" smtClean="0"/>
              <a:t>common_ui</a:t>
            </a:r>
            <a:r>
              <a:rPr lang="en-US" altLang="zh-TW" dirty="0" smtClean="0"/>
              <a:t> to true to combatable RC compiler commands. (enter </a:t>
            </a:r>
            <a:r>
              <a:rPr lang="en-US" altLang="zh-TW" dirty="0" err="1" smtClean="0"/>
              <a:t>lagency_ui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2. </a:t>
            </a:r>
            <a:r>
              <a:rPr lang="en-US" altLang="zh-TW" dirty="0" err="1" smtClean="0"/>
              <a:t>get_attribure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propragated_clocks</a:t>
            </a:r>
            <a:r>
              <a:rPr lang="en-US" altLang="zh-TW" dirty="0" smtClean="0"/>
              <a:t> OBJECT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76" y="5661248"/>
            <a:ext cx="8931424" cy="55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36912"/>
            <a:ext cx="7861970" cy="1767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14592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zh-TW" sz="3600" dirty="0"/>
              <a:t>Report synthesis message to check the </a:t>
            </a:r>
            <a:r>
              <a:rPr lang="en-US" altLang="zh-TW" sz="3600" dirty="0" smtClean="0"/>
              <a:t>constraints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It can reports the following information to check the timing and its </a:t>
            </a:r>
            <a:r>
              <a:rPr lang="en-US" altLang="zh-TW" dirty="0" err="1" smtClean="0"/>
              <a:t>sdc</a:t>
            </a:r>
            <a:r>
              <a:rPr lang="en-US" altLang="zh-TW" dirty="0" smtClean="0"/>
              <a:t> setting.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053351"/>
            <a:ext cx="6768752" cy="273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636912"/>
            <a:ext cx="5238750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8951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 smtClean="0"/>
              <a:t>How to </a:t>
            </a:r>
            <a:r>
              <a:rPr lang="en-US" altLang="zh-TW" sz="4000" dirty="0"/>
              <a:t>disable non-used clock in </a:t>
            </a:r>
            <a:r>
              <a:rPr lang="en-US" altLang="zh-TW" sz="4000" dirty="0" smtClean="0"/>
              <a:t>STA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Set_clock_sence</a:t>
            </a:r>
            <a:r>
              <a:rPr lang="en-US" altLang="zh-TW" dirty="0" smtClean="0"/>
              <a:t> –</a:t>
            </a:r>
            <a:r>
              <a:rPr lang="en-US" altLang="zh-TW" dirty="0" err="1" smtClean="0"/>
              <a:t>stop_propagation</a:t>
            </a:r>
            <a:r>
              <a:rPr lang="en-US" altLang="zh-TW" dirty="0" smtClean="0"/>
              <a:t> –clock [CLOCK] [PORTS/PINS]</a:t>
            </a:r>
          </a:p>
          <a:p>
            <a:endParaRPr lang="en-US" altLang="zh-TW" dirty="0"/>
          </a:p>
          <a:p>
            <a:r>
              <a:rPr lang="en-US" altLang="zh-TW" dirty="0" smtClean="0"/>
              <a:t>Reference link:</a:t>
            </a:r>
          </a:p>
          <a:p>
            <a:endParaRPr lang="en-US" altLang="zh-TW" dirty="0"/>
          </a:p>
          <a:p>
            <a:r>
              <a:rPr lang="en-US" altLang="zh-TW" dirty="0" smtClean="0"/>
              <a:t>The command “</a:t>
            </a:r>
            <a:r>
              <a:rPr lang="en-US" altLang="zh-TW" dirty="0" err="1" smtClean="0"/>
              <a:t>set_clock_sense</a:t>
            </a:r>
            <a:r>
              <a:rPr lang="en-US" altLang="zh-TW" dirty="0" smtClean="0"/>
              <a:t>” can be applied in many cases of STA. 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99592" y="3856623"/>
            <a:ext cx="60665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http://www.cnblogs.com/-9-8/p/5730446.html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196548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@29 May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47487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How to debug when NCSIM stuck at a time point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09200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How to debug when NCSIM stuck at a time point 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Add “-</a:t>
            </a:r>
            <a:r>
              <a:rPr lang="en-US" altLang="zh-TW" dirty="0" err="1" smtClean="0"/>
              <a:t>linedebug</a:t>
            </a:r>
            <a:r>
              <a:rPr lang="en-US" altLang="zh-TW" dirty="0" smtClean="0"/>
              <a:t>” in option</a:t>
            </a:r>
          </a:p>
          <a:p>
            <a:r>
              <a:rPr lang="en-US" altLang="zh-TW" dirty="0" smtClean="0"/>
              <a:t>Run simulation and then </a:t>
            </a:r>
            <a:r>
              <a:rPr lang="en-US" altLang="zh-TW" dirty="0" err="1" smtClean="0"/>
              <a:t>ctrl+c</a:t>
            </a:r>
            <a:r>
              <a:rPr lang="en-US" altLang="zh-TW" dirty="0" smtClean="0"/>
              <a:t> to stop the simulation. It will shows the instruction line and stuck point in your code.</a:t>
            </a:r>
          </a:p>
          <a:p>
            <a:endParaRPr lang="en-US" altLang="zh-TW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852986"/>
            <a:ext cx="8820472" cy="31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80022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@4 June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963153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What is Polymorphism</a:t>
            </a:r>
          </a:p>
          <a:p>
            <a:r>
              <a:rPr lang="en-US" altLang="zh-TW" dirty="0" smtClean="0"/>
              <a:t>UVM Study recording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204911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What is </a:t>
            </a:r>
            <a:r>
              <a:rPr lang="en-US" altLang="zh-TW" dirty="0" smtClean="0"/>
              <a:t>Polymorphism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Polymorphism (</a:t>
            </a:r>
            <a:r>
              <a:rPr lang="zh-TW" altLang="en-US" dirty="0"/>
              <a:t>多</a:t>
            </a:r>
            <a:r>
              <a:rPr lang="zh-TW" altLang="en-US" dirty="0" smtClean="0"/>
              <a:t>態</a:t>
            </a:r>
            <a:r>
              <a:rPr lang="en-US" altLang="zh-TW" dirty="0" smtClean="0"/>
              <a:t>)</a:t>
            </a:r>
          </a:p>
          <a:p>
            <a:r>
              <a:rPr lang="en-US" altLang="zh-TW" dirty="0">
                <a:hlinkClick r:id="rId2"/>
              </a:rPr>
              <a:t>http://</a:t>
            </a:r>
            <a:r>
              <a:rPr lang="en-US" altLang="zh-TW" dirty="0" smtClean="0">
                <a:hlinkClick r:id="rId2"/>
              </a:rPr>
              <a:t>www.runoob.com/cplusplus/cpp-polymorphism.html</a:t>
            </a:r>
            <a:endParaRPr lang="en-US" altLang="zh-TW" dirty="0" smtClean="0"/>
          </a:p>
          <a:p>
            <a:r>
              <a:rPr lang="en-US" altLang="zh-TW" dirty="0" smtClean="0"/>
              <a:t>Use virtual function in parent class to info compiler, there should be a function here which is declared in children class.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83872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验证平台的组</a:t>
            </a:r>
            <a:r>
              <a:rPr lang="zh-CN" altLang="en-US" dirty="0" smtClean="0"/>
              <a:t>成</a:t>
            </a:r>
            <a:endParaRPr lang="en-US" altLang="zh-CN" dirty="0" smtClean="0"/>
          </a:p>
          <a:p>
            <a:pPr lvl="1"/>
            <a:r>
              <a:rPr lang="en-US" altLang="zh-TW" dirty="0" smtClean="0"/>
              <a:t>DUT: Design under test</a:t>
            </a:r>
          </a:p>
          <a:p>
            <a:pPr lvl="1"/>
            <a:r>
              <a:rPr lang="en-US" altLang="zh-TW" dirty="0" smtClean="0"/>
              <a:t>Monitor</a:t>
            </a:r>
          </a:p>
          <a:p>
            <a:pPr lvl="1"/>
            <a:r>
              <a:rPr lang="en-US" altLang="zh-TW" dirty="0" smtClean="0"/>
              <a:t>Driver</a:t>
            </a:r>
          </a:p>
          <a:p>
            <a:pPr lvl="1"/>
            <a:r>
              <a:rPr lang="en-US" altLang="zh-TW" dirty="0" smtClean="0"/>
              <a:t>Reference model</a:t>
            </a:r>
          </a:p>
          <a:p>
            <a:pPr lvl="1"/>
            <a:r>
              <a:rPr lang="en-US" altLang="zh-TW" dirty="0" smtClean="0"/>
              <a:t>Scoreboard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19609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UVM Study recording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200" y="2204864"/>
            <a:ext cx="6505575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95737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UVM Study </a:t>
            </a:r>
            <a:r>
              <a:rPr lang="en-US" altLang="zh-TW" dirty="0" smtClean="0"/>
              <a:t>recording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67544" y="1268760"/>
            <a:ext cx="4572000" cy="50475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1400" dirty="0"/>
              <a:t>文件</a:t>
            </a:r>
            <a:r>
              <a:rPr lang="zh-TW" altLang="en-US" sz="1400" dirty="0" smtClean="0"/>
              <a:t>：</a:t>
            </a:r>
            <a:r>
              <a:rPr lang="en-US" altLang="zh-TW" sz="1400" dirty="0" smtClean="0"/>
              <a:t>top_tb.sv</a:t>
            </a:r>
          </a:p>
          <a:p>
            <a:endParaRPr lang="en-US" altLang="zh-TW" sz="1400" dirty="0"/>
          </a:p>
          <a:p>
            <a:r>
              <a:rPr lang="en-US" altLang="zh-TW" sz="1400" dirty="0"/>
              <a:t>1 `timescale 1ns/1ps</a:t>
            </a:r>
          </a:p>
          <a:p>
            <a:r>
              <a:rPr lang="en-US" altLang="zh-TW" sz="1400" dirty="0"/>
              <a:t>2 `include "</a:t>
            </a:r>
            <a:r>
              <a:rPr lang="en-US" altLang="zh-TW" sz="1400" dirty="0" err="1"/>
              <a:t>uvm_macros.svh</a:t>
            </a:r>
            <a:r>
              <a:rPr lang="en-US" altLang="zh-TW" sz="1400" dirty="0"/>
              <a:t>"</a:t>
            </a:r>
          </a:p>
          <a:p>
            <a:r>
              <a:rPr lang="en-US" altLang="zh-TW" sz="1400" dirty="0"/>
              <a:t>3</a:t>
            </a:r>
          </a:p>
          <a:p>
            <a:r>
              <a:rPr lang="en-US" altLang="zh-TW" sz="1400" dirty="0"/>
              <a:t>4 import </a:t>
            </a:r>
            <a:r>
              <a:rPr lang="en-US" altLang="zh-TW" sz="1400" dirty="0" err="1"/>
              <a:t>uvm_pkg</a:t>
            </a:r>
            <a:r>
              <a:rPr lang="en-US" altLang="zh-TW" sz="1400" dirty="0" smtClean="0"/>
              <a:t>::*;</a:t>
            </a:r>
          </a:p>
          <a:p>
            <a:r>
              <a:rPr lang="en-US" altLang="zh-TW" sz="1400" dirty="0"/>
              <a:t>5 `include "my_driver.sv"</a:t>
            </a:r>
          </a:p>
          <a:p>
            <a:r>
              <a:rPr lang="en-US" altLang="zh-TW" sz="1400" dirty="0"/>
              <a:t>6</a:t>
            </a:r>
          </a:p>
          <a:p>
            <a:r>
              <a:rPr lang="en-US" altLang="zh-TW" sz="1400" dirty="0"/>
              <a:t>7 module </a:t>
            </a:r>
            <a:r>
              <a:rPr lang="en-US" altLang="zh-TW" sz="1400" dirty="0" err="1"/>
              <a:t>top_tb</a:t>
            </a:r>
            <a:r>
              <a:rPr lang="en-US" altLang="zh-TW" sz="1400" dirty="0"/>
              <a:t>;</a:t>
            </a:r>
          </a:p>
          <a:p>
            <a:r>
              <a:rPr lang="en-US" altLang="zh-TW" sz="1400" dirty="0"/>
              <a:t>8</a:t>
            </a:r>
          </a:p>
          <a:p>
            <a:r>
              <a:rPr lang="en-US" altLang="zh-TW" sz="1400" dirty="0"/>
              <a:t>9 </a:t>
            </a:r>
            <a:r>
              <a:rPr lang="en-US" altLang="zh-TW" sz="1400" dirty="0" err="1"/>
              <a:t>reg</a:t>
            </a:r>
            <a:r>
              <a:rPr lang="en-US" altLang="zh-TW" sz="1400" dirty="0"/>
              <a:t> </a:t>
            </a:r>
            <a:r>
              <a:rPr lang="en-US" altLang="zh-TW" sz="1400" dirty="0" err="1"/>
              <a:t>clk</a:t>
            </a:r>
            <a:r>
              <a:rPr lang="en-US" altLang="zh-TW" sz="1400" dirty="0"/>
              <a:t>;</a:t>
            </a:r>
          </a:p>
          <a:p>
            <a:r>
              <a:rPr lang="en-US" altLang="zh-TW" sz="1400" dirty="0"/>
              <a:t>10 </a:t>
            </a:r>
            <a:r>
              <a:rPr lang="en-US" altLang="zh-TW" sz="1400" dirty="0" err="1"/>
              <a:t>reg</a:t>
            </a:r>
            <a:r>
              <a:rPr lang="en-US" altLang="zh-TW" sz="1400" dirty="0"/>
              <a:t> </a:t>
            </a:r>
            <a:r>
              <a:rPr lang="en-US" altLang="zh-TW" sz="1400" dirty="0" err="1"/>
              <a:t>rst_n</a:t>
            </a:r>
            <a:r>
              <a:rPr lang="en-US" altLang="zh-TW" sz="1400" dirty="0"/>
              <a:t>;</a:t>
            </a:r>
          </a:p>
          <a:p>
            <a:r>
              <a:rPr lang="en-US" altLang="zh-TW" sz="1400" dirty="0"/>
              <a:t>11 </a:t>
            </a:r>
            <a:r>
              <a:rPr lang="en-US" altLang="zh-TW" sz="1400" dirty="0" err="1"/>
              <a:t>reg</a:t>
            </a:r>
            <a:r>
              <a:rPr lang="en-US" altLang="zh-TW" sz="1400" dirty="0"/>
              <a:t>[7:0] </a:t>
            </a:r>
            <a:r>
              <a:rPr lang="en-US" altLang="zh-TW" sz="1400" dirty="0" err="1"/>
              <a:t>rxd</a:t>
            </a:r>
            <a:r>
              <a:rPr lang="en-US" altLang="zh-TW" sz="1400" dirty="0"/>
              <a:t>;</a:t>
            </a:r>
          </a:p>
          <a:p>
            <a:r>
              <a:rPr lang="en-US" altLang="zh-TW" sz="1400" dirty="0"/>
              <a:t>12 </a:t>
            </a:r>
            <a:r>
              <a:rPr lang="en-US" altLang="zh-TW" sz="1400" dirty="0" err="1"/>
              <a:t>reg</a:t>
            </a:r>
            <a:r>
              <a:rPr lang="en-US" altLang="zh-TW" sz="1400" dirty="0"/>
              <a:t> </a:t>
            </a:r>
            <a:r>
              <a:rPr lang="en-US" altLang="zh-TW" sz="1400" dirty="0" err="1"/>
              <a:t>rx_dv</a:t>
            </a:r>
            <a:r>
              <a:rPr lang="en-US" altLang="zh-TW" sz="1400" dirty="0"/>
              <a:t>;</a:t>
            </a:r>
          </a:p>
          <a:p>
            <a:r>
              <a:rPr lang="en-US" altLang="zh-TW" sz="1400" dirty="0"/>
              <a:t>13 wire[7:0] </a:t>
            </a:r>
            <a:r>
              <a:rPr lang="en-US" altLang="zh-TW" sz="1400" dirty="0" err="1"/>
              <a:t>txd</a:t>
            </a:r>
            <a:r>
              <a:rPr lang="en-US" altLang="zh-TW" sz="1400" dirty="0"/>
              <a:t>;</a:t>
            </a:r>
          </a:p>
          <a:p>
            <a:r>
              <a:rPr lang="en-US" altLang="zh-TW" sz="1400" dirty="0"/>
              <a:t>14 wire </a:t>
            </a:r>
            <a:r>
              <a:rPr lang="en-US" altLang="zh-TW" sz="1400" dirty="0" err="1"/>
              <a:t>tx_en</a:t>
            </a:r>
            <a:r>
              <a:rPr lang="en-US" altLang="zh-TW" sz="1400" dirty="0"/>
              <a:t>;</a:t>
            </a:r>
          </a:p>
          <a:p>
            <a:r>
              <a:rPr lang="en-US" altLang="zh-TW" sz="1400" dirty="0"/>
              <a:t>15</a:t>
            </a:r>
          </a:p>
          <a:p>
            <a:r>
              <a:rPr lang="en-US" altLang="zh-TW" sz="1400" dirty="0"/>
              <a:t>16 </a:t>
            </a:r>
            <a:r>
              <a:rPr lang="en-US" altLang="zh-TW" sz="1400" dirty="0" err="1"/>
              <a:t>dut</a:t>
            </a:r>
            <a:r>
              <a:rPr lang="en-US" altLang="zh-TW" sz="1400" dirty="0"/>
              <a:t> </a:t>
            </a:r>
            <a:r>
              <a:rPr lang="en-US" altLang="zh-TW" sz="1400" dirty="0" err="1"/>
              <a:t>my_dut</a:t>
            </a:r>
            <a:r>
              <a:rPr lang="en-US" altLang="zh-TW" sz="1400" dirty="0"/>
              <a:t>(.</a:t>
            </a:r>
            <a:r>
              <a:rPr lang="en-US" altLang="zh-TW" sz="1400" dirty="0" err="1"/>
              <a:t>clk</a:t>
            </a:r>
            <a:r>
              <a:rPr lang="en-US" altLang="zh-TW" sz="1400" dirty="0"/>
              <a:t>(</a:t>
            </a:r>
            <a:r>
              <a:rPr lang="en-US" altLang="zh-TW" sz="1400" dirty="0" err="1"/>
              <a:t>clk</a:t>
            </a:r>
            <a:r>
              <a:rPr lang="en-US" altLang="zh-TW" sz="1400" dirty="0"/>
              <a:t>),</a:t>
            </a:r>
          </a:p>
          <a:p>
            <a:r>
              <a:rPr lang="en-US" altLang="zh-TW" sz="1400" dirty="0"/>
              <a:t>17 .</a:t>
            </a:r>
            <a:r>
              <a:rPr lang="en-US" altLang="zh-TW" sz="1400" dirty="0" err="1"/>
              <a:t>rst_n</a:t>
            </a:r>
            <a:r>
              <a:rPr lang="en-US" altLang="zh-TW" sz="1400" dirty="0"/>
              <a:t>(</a:t>
            </a:r>
            <a:r>
              <a:rPr lang="en-US" altLang="zh-TW" sz="1400" dirty="0" err="1"/>
              <a:t>rst_n</a:t>
            </a:r>
            <a:r>
              <a:rPr lang="en-US" altLang="zh-TW" sz="1400" dirty="0"/>
              <a:t>),</a:t>
            </a:r>
          </a:p>
          <a:p>
            <a:r>
              <a:rPr lang="en-US" altLang="zh-TW" sz="1400" dirty="0"/>
              <a:t>18 .</a:t>
            </a:r>
            <a:r>
              <a:rPr lang="en-US" altLang="zh-TW" sz="1400" dirty="0" err="1"/>
              <a:t>rxd</a:t>
            </a:r>
            <a:r>
              <a:rPr lang="en-US" altLang="zh-TW" sz="1400" dirty="0"/>
              <a:t>(</a:t>
            </a:r>
            <a:r>
              <a:rPr lang="en-US" altLang="zh-TW" sz="1400" dirty="0" err="1"/>
              <a:t>rxd</a:t>
            </a:r>
            <a:r>
              <a:rPr lang="en-US" altLang="zh-TW" sz="1400" dirty="0"/>
              <a:t>),</a:t>
            </a:r>
          </a:p>
          <a:p>
            <a:r>
              <a:rPr lang="en-US" altLang="zh-TW" sz="1400" dirty="0"/>
              <a:t>19 .</a:t>
            </a:r>
            <a:r>
              <a:rPr lang="en-US" altLang="zh-TW" sz="1400" dirty="0" err="1"/>
              <a:t>rx_dv</a:t>
            </a:r>
            <a:r>
              <a:rPr lang="en-US" altLang="zh-TW" sz="1400" dirty="0"/>
              <a:t>(</a:t>
            </a:r>
            <a:r>
              <a:rPr lang="en-US" altLang="zh-TW" sz="1400" dirty="0" err="1"/>
              <a:t>rx_dv</a:t>
            </a:r>
            <a:r>
              <a:rPr lang="en-US" altLang="zh-TW" sz="1400" dirty="0"/>
              <a:t>),</a:t>
            </a:r>
          </a:p>
          <a:p>
            <a:r>
              <a:rPr lang="en-US" altLang="zh-TW" sz="1400" dirty="0"/>
              <a:t>20 .</a:t>
            </a:r>
            <a:r>
              <a:rPr lang="en-US" altLang="zh-TW" sz="1400" dirty="0" err="1"/>
              <a:t>txd</a:t>
            </a:r>
            <a:r>
              <a:rPr lang="en-US" altLang="zh-TW" sz="1400" dirty="0"/>
              <a:t>(</a:t>
            </a:r>
            <a:r>
              <a:rPr lang="en-US" altLang="zh-TW" sz="1400" dirty="0" err="1"/>
              <a:t>txd</a:t>
            </a:r>
            <a:r>
              <a:rPr lang="en-US" altLang="zh-TW" sz="1400" dirty="0"/>
              <a:t>),</a:t>
            </a:r>
          </a:p>
          <a:p>
            <a:r>
              <a:rPr lang="en-US" altLang="zh-TW" sz="1400" dirty="0"/>
              <a:t>21 .</a:t>
            </a:r>
            <a:r>
              <a:rPr lang="en-US" altLang="zh-TW" sz="1400" dirty="0" err="1"/>
              <a:t>tx_en</a:t>
            </a:r>
            <a:r>
              <a:rPr lang="en-US" altLang="zh-TW" sz="1400" dirty="0"/>
              <a:t>(</a:t>
            </a:r>
            <a:r>
              <a:rPr lang="en-US" altLang="zh-TW" sz="1400" dirty="0" err="1"/>
              <a:t>tx_en</a:t>
            </a:r>
            <a:r>
              <a:rPr lang="en-US" altLang="zh-TW" sz="1400" dirty="0" smtClean="0"/>
              <a:t>));</a:t>
            </a:r>
            <a:endParaRPr lang="en-US" altLang="zh-TW" sz="1400" dirty="0"/>
          </a:p>
        </p:txBody>
      </p:sp>
      <p:sp>
        <p:nvSpPr>
          <p:cNvPr id="6" name="矩形 5"/>
          <p:cNvSpPr/>
          <p:nvPr/>
        </p:nvSpPr>
        <p:spPr>
          <a:xfrm>
            <a:off x="4211960" y="1628800"/>
            <a:ext cx="4572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400" dirty="0"/>
              <a:t>22</a:t>
            </a:r>
          </a:p>
          <a:p>
            <a:r>
              <a:rPr lang="en-US" altLang="zh-TW" sz="1400" dirty="0"/>
              <a:t>23 initial begin</a:t>
            </a:r>
          </a:p>
          <a:p>
            <a:r>
              <a:rPr lang="en-US" altLang="zh-TW" sz="1400" dirty="0"/>
              <a:t>24 </a:t>
            </a:r>
            <a:r>
              <a:rPr lang="en-US" altLang="zh-TW" sz="1400" dirty="0" err="1"/>
              <a:t>my_driver</a:t>
            </a:r>
            <a:r>
              <a:rPr lang="en-US" altLang="zh-TW" sz="1400" dirty="0"/>
              <a:t> </a:t>
            </a:r>
            <a:r>
              <a:rPr lang="en-US" altLang="zh-TW" sz="1400" dirty="0" err="1"/>
              <a:t>drv</a:t>
            </a:r>
            <a:r>
              <a:rPr lang="en-US" altLang="zh-TW" sz="1400" dirty="0"/>
              <a:t>;</a:t>
            </a:r>
          </a:p>
          <a:p>
            <a:r>
              <a:rPr lang="en-US" altLang="zh-TW" sz="1400" dirty="0"/>
              <a:t>25 </a:t>
            </a:r>
            <a:r>
              <a:rPr lang="en-US" altLang="zh-TW" sz="1400" dirty="0" err="1"/>
              <a:t>drv</a:t>
            </a:r>
            <a:r>
              <a:rPr lang="en-US" altLang="zh-TW" sz="1400" dirty="0"/>
              <a:t> = new("</a:t>
            </a:r>
            <a:r>
              <a:rPr lang="en-US" altLang="zh-TW" sz="1400" dirty="0" err="1"/>
              <a:t>drv</a:t>
            </a:r>
            <a:r>
              <a:rPr lang="en-US" altLang="zh-TW" sz="1400" dirty="0"/>
              <a:t>", null);</a:t>
            </a:r>
          </a:p>
          <a:p>
            <a:r>
              <a:rPr lang="en-US" altLang="zh-TW" sz="1400" dirty="0"/>
              <a:t>26 </a:t>
            </a:r>
            <a:r>
              <a:rPr lang="en-US" altLang="zh-TW" sz="1400" dirty="0" err="1"/>
              <a:t>drv.main_phase</a:t>
            </a:r>
            <a:r>
              <a:rPr lang="en-US" altLang="zh-TW" sz="1400" dirty="0"/>
              <a:t>(null);</a:t>
            </a:r>
          </a:p>
          <a:p>
            <a:r>
              <a:rPr lang="en-US" altLang="zh-TW" sz="1400" dirty="0"/>
              <a:t>27 $finish();</a:t>
            </a:r>
          </a:p>
          <a:p>
            <a:r>
              <a:rPr lang="en-US" altLang="zh-TW" sz="1400" dirty="0"/>
              <a:t>28 end</a:t>
            </a:r>
          </a:p>
          <a:p>
            <a:r>
              <a:rPr lang="en-US" altLang="zh-TW" sz="1400" dirty="0"/>
              <a:t>29</a:t>
            </a:r>
          </a:p>
          <a:p>
            <a:r>
              <a:rPr lang="en-US" altLang="zh-TW" sz="1400" dirty="0"/>
              <a:t>30 initial begin</a:t>
            </a:r>
          </a:p>
          <a:p>
            <a:r>
              <a:rPr lang="en-US" altLang="zh-TW" sz="1400" dirty="0"/>
              <a:t>31 </a:t>
            </a:r>
            <a:r>
              <a:rPr lang="en-US" altLang="zh-TW" sz="1400" dirty="0" err="1"/>
              <a:t>clk</a:t>
            </a:r>
            <a:r>
              <a:rPr lang="en-US" altLang="zh-TW" sz="1400" dirty="0"/>
              <a:t> = 0;</a:t>
            </a:r>
          </a:p>
          <a:p>
            <a:r>
              <a:rPr lang="en-US" altLang="zh-TW" sz="1400" dirty="0"/>
              <a:t>32 forever begin</a:t>
            </a:r>
          </a:p>
          <a:p>
            <a:r>
              <a:rPr lang="en-US" altLang="zh-TW" sz="1400" dirty="0"/>
              <a:t>33 #100 </a:t>
            </a:r>
            <a:r>
              <a:rPr lang="en-US" altLang="zh-TW" sz="1400" dirty="0" err="1"/>
              <a:t>clk</a:t>
            </a:r>
            <a:r>
              <a:rPr lang="en-US" altLang="zh-TW" sz="1400" dirty="0"/>
              <a:t> = ~</a:t>
            </a:r>
            <a:r>
              <a:rPr lang="en-US" altLang="zh-TW" sz="1400" dirty="0" err="1"/>
              <a:t>clk</a:t>
            </a:r>
            <a:r>
              <a:rPr lang="en-US" altLang="zh-TW" sz="1400" dirty="0"/>
              <a:t>;</a:t>
            </a:r>
          </a:p>
          <a:p>
            <a:r>
              <a:rPr lang="en-US" altLang="zh-TW" sz="1400" dirty="0"/>
              <a:t>34 end</a:t>
            </a:r>
          </a:p>
          <a:p>
            <a:r>
              <a:rPr lang="en-US" altLang="zh-TW" sz="1400" dirty="0"/>
              <a:t>35 end</a:t>
            </a:r>
          </a:p>
          <a:p>
            <a:r>
              <a:rPr lang="en-US" altLang="zh-TW" sz="1400" dirty="0"/>
              <a:t>36</a:t>
            </a:r>
          </a:p>
          <a:p>
            <a:r>
              <a:rPr lang="en-US" altLang="zh-TW" sz="1400" dirty="0"/>
              <a:t>37 initial begin</a:t>
            </a:r>
          </a:p>
          <a:p>
            <a:r>
              <a:rPr lang="en-US" altLang="zh-TW" sz="1400" dirty="0"/>
              <a:t>38 </a:t>
            </a:r>
            <a:r>
              <a:rPr lang="en-US" altLang="zh-TW" sz="1400" dirty="0" err="1"/>
              <a:t>rst_n</a:t>
            </a:r>
            <a:r>
              <a:rPr lang="en-US" altLang="zh-TW" sz="1400" dirty="0"/>
              <a:t> = 1'b0;</a:t>
            </a:r>
          </a:p>
          <a:p>
            <a:r>
              <a:rPr lang="en-US" altLang="zh-TW" sz="1400" dirty="0"/>
              <a:t>39 #1000;</a:t>
            </a:r>
          </a:p>
          <a:p>
            <a:r>
              <a:rPr lang="en-US" altLang="zh-TW" sz="1400" dirty="0"/>
              <a:t>40 </a:t>
            </a:r>
            <a:r>
              <a:rPr lang="en-US" altLang="zh-TW" sz="1400" dirty="0" err="1"/>
              <a:t>rst_n</a:t>
            </a:r>
            <a:r>
              <a:rPr lang="en-US" altLang="zh-TW" sz="1400" dirty="0"/>
              <a:t> = 1'b1;</a:t>
            </a:r>
          </a:p>
          <a:p>
            <a:r>
              <a:rPr lang="en-US" altLang="zh-TW" sz="1400" dirty="0"/>
              <a:t>41 end</a:t>
            </a:r>
          </a:p>
          <a:p>
            <a:r>
              <a:rPr lang="en-US" altLang="zh-TW" sz="1400" dirty="0"/>
              <a:t>42</a:t>
            </a:r>
          </a:p>
          <a:p>
            <a:r>
              <a:rPr lang="en-US" altLang="zh-TW" sz="1400" dirty="0"/>
              <a:t>43 </a:t>
            </a:r>
            <a:r>
              <a:rPr lang="en-US" altLang="zh-TW" sz="1400" dirty="0" err="1"/>
              <a:t>endmodule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100025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467544" y="1484784"/>
            <a:ext cx="5958408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/>
              <a:t>文件</a:t>
            </a:r>
            <a:r>
              <a:rPr lang="zh-TW" altLang="en-US" sz="1400" dirty="0" smtClean="0"/>
              <a:t>：</a:t>
            </a:r>
            <a:r>
              <a:rPr lang="en-US" altLang="zh-TW" sz="1400" dirty="0" smtClean="0"/>
              <a:t>my_driver.sv</a:t>
            </a:r>
            <a:endParaRPr lang="en-US" altLang="zh-TW" sz="1400" dirty="0"/>
          </a:p>
          <a:p>
            <a:r>
              <a:rPr lang="en-US" altLang="zh-TW" sz="1400" dirty="0"/>
              <a:t>3 class </a:t>
            </a:r>
            <a:r>
              <a:rPr lang="en-US" altLang="zh-TW" sz="1400" dirty="0" err="1"/>
              <a:t>my_driver</a:t>
            </a:r>
            <a:r>
              <a:rPr lang="en-US" altLang="zh-TW" sz="1400" dirty="0"/>
              <a:t> extends </a:t>
            </a:r>
            <a:r>
              <a:rPr lang="en-US" altLang="zh-TW" sz="1400" dirty="0" err="1"/>
              <a:t>uvm_driver</a:t>
            </a:r>
            <a:r>
              <a:rPr lang="en-US" altLang="zh-TW" sz="1400" dirty="0"/>
              <a:t>;</a:t>
            </a:r>
          </a:p>
          <a:p>
            <a:r>
              <a:rPr lang="en-US" altLang="zh-TW" sz="1400" dirty="0"/>
              <a:t>4</a:t>
            </a:r>
          </a:p>
          <a:p>
            <a:r>
              <a:rPr lang="en-US" altLang="zh-TW" sz="1400" dirty="0"/>
              <a:t>5 function new(string name = "</a:t>
            </a:r>
            <a:r>
              <a:rPr lang="en-US" altLang="zh-TW" sz="1400" dirty="0" err="1"/>
              <a:t>my_driver</a:t>
            </a:r>
            <a:r>
              <a:rPr lang="en-US" altLang="zh-TW" sz="1400" dirty="0"/>
              <a:t>", </a:t>
            </a:r>
            <a:r>
              <a:rPr lang="en-US" altLang="zh-TW" sz="1400" dirty="0" err="1"/>
              <a:t>uvm_component</a:t>
            </a:r>
            <a:r>
              <a:rPr lang="en-US" altLang="zh-TW" sz="1400" dirty="0"/>
              <a:t> parent = null);</a:t>
            </a:r>
          </a:p>
          <a:p>
            <a:r>
              <a:rPr lang="en-US" altLang="zh-TW" sz="1400" dirty="0"/>
              <a:t>6 </a:t>
            </a:r>
            <a:r>
              <a:rPr lang="en-US" altLang="zh-TW" sz="1400" dirty="0" err="1"/>
              <a:t>super.new</a:t>
            </a:r>
            <a:r>
              <a:rPr lang="en-US" altLang="zh-TW" sz="1400" dirty="0"/>
              <a:t>(name, parent</a:t>
            </a:r>
            <a:r>
              <a:rPr lang="en-US" altLang="zh-TW" sz="1400" dirty="0" smtClean="0"/>
              <a:t>);</a:t>
            </a:r>
          </a:p>
          <a:p>
            <a:r>
              <a:rPr lang="en-US" altLang="zh-TW" sz="1400" dirty="0"/>
              <a:t>7 </a:t>
            </a:r>
            <a:r>
              <a:rPr lang="en-US" altLang="zh-TW" sz="1400" dirty="0" err="1"/>
              <a:t>endfunction</a:t>
            </a:r>
            <a:endParaRPr lang="en-US" altLang="zh-TW" sz="1400" dirty="0"/>
          </a:p>
          <a:p>
            <a:r>
              <a:rPr lang="en-US" altLang="zh-TW" sz="1400" dirty="0"/>
              <a:t>8 extern virtual task </a:t>
            </a:r>
            <a:r>
              <a:rPr lang="en-US" altLang="zh-TW" sz="1400" dirty="0" err="1"/>
              <a:t>main_phase</a:t>
            </a:r>
            <a:r>
              <a:rPr lang="en-US" altLang="zh-TW" sz="1400" dirty="0"/>
              <a:t>(</a:t>
            </a:r>
            <a:r>
              <a:rPr lang="en-US" altLang="zh-TW" sz="1400" dirty="0" err="1"/>
              <a:t>uvm_phase</a:t>
            </a:r>
            <a:r>
              <a:rPr lang="en-US" altLang="zh-TW" sz="1400" dirty="0"/>
              <a:t> phase);</a:t>
            </a:r>
          </a:p>
          <a:p>
            <a:r>
              <a:rPr lang="en-US" altLang="zh-TW" sz="1400" dirty="0"/>
              <a:t>9 </a:t>
            </a:r>
            <a:r>
              <a:rPr lang="en-US" altLang="zh-TW" sz="1400" dirty="0" err="1"/>
              <a:t>endclass</a:t>
            </a:r>
            <a:endParaRPr lang="en-US" altLang="zh-TW" sz="1400" dirty="0"/>
          </a:p>
          <a:p>
            <a:r>
              <a:rPr lang="en-US" altLang="zh-TW" sz="1400" dirty="0"/>
              <a:t>10</a:t>
            </a:r>
          </a:p>
          <a:p>
            <a:r>
              <a:rPr lang="en-US" altLang="zh-TW" sz="1400" dirty="0"/>
              <a:t>11 task </a:t>
            </a:r>
            <a:r>
              <a:rPr lang="en-US" altLang="zh-TW" sz="1400" dirty="0" err="1"/>
              <a:t>my_driver</a:t>
            </a:r>
            <a:r>
              <a:rPr lang="en-US" altLang="zh-TW" sz="1400" dirty="0"/>
              <a:t>::</a:t>
            </a:r>
            <a:r>
              <a:rPr lang="en-US" altLang="zh-TW" sz="1400" dirty="0" err="1"/>
              <a:t>main_phase</a:t>
            </a:r>
            <a:r>
              <a:rPr lang="en-US" altLang="zh-TW" sz="1400" dirty="0"/>
              <a:t>(</a:t>
            </a:r>
            <a:r>
              <a:rPr lang="en-US" altLang="zh-TW" sz="1400" dirty="0" err="1"/>
              <a:t>uvm_phase</a:t>
            </a:r>
            <a:r>
              <a:rPr lang="en-US" altLang="zh-TW" sz="1400" dirty="0"/>
              <a:t> phase);</a:t>
            </a:r>
          </a:p>
          <a:p>
            <a:r>
              <a:rPr lang="en-US" altLang="zh-TW" sz="1400" dirty="0"/>
              <a:t>12 </a:t>
            </a:r>
            <a:r>
              <a:rPr lang="en-US" altLang="zh-TW" sz="1400" dirty="0" err="1"/>
              <a:t>top_tb.rxd</a:t>
            </a:r>
            <a:r>
              <a:rPr lang="en-US" altLang="zh-TW" sz="1400" dirty="0"/>
              <a:t> &lt;= 8'b0;</a:t>
            </a:r>
          </a:p>
          <a:p>
            <a:r>
              <a:rPr lang="en-US" altLang="zh-TW" sz="1400" dirty="0"/>
              <a:t>13 </a:t>
            </a:r>
            <a:r>
              <a:rPr lang="en-US" altLang="zh-TW" sz="1400" dirty="0" err="1"/>
              <a:t>top_tb.rx_dv</a:t>
            </a:r>
            <a:r>
              <a:rPr lang="en-US" altLang="zh-TW" sz="1400" dirty="0"/>
              <a:t> &lt;= 1'b0;</a:t>
            </a:r>
          </a:p>
          <a:p>
            <a:r>
              <a:rPr lang="en-US" altLang="zh-TW" sz="1400" dirty="0"/>
              <a:t>14 while(!</a:t>
            </a:r>
            <a:r>
              <a:rPr lang="en-US" altLang="zh-TW" sz="1400" dirty="0" err="1"/>
              <a:t>top_tb.rst_n</a:t>
            </a:r>
            <a:r>
              <a:rPr lang="en-US" altLang="zh-TW" sz="1400" dirty="0"/>
              <a:t>)</a:t>
            </a:r>
          </a:p>
          <a:p>
            <a:r>
              <a:rPr lang="en-US" altLang="zh-TW" sz="1400" dirty="0"/>
              <a:t>15 @(</a:t>
            </a:r>
            <a:r>
              <a:rPr lang="en-US" altLang="zh-TW" sz="1400" dirty="0" err="1"/>
              <a:t>posedge</a:t>
            </a:r>
            <a:r>
              <a:rPr lang="en-US" altLang="zh-TW" sz="1400" dirty="0"/>
              <a:t> </a:t>
            </a:r>
            <a:r>
              <a:rPr lang="en-US" altLang="zh-TW" sz="1400" dirty="0" err="1"/>
              <a:t>top_tb.clk</a:t>
            </a:r>
            <a:r>
              <a:rPr lang="en-US" altLang="zh-TW" sz="1400" dirty="0"/>
              <a:t>);</a:t>
            </a:r>
          </a:p>
          <a:p>
            <a:r>
              <a:rPr lang="nn-NO" altLang="zh-TW" sz="1400" dirty="0"/>
              <a:t>16 for(int i = 0; i &lt; 256; i++)begin</a:t>
            </a:r>
          </a:p>
          <a:p>
            <a:r>
              <a:rPr lang="en-US" altLang="zh-TW" sz="1400" dirty="0"/>
              <a:t>17 @(</a:t>
            </a:r>
            <a:r>
              <a:rPr lang="en-US" altLang="zh-TW" sz="1400" dirty="0" err="1"/>
              <a:t>posedge</a:t>
            </a:r>
            <a:r>
              <a:rPr lang="en-US" altLang="zh-TW" sz="1400" dirty="0"/>
              <a:t> </a:t>
            </a:r>
            <a:r>
              <a:rPr lang="en-US" altLang="zh-TW" sz="1400" dirty="0" err="1"/>
              <a:t>top_tb.clk</a:t>
            </a:r>
            <a:r>
              <a:rPr lang="en-US" altLang="zh-TW" sz="1400" dirty="0"/>
              <a:t>);</a:t>
            </a:r>
          </a:p>
          <a:p>
            <a:r>
              <a:rPr lang="en-US" altLang="zh-TW" sz="1400" dirty="0"/>
              <a:t>18 </a:t>
            </a:r>
            <a:r>
              <a:rPr lang="en-US" altLang="zh-TW" sz="1400" dirty="0" err="1"/>
              <a:t>top_tb.rxd</a:t>
            </a:r>
            <a:r>
              <a:rPr lang="en-US" altLang="zh-TW" sz="1400" dirty="0"/>
              <a:t> &lt;= $</a:t>
            </a:r>
            <a:r>
              <a:rPr lang="en-US" altLang="zh-TW" sz="1400" dirty="0" err="1"/>
              <a:t>urandom_range</a:t>
            </a:r>
            <a:r>
              <a:rPr lang="en-US" altLang="zh-TW" sz="1400" dirty="0"/>
              <a:t>(0, 255);</a:t>
            </a:r>
          </a:p>
          <a:p>
            <a:r>
              <a:rPr lang="en-US" altLang="zh-TW" sz="1400" dirty="0"/>
              <a:t>19 </a:t>
            </a:r>
            <a:r>
              <a:rPr lang="en-US" altLang="zh-TW" sz="1400" dirty="0" err="1"/>
              <a:t>top_tb.rx_dv</a:t>
            </a:r>
            <a:r>
              <a:rPr lang="en-US" altLang="zh-TW" sz="1400" dirty="0"/>
              <a:t> &lt;= 1'b1;</a:t>
            </a:r>
          </a:p>
          <a:p>
            <a:r>
              <a:rPr lang="en-US" altLang="zh-TW" sz="1400" dirty="0"/>
              <a:t>20 `</a:t>
            </a:r>
            <a:r>
              <a:rPr lang="en-US" altLang="zh-TW" sz="1400" dirty="0" err="1"/>
              <a:t>uvm_info</a:t>
            </a:r>
            <a:r>
              <a:rPr lang="en-US" altLang="zh-TW" sz="1400" dirty="0"/>
              <a:t>("</a:t>
            </a:r>
            <a:r>
              <a:rPr lang="en-US" altLang="zh-TW" sz="1400" dirty="0" err="1"/>
              <a:t>my_driver</a:t>
            </a:r>
            <a:r>
              <a:rPr lang="en-US" altLang="zh-TW" sz="1400" dirty="0"/>
              <a:t>", "data is </a:t>
            </a:r>
            <a:r>
              <a:rPr lang="en-US" altLang="zh-TW" sz="1400" dirty="0" err="1"/>
              <a:t>drived</a:t>
            </a:r>
            <a:r>
              <a:rPr lang="en-US" altLang="zh-TW" sz="1400" dirty="0"/>
              <a:t>", UVM_LOW)</a:t>
            </a:r>
          </a:p>
          <a:p>
            <a:r>
              <a:rPr lang="en-US" altLang="zh-TW" sz="1400" dirty="0"/>
              <a:t>21 end</a:t>
            </a:r>
          </a:p>
          <a:p>
            <a:r>
              <a:rPr lang="en-US" altLang="zh-TW" sz="1400" dirty="0"/>
              <a:t>22 @(</a:t>
            </a:r>
            <a:r>
              <a:rPr lang="en-US" altLang="zh-TW" sz="1400" dirty="0" err="1"/>
              <a:t>posedge</a:t>
            </a:r>
            <a:r>
              <a:rPr lang="en-US" altLang="zh-TW" sz="1400" dirty="0"/>
              <a:t> </a:t>
            </a:r>
            <a:r>
              <a:rPr lang="en-US" altLang="zh-TW" sz="1400" dirty="0" err="1"/>
              <a:t>top_tb.clk</a:t>
            </a:r>
            <a:r>
              <a:rPr lang="en-US" altLang="zh-TW" sz="1400" dirty="0"/>
              <a:t>);</a:t>
            </a:r>
          </a:p>
          <a:p>
            <a:r>
              <a:rPr lang="en-US" altLang="zh-TW" sz="1400" dirty="0"/>
              <a:t>23 </a:t>
            </a:r>
            <a:r>
              <a:rPr lang="en-US" altLang="zh-TW" sz="1400" dirty="0" err="1"/>
              <a:t>top_tb.rx_dv</a:t>
            </a:r>
            <a:r>
              <a:rPr lang="en-US" altLang="zh-TW" sz="1400" dirty="0"/>
              <a:t> &lt;= 1'b0;</a:t>
            </a:r>
          </a:p>
          <a:p>
            <a:r>
              <a:rPr lang="en-US" altLang="zh-TW" sz="1400" dirty="0"/>
              <a:t>24 </a:t>
            </a:r>
            <a:r>
              <a:rPr lang="en-US" altLang="zh-TW" sz="1400" dirty="0" err="1"/>
              <a:t>endtask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470148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</a:t>
            </a:r>
            <a:r>
              <a:rPr lang="en-US" altLang="zh-TW" dirty="0"/>
              <a:t>2</a:t>
            </a:r>
            <a:r>
              <a:rPr lang="en-US" altLang="zh-TW" dirty="0" smtClean="0"/>
              <a:t> August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85132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SDF format brief introduction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34344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SDF format brief 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SDF file typically </a:t>
            </a:r>
            <a:r>
              <a:rPr lang="en-US" altLang="zh-TW" sz="2400" dirty="0" smtClean="0"/>
              <a:t>has </a:t>
            </a:r>
            <a:r>
              <a:rPr lang="en-US" altLang="zh-TW" sz="2400" dirty="0"/>
              <a:t>a section similar to the one below</a:t>
            </a:r>
            <a:r>
              <a:rPr lang="en-US" altLang="zh-TW" sz="2400" dirty="0" smtClean="0"/>
              <a:t>.</a:t>
            </a:r>
          </a:p>
          <a:p>
            <a:pPr lvl="1"/>
            <a:r>
              <a:rPr lang="en-US" altLang="zh-TW" sz="2000" dirty="0" smtClean="0"/>
              <a:t>Interconnect</a:t>
            </a:r>
            <a:endParaRPr lang="zh-TW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467544" y="2636912"/>
            <a:ext cx="82089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(CELL</a:t>
            </a:r>
          </a:p>
          <a:p>
            <a:r>
              <a:rPr lang="en-US" altLang="zh-TW" dirty="0"/>
              <a:t>  (CELLTYPE  "</a:t>
            </a:r>
            <a:r>
              <a:rPr lang="en-US" altLang="zh-TW" dirty="0" err="1"/>
              <a:t>digital_top</a:t>
            </a:r>
            <a:r>
              <a:rPr lang="en-US" altLang="zh-TW" dirty="0"/>
              <a:t>")</a:t>
            </a:r>
          </a:p>
          <a:p>
            <a:r>
              <a:rPr lang="en-US" altLang="zh-TW" dirty="0"/>
              <a:t>  (INSTANCE)</a:t>
            </a:r>
          </a:p>
          <a:p>
            <a:r>
              <a:rPr lang="en-US" altLang="zh-TW" dirty="0"/>
              <a:t>    (DELAY</a:t>
            </a:r>
          </a:p>
          <a:p>
            <a:r>
              <a:rPr lang="en-US" altLang="zh-TW" dirty="0"/>
              <a:t>    (ABSOLUTE</a:t>
            </a:r>
          </a:p>
          <a:p>
            <a:r>
              <a:rPr lang="en-US" altLang="zh-TW" dirty="0"/>
              <a:t>        (INTERCONNECT in1 top/</a:t>
            </a:r>
            <a:r>
              <a:rPr lang="en-US" altLang="zh-TW" dirty="0" err="1"/>
              <a:t>test_reg</a:t>
            </a:r>
            <a:r>
              <a:rPr lang="en-US" altLang="zh-TW" dirty="0"/>
              <a:t>/D  (0.0027::0.0028) (0.0029::0.0030))</a:t>
            </a:r>
          </a:p>
          <a:p>
            <a:r>
              <a:rPr lang="en-US" altLang="zh-TW" dirty="0"/>
              <a:t>        (INTERCONNECT top/</a:t>
            </a:r>
            <a:r>
              <a:rPr lang="en-US" altLang="zh-TW" dirty="0" err="1"/>
              <a:t>test_reg</a:t>
            </a:r>
            <a:r>
              <a:rPr lang="en-US" altLang="zh-TW" dirty="0"/>
              <a:t>/Q </a:t>
            </a:r>
            <a:r>
              <a:rPr lang="en-US" altLang="zh-TW" dirty="0" err="1"/>
              <a:t>chain_reg</a:t>
            </a:r>
            <a:r>
              <a:rPr lang="en-US" altLang="zh-TW" dirty="0"/>
              <a:t>/D  (0.0000::0.0002) (0.0000::0.0003))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19672" y="4668237"/>
            <a:ext cx="70567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a delay can be a single value or three values representing minimum, typical, and maximum delays in the form (</a:t>
            </a:r>
            <a:r>
              <a:rPr lang="en-US" altLang="zh-TW" dirty="0" err="1" smtClean="0">
                <a:solidFill>
                  <a:srgbClr val="0070C0"/>
                </a:solidFill>
              </a:rPr>
              <a:t>min:typ:max</a:t>
            </a:r>
            <a:r>
              <a:rPr lang="en-US" altLang="zh-TW" dirty="0" smtClean="0">
                <a:solidFill>
                  <a:srgbClr val="0070C0"/>
                </a:solidFill>
              </a:rPr>
              <a:t>)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27984" y="4029219"/>
            <a:ext cx="1512168" cy="316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4831443" y="370774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0-&gt;1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444208" y="3707740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1-&gt;0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12160" y="4029363"/>
            <a:ext cx="1512168" cy="316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4958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SDF format brief 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TW" sz="2000" dirty="0"/>
              <a:t>Interconnect</a:t>
            </a:r>
            <a:endParaRPr lang="zh-TW" altLang="en-US" sz="2000" dirty="0"/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5496" y="1940054"/>
            <a:ext cx="950505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 (CELL</a:t>
            </a:r>
          </a:p>
          <a:p>
            <a:r>
              <a:rPr lang="en-US" altLang="zh-TW" dirty="0"/>
              <a:t>    (CELLTYPE  "SDFF</a:t>
            </a:r>
            <a:r>
              <a:rPr lang="en-US" altLang="zh-TW" dirty="0" smtClean="0"/>
              <a:t>")  </a:t>
            </a:r>
            <a:r>
              <a:rPr lang="en-US" altLang="zh-TW" dirty="0" smtClean="0">
                <a:solidFill>
                  <a:srgbClr val="00B0F0"/>
                </a:solidFill>
                <a:sym typeface="Wingdings" panose="05000000000000000000" pitchFamily="2" charset="2"/>
              </a:rPr>
              <a:t> Specify the cell type, it can be a DFF, combinational cell, or an module</a:t>
            </a:r>
            <a:endParaRPr lang="en-US" altLang="zh-TW" dirty="0">
              <a:solidFill>
                <a:srgbClr val="00B0F0"/>
              </a:solidFill>
            </a:endParaRPr>
          </a:p>
          <a:p>
            <a:r>
              <a:rPr lang="en-US" altLang="zh-TW" dirty="0"/>
              <a:t>    (INSTANCE  top/</a:t>
            </a:r>
            <a:r>
              <a:rPr lang="en-US" altLang="zh-TW" dirty="0" err="1"/>
              <a:t>test_reg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(DELAY</a:t>
            </a:r>
          </a:p>
          <a:p>
            <a:r>
              <a:rPr lang="en-US" altLang="zh-TW" dirty="0"/>
              <a:t>        (ABSOLUTE</a:t>
            </a:r>
          </a:p>
          <a:p>
            <a:r>
              <a:rPr lang="en-US" altLang="zh-TW" dirty="0"/>
              <a:t>        (IOPATH CLK Q  (0.2864::0.2865) (0.3616::0.3617))</a:t>
            </a:r>
          </a:p>
          <a:p>
            <a:r>
              <a:rPr lang="en-US" altLang="zh-TW" dirty="0"/>
              <a:t>        (IOPATH CLRZ Q  () (0.8764::0.8765))</a:t>
            </a:r>
          </a:p>
          <a:p>
            <a:r>
              <a:rPr lang="en-US" altLang="zh-TW" dirty="0"/>
              <a:t>        )</a:t>
            </a:r>
          </a:p>
          <a:p>
            <a:r>
              <a:rPr lang="en-US" altLang="zh-TW" dirty="0"/>
              <a:t>      )</a:t>
            </a:r>
          </a:p>
          <a:p>
            <a:r>
              <a:rPr lang="en-US" altLang="zh-TW" dirty="0"/>
              <a:t>      (TIMINGCHECK</a:t>
            </a:r>
          </a:p>
          <a:p>
            <a:r>
              <a:rPr lang="en-US" altLang="zh-TW" dirty="0"/>
              <a:t>        (RECREM (</a:t>
            </a:r>
            <a:r>
              <a:rPr lang="en-US" altLang="zh-TW" dirty="0" err="1"/>
              <a:t>posedge</a:t>
            </a:r>
            <a:r>
              <a:rPr lang="en-US" altLang="zh-TW" dirty="0"/>
              <a:t> CLRZ) (</a:t>
            </a:r>
            <a:r>
              <a:rPr lang="en-US" altLang="zh-TW" dirty="0" err="1"/>
              <a:t>posedge</a:t>
            </a:r>
            <a:r>
              <a:rPr lang="en-US" altLang="zh-TW" dirty="0"/>
              <a:t> CLK) (0.1540::0.1540) (0.1961::0.1961))</a:t>
            </a:r>
          </a:p>
          <a:p>
            <a:r>
              <a:rPr lang="en-US" altLang="zh-TW" dirty="0"/>
              <a:t>        (SETUPHOLD (</a:t>
            </a:r>
            <a:r>
              <a:rPr lang="en-US" altLang="zh-TW" dirty="0" err="1"/>
              <a:t>posedge</a:t>
            </a:r>
            <a:r>
              <a:rPr lang="en-US" altLang="zh-TW" dirty="0"/>
              <a:t> D) (</a:t>
            </a:r>
            <a:r>
              <a:rPr lang="en-US" altLang="zh-TW" dirty="0" err="1"/>
              <a:t>posedge</a:t>
            </a:r>
            <a:r>
              <a:rPr lang="en-US" altLang="zh-TW" dirty="0"/>
              <a:t> CLK) (0.5805::0.5805) (-0.1512::-0.1512))</a:t>
            </a:r>
          </a:p>
          <a:p>
            <a:r>
              <a:rPr lang="en-US" altLang="zh-TW" dirty="0"/>
              <a:t>        (SETUPHOLD (</a:t>
            </a:r>
            <a:r>
              <a:rPr lang="en-US" altLang="zh-TW" dirty="0" err="1"/>
              <a:t>negedge</a:t>
            </a:r>
            <a:r>
              <a:rPr lang="en-US" altLang="zh-TW" dirty="0"/>
              <a:t> D) (</a:t>
            </a:r>
            <a:r>
              <a:rPr lang="en-US" altLang="zh-TW" dirty="0" err="1"/>
              <a:t>posedge</a:t>
            </a:r>
            <a:r>
              <a:rPr lang="en-US" altLang="zh-TW" dirty="0"/>
              <a:t> CLK) (0.8792::0.8792) (-0.1725::-0.1725))</a:t>
            </a:r>
          </a:p>
          <a:p>
            <a:r>
              <a:rPr lang="en-US" altLang="zh-TW" dirty="0"/>
              <a:t>        (WIDTH (</a:t>
            </a:r>
            <a:r>
              <a:rPr lang="en-US" altLang="zh-TW" dirty="0" err="1"/>
              <a:t>posedge</a:t>
            </a:r>
            <a:r>
              <a:rPr lang="en-US" altLang="zh-TW" dirty="0"/>
              <a:t> CLK) (0.3692::0.3692))</a:t>
            </a:r>
          </a:p>
          <a:p>
            <a:r>
              <a:rPr lang="en-US" altLang="zh-TW" dirty="0"/>
              <a:t>        (WIDTH (</a:t>
            </a:r>
            <a:r>
              <a:rPr lang="en-US" altLang="zh-TW" dirty="0" err="1"/>
              <a:t>negedge</a:t>
            </a:r>
            <a:r>
              <a:rPr lang="en-US" altLang="zh-TW" dirty="0"/>
              <a:t> CLRZ) (0.3975::0.3975))</a:t>
            </a:r>
          </a:p>
          <a:p>
            <a:r>
              <a:rPr lang="en-US" altLang="zh-TW" dirty="0"/>
              <a:t>      )</a:t>
            </a:r>
          </a:p>
          <a:p>
            <a:r>
              <a:rPr lang="en-US" altLang="zh-TW" dirty="0"/>
              <a:t>  )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2051720" y="3318431"/>
            <a:ext cx="1512168" cy="316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455179" y="2996952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0-&gt;1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067944" y="2996952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1-&gt;0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35896" y="3318575"/>
            <a:ext cx="1512168" cy="316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39552" y="6165304"/>
            <a:ext cx="7974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B0F0"/>
                </a:solidFill>
                <a:sym typeface="Wingdings" panose="05000000000000000000" pitchFamily="2" charset="2"/>
              </a:rPr>
              <a:t>Specify </a:t>
            </a:r>
            <a:r>
              <a:rPr lang="en-US" altLang="zh-TW" dirty="0" smtClean="0">
                <a:solidFill>
                  <a:srgbClr val="00B0F0"/>
                </a:solidFill>
                <a:sym typeface="Wingdings" panose="05000000000000000000" pitchFamily="2" charset="2"/>
              </a:rPr>
              <a:t>the timing check with different timing arc.</a:t>
            </a:r>
            <a:endParaRPr lang="en-US" altLang="zh-TW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2130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</a:t>
            </a:r>
            <a:r>
              <a:rPr lang="en-US" altLang="zh-TW" dirty="0"/>
              <a:t>9</a:t>
            </a:r>
            <a:r>
              <a:rPr lang="en-US" altLang="zh-TW" dirty="0" smtClean="0"/>
              <a:t> August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19190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Point for LEC check for PRE2POST script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5572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Point for LEC check for PRE2POST </a:t>
            </a:r>
            <a:r>
              <a:rPr lang="en-US" altLang="zh-TW" sz="3600" dirty="0" smtClean="0"/>
              <a:t>script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US" altLang="zh-TW" sz="2800" dirty="0" err="1" smtClean="0"/>
              <a:t>Hier</a:t>
            </a:r>
            <a:r>
              <a:rPr lang="en-US" altLang="zh-TW" sz="2800" dirty="0" smtClean="0"/>
              <a:t>. compare</a:t>
            </a:r>
          </a:p>
          <a:p>
            <a:pPr marL="457200" lvl="1" indent="0">
              <a:buNone/>
            </a:pPr>
            <a:r>
              <a:rPr lang="en-US" altLang="zh-TW" sz="2000" dirty="0" err="1" smtClean="0"/>
              <a:t>write_hier_compare_dofile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hier_tmp.lec.do -</a:t>
            </a:r>
            <a:r>
              <a:rPr lang="en-US" altLang="zh-TW" sz="2000" dirty="0" err="1"/>
              <a:t>noexact_pin_match</a:t>
            </a:r>
            <a:r>
              <a:rPr lang="en-US" altLang="zh-TW" sz="2000" dirty="0"/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-constraint </a:t>
            </a:r>
            <a:r>
              <a:rPr lang="en-US" altLang="zh-TW" sz="2000" dirty="0"/>
              <a:t>-usage -replace -</a:t>
            </a:r>
            <a:r>
              <a:rPr lang="en-US" altLang="zh-TW" sz="2000" dirty="0" err="1"/>
              <a:t>balanced_extraction</a:t>
            </a:r>
            <a:r>
              <a:rPr lang="en-US" altLang="zh-TW" sz="2000" dirty="0"/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-</a:t>
            </a:r>
            <a:r>
              <a:rPr lang="en-US" altLang="zh-TW" sz="2000" dirty="0" err="1" smtClean="0">
                <a:solidFill>
                  <a:srgbClr val="FF0000"/>
                </a:solidFill>
              </a:rPr>
              <a:t>function_pin_mapping</a:t>
            </a:r>
            <a:endParaRPr lang="en-US" altLang="zh-TW" sz="2000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TW" sz="2000" dirty="0" err="1"/>
              <a:t>run_hier_compare</a:t>
            </a:r>
            <a:r>
              <a:rPr lang="en-US" altLang="zh-TW" sz="2000" dirty="0"/>
              <a:t> hier_tmp.lec.do -</a:t>
            </a:r>
            <a:r>
              <a:rPr lang="en-US" altLang="zh-TW" sz="2000" dirty="0" err="1" smtClean="0"/>
              <a:t>dynamic_hierarchy</a:t>
            </a:r>
            <a:endParaRPr lang="en-US" altLang="zh-TW" sz="2000" dirty="0" smtClean="0"/>
          </a:p>
          <a:p>
            <a:pPr marL="457200" lvl="1" indent="0">
              <a:buNone/>
            </a:pPr>
            <a:endParaRPr lang="en-US" altLang="zh-TW" sz="2000" dirty="0" smtClean="0"/>
          </a:p>
          <a:p>
            <a:pPr marL="457200" lvl="1" indent="0">
              <a:buNone/>
            </a:pPr>
            <a:r>
              <a:rPr lang="en-US" altLang="zh-TW" sz="2000" dirty="0" smtClean="0"/>
              <a:t>The non-eq. module pairs can be waived if the result is PASS</a:t>
            </a:r>
          </a:p>
          <a:p>
            <a:pPr marL="457200" lvl="1" indent="0">
              <a:buNone/>
            </a:pPr>
            <a:endParaRPr lang="en-US" altLang="zh-TW" sz="2000" dirty="0" smtClean="0"/>
          </a:p>
          <a:p>
            <a:r>
              <a:rPr lang="en-US" altLang="zh-TW" dirty="0" smtClean="0"/>
              <a:t>Flatten compare</a:t>
            </a:r>
          </a:p>
          <a:p>
            <a:pPr marL="457200" lvl="1" indent="0">
              <a:buNone/>
            </a:pPr>
            <a:r>
              <a:rPr lang="en-US" altLang="zh-TW" sz="2400" dirty="0" err="1"/>
              <a:t>s</a:t>
            </a:r>
            <a:r>
              <a:rPr lang="en-US" altLang="zh-TW" sz="2400" dirty="0" err="1" smtClean="0"/>
              <a:t>et_system_mode</a:t>
            </a:r>
            <a:r>
              <a:rPr lang="en-US" altLang="zh-TW" sz="2400" dirty="0" smtClean="0"/>
              <a:t> </a:t>
            </a:r>
            <a:r>
              <a:rPr lang="en-US" altLang="zh-TW" sz="2400" dirty="0" err="1"/>
              <a:t>lec</a:t>
            </a:r>
            <a:endParaRPr lang="en-US" altLang="zh-TW" sz="2400" dirty="0"/>
          </a:p>
          <a:p>
            <a:pPr marL="457200" lvl="1" indent="0">
              <a:buNone/>
            </a:pPr>
            <a:r>
              <a:rPr lang="en-US" altLang="zh-TW" sz="2400" dirty="0" err="1" smtClean="0"/>
              <a:t>add_compared_points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-all</a:t>
            </a:r>
          </a:p>
          <a:p>
            <a:pPr marL="457200" lvl="1" indent="0">
              <a:buNone/>
            </a:pPr>
            <a:r>
              <a:rPr lang="en-US" altLang="zh-TW" sz="2400" dirty="0" smtClean="0"/>
              <a:t>compare </a:t>
            </a:r>
            <a:r>
              <a:rPr lang="en-US" altLang="zh-TW" sz="2400" dirty="0"/>
              <a:t>-verbose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221303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Point for LEC check for PRE2POST script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28800"/>
            <a:ext cx="8335044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770707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@4 September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16316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 smtClean="0"/>
              <a:t>Some Additional Features in </a:t>
            </a:r>
            <a:r>
              <a:rPr lang="en-US" altLang="zh-TW" dirty="0" err="1" smtClean="0"/>
              <a:t>SystemVerilog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Class</a:t>
            </a:r>
          </a:p>
          <a:p>
            <a:pPr lvl="2"/>
            <a:r>
              <a:rPr lang="en-US" altLang="zh-TW" dirty="0" smtClean="0"/>
              <a:t>Extends (inherited from </a:t>
            </a:r>
            <a:r>
              <a:rPr lang="en-US" altLang="zh-TW" dirty="0"/>
              <a:t>parent class, </a:t>
            </a:r>
            <a:r>
              <a:rPr lang="en-US" altLang="zh-TW" dirty="0" smtClean="0"/>
              <a:t>not </a:t>
            </a:r>
            <a:r>
              <a:rPr lang="en-US" altLang="zh-TW" dirty="0"/>
              <a:t>discussed here)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This (this class), super (parent class,</a:t>
            </a:r>
            <a:r>
              <a:rPr lang="en-US" altLang="zh-TW" dirty="0"/>
              <a:t> </a:t>
            </a:r>
            <a:r>
              <a:rPr lang="en-US" altLang="zh-TW" dirty="0" smtClean="0"/>
              <a:t>not </a:t>
            </a:r>
            <a:r>
              <a:rPr lang="en-US" altLang="zh-TW" dirty="0"/>
              <a:t>discussed here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Parameterized </a:t>
            </a:r>
            <a:r>
              <a:rPr lang="en-US" altLang="zh-TW" dirty="0"/>
              <a:t>Classes </a:t>
            </a:r>
          </a:p>
          <a:p>
            <a:pPr lvl="2"/>
            <a:r>
              <a:rPr lang="en-US" altLang="zh-TW" dirty="0" smtClean="0"/>
              <a:t>Shallow/Deep Copy</a:t>
            </a:r>
          </a:p>
          <a:p>
            <a:pPr lvl="2"/>
            <a:r>
              <a:rPr lang="en-US" altLang="zh-TW" dirty="0" smtClean="0"/>
              <a:t>Extend function</a:t>
            </a:r>
          </a:p>
          <a:p>
            <a:pPr lvl="1"/>
            <a:r>
              <a:rPr lang="en-US" altLang="zh-TW" dirty="0" smtClean="0"/>
              <a:t>Fork and join</a:t>
            </a:r>
          </a:p>
          <a:p>
            <a:pPr lvl="2"/>
            <a:r>
              <a:rPr lang="en-US" altLang="zh-TW" dirty="0" smtClean="0"/>
              <a:t>Fork-Join</a:t>
            </a:r>
          </a:p>
          <a:p>
            <a:pPr lvl="2"/>
            <a:r>
              <a:rPr lang="en-US" altLang="zh-TW" dirty="0" smtClean="0"/>
              <a:t>Fork-</a:t>
            </a:r>
            <a:r>
              <a:rPr lang="en-US" altLang="zh-TW" dirty="0" err="1" smtClean="0"/>
              <a:t>Join_any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Fork-</a:t>
            </a:r>
            <a:r>
              <a:rPr lang="en-US" altLang="zh-TW" dirty="0" err="1" smtClean="0"/>
              <a:t>Join_none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Clocking</a:t>
            </a:r>
          </a:p>
          <a:p>
            <a:pPr lvl="1"/>
            <a:r>
              <a:rPr lang="en-US" altLang="zh-TW" dirty="0" smtClean="0"/>
              <a:t>Interface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IPC ( Not correct yet)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Semaphore 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Mailbox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Event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SVA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6165304"/>
            <a:ext cx="65344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http://www.verificationguide.com/p/systemverilog-tutorial.html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131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Class – Parameterized Classes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89" y="1628800"/>
            <a:ext cx="6692692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835696" y="2060848"/>
            <a:ext cx="48965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0768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Class </a:t>
            </a:r>
            <a:r>
              <a:rPr lang="en-US" altLang="zh-TW" dirty="0"/>
              <a:t>– </a:t>
            </a:r>
            <a:r>
              <a:rPr lang="en-US" altLang="zh-TW" dirty="0" smtClean="0"/>
              <a:t>Shallow/Deep Copy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Shallow Copy</a:t>
            </a:r>
            <a:endParaRPr lang="zh-TW" altLang="en-US" dirty="0"/>
          </a:p>
        </p:txBody>
      </p:sp>
      <p:pic>
        <p:nvPicPr>
          <p:cNvPr id="7170" name="Picture 2" descr="https://2.bp.blogspot.com/-kiEoYN8j3y8/V8vf0YcLjgI/AAAAAAAABG0/xVnz-U_2db4u5woJaEAZJeRC7ZJyLxxZQCPcB/s640/Shallow_Cop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120" y="2348880"/>
            <a:ext cx="6096000" cy="37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3836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 – Shallow/Deep Copy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Limitation Shallow Copy</a:t>
            </a:r>
          </a:p>
          <a:p>
            <a:pPr lvl="1"/>
            <a:r>
              <a:rPr lang="en-US" altLang="zh-TW" sz="2000" dirty="0" smtClean="0"/>
              <a:t>Can not copy the internal class.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2400" dirty="0"/>
          </a:p>
        </p:txBody>
      </p:sp>
      <p:pic>
        <p:nvPicPr>
          <p:cNvPr id="8194" name="Picture 2" descr="https://3.bp.blogspot.com/-_GgAbLh2GGI/V8vgRd_LPII/AAAAAAAABG0/0q0JqZ5POYAH_3pAMogUXfWA00o0La9bACPcB/s640/limitaion_of_sahllow_cop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408633"/>
            <a:ext cx="6096000" cy="44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1466131" y="4803947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弧形箭號 (左彎) 4"/>
          <p:cNvSpPr/>
          <p:nvPr/>
        </p:nvSpPr>
        <p:spPr>
          <a:xfrm flipH="1">
            <a:off x="962075" y="2912689"/>
            <a:ext cx="504056" cy="198974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5076056" y="6081041"/>
            <a:ext cx="18002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3131840" y="6297065"/>
            <a:ext cx="5040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4298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 – Shallow/Deep Copy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Class Assignment vs. Shallow Copy</a:t>
            </a:r>
          </a:p>
          <a:p>
            <a:pPr lvl="1"/>
            <a:r>
              <a:rPr lang="en-US" altLang="zh-TW" sz="2400" dirty="0" smtClean="0"/>
              <a:t>Class assignment can be regarded as “</a:t>
            </a:r>
            <a:r>
              <a:rPr lang="en-US" altLang="zh-TW" sz="2400" b="1" dirty="0" smtClean="0"/>
              <a:t>pointer</a:t>
            </a:r>
            <a:r>
              <a:rPr lang="en-US" altLang="zh-TW" sz="2400" dirty="0" smtClean="0"/>
              <a:t>” in C</a:t>
            </a:r>
            <a:endParaRPr lang="zh-TW" altLang="en-US" sz="2400" dirty="0"/>
          </a:p>
        </p:txBody>
      </p:sp>
      <p:pic>
        <p:nvPicPr>
          <p:cNvPr id="9218" name="Picture 2" descr="https://2.bp.blogspot.com/-P8Qi34eB6k8/V8xUDKAjbLI/AAAAAAAABG8/mDNDDrDrwkgVYpV6j3r21PU1QCI6FUdGwCLcB/s640/Assignment_Vs_Shallow%2BCop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680295"/>
            <a:ext cx="6700792" cy="398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4865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 – </a:t>
            </a:r>
            <a:r>
              <a:rPr lang="en-US" altLang="zh-TW" dirty="0" smtClean="0"/>
              <a:t>Shallow/Deep </a:t>
            </a:r>
            <a:r>
              <a:rPr lang="en-US" altLang="zh-TW" dirty="0"/>
              <a:t>Copy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Deep Copy - TBD</a:t>
            </a:r>
            <a:endParaRPr lang="zh-TW" altLang="en-US" dirty="0"/>
          </a:p>
        </p:txBody>
      </p:sp>
      <p:pic>
        <p:nvPicPr>
          <p:cNvPr id="10242" name="Picture 2" descr="https://1.bp.blogspot.com/-sn-i6l4CK44/V8vf6zrbj8I/AAAAAAAABG0/KcTnFzitz4UsTMfJS-jAlQ6Ik-KpMlpvwCEw/s640/deep_cop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348880"/>
            <a:ext cx="7032104" cy="421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843808" y="5733256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187624" y="3933056"/>
            <a:ext cx="136815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4488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Extend </a:t>
            </a:r>
            <a:r>
              <a:rPr lang="en-US" altLang="zh-TW" dirty="0" smtClean="0"/>
              <a:t>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Definition of method can be written outside the body of class.</a:t>
            </a:r>
            <a:endParaRPr lang="zh-TW" altLang="en-US" sz="2400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016646"/>
            <a:ext cx="4981491" cy="4806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07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Fork and join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Fork-Join is scheme to create several processes and they parallel do their task at same time. </a:t>
            </a:r>
            <a:endParaRPr lang="zh-TW" altLang="en-US" sz="2800" dirty="0"/>
          </a:p>
        </p:txBody>
      </p:sp>
      <p:pic>
        <p:nvPicPr>
          <p:cNvPr id="4" name="Picture 2" descr="https://1.bp.blogspot.com/-5ilG43gKjQs/V5jjrMZFXmI/AAAAAAAABDM/MRSGkcXcEboe0S4pYK5H7tqMc99ejXTvwCLcB/s400/fork-join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758058"/>
            <a:ext cx="25431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45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Fork and </a:t>
            </a:r>
            <a:r>
              <a:rPr lang="en-US" altLang="zh-TW" dirty="0" smtClean="0"/>
              <a:t>Join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Example of Fork-join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407518"/>
            <a:ext cx="4199149" cy="386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869160"/>
            <a:ext cx="409575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089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Fork and Join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Fork-</a:t>
            </a:r>
            <a:r>
              <a:rPr lang="en-US" altLang="zh-TW" dirty="0" err="1" smtClean="0"/>
              <a:t>Join_any</a:t>
            </a:r>
            <a:endParaRPr lang="en-US" altLang="zh-TW" dirty="0"/>
          </a:p>
          <a:p>
            <a:pPr lvl="1"/>
            <a:r>
              <a:rPr lang="en-US" altLang="zh-TW" dirty="0" smtClean="0"/>
              <a:t>Fork-</a:t>
            </a:r>
            <a:r>
              <a:rPr lang="en-US" altLang="zh-TW" dirty="0" err="1" smtClean="0"/>
              <a:t>Join_any</a:t>
            </a:r>
            <a:r>
              <a:rPr lang="en-US" altLang="zh-TW" dirty="0" smtClean="0"/>
              <a:t> </a:t>
            </a:r>
            <a:r>
              <a:rPr lang="en-US" altLang="zh-TW" dirty="0"/>
              <a:t>will be un-blocked after the completion of any of the Process.</a:t>
            </a:r>
            <a:endParaRPr lang="zh-TW" altLang="en-US" dirty="0"/>
          </a:p>
        </p:txBody>
      </p:sp>
      <p:pic>
        <p:nvPicPr>
          <p:cNvPr id="1026" name="Picture 2" descr="SystemVerilog Fork Join any 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924944"/>
            <a:ext cx="25431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56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Fork and Join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Example of Fork-</a:t>
            </a:r>
            <a:r>
              <a:rPr lang="en-US" altLang="zh-TW" dirty="0" err="1" smtClean="0"/>
              <a:t>Join_any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04864"/>
            <a:ext cx="4608512" cy="4283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105" y="4797152"/>
            <a:ext cx="3742203" cy="167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9476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Fork and Join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</a:t>
            </a:r>
            <a:r>
              <a:rPr lang="en-US" altLang="zh-TW" dirty="0" smtClean="0"/>
              <a:t>ork </a:t>
            </a:r>
            <a:r>
              <a:rPr lang="en-US" altLang="zh-TW" dirty="0" err="1"/>
              <a:t>join_none</a:t>
            </a:r>
            <a:r>
              <a:rPr lang="en-US" altLang="zh-TW" dirty="0"/>
              <a:t> </a:t>
            </a:r>
          </a:p>
          <a:p>
            <a:pPr lvl="1"/>
            <a:r>
              <a:rPr lang="en-US" altLang="zh-TW" sz="2000" dirty="0"/>
              <a:t>As in case of </a:t>
            </a:r>
            <a:r>
              <a:rPr lang="en-US" altLang="zh-TW" sz="2000" i="1" dirty="0"/>
              <a:t>Fork-Join</a:t>
            </a:r>
            <a:r>
              <a:rPr lang="en-US" altLang="zh-TW" sz="2000" dirty="0"/>
              <a:t> and </a:t>
            </a:r>
            <a:r>
              <a:rPr lang="en-US" altLang="zh-TW" sz="2000" i="1" dirty="0"/>
              <a:t>Fork-</a:t>
            </a:r>
            <a:r>
              <a:rPr lang="en-US" altLang="zh-TW" sz="2000" i="1" dirty="0" err="1"/>
              <a:t>Join_any</a:t>
            </a:r>
            <a:r>
              <a:rPr lang="en-US" altLang="zh-TW" sz="2000" dirty="0"/>
              <a:t> fork block is blocking, but in case of </a:t>
            </a:r>
            <a:r>
              <a:rPr lang="en-US" altLang="zh-TW" sz="2000" i="1" dirty="0"/>
              <a:t>Fork-</a:t>
            </a:r>
            <a:r>
              <a:rPr lang="en-US" altLang="zh-TW" sz="2000" i="1" dirty="0" err="1"/>
              <a:t>Join_none</a:t>
            </a:r>
            <a:r>
              <a:rPr lang="en-US" altLang="zh-TW" sz="2000" dirty="0"/>
              <a:t> fork block will be </a:t>
            </a:r>
            <a:r>
              <a:rPr lang="en-US" altLang="zh-TW" sz="2000" dirty="0" smtClean="0"/>
              <a:t>non-blocking.</a:t>
            </a:r>
          </a:p>
          <a:p>
            <a:pPr lvl="1"/>
            <a:r>
              <a:rPr lang="en-US" altLang="zh-TW" sz="2000" dirty="0" smtClean="0"/>
              <a:t>Processes </a:t>
            </a:r>
            <a:r>
              <a:rPr lang="en-US" altLang="zh-TW" sz="2000" dirty="0"/>
              <a:t>inside the fork-</a:t>
            </a:r>
            <a:r>
              <a:rPr lang="en-US" altLang="zh-TW" sz="2000" dirty="0" err="1"/>
              <a:t>join_none</a:t>
            </a:r>
            <a:r>
              <a:rPr lang="en-US" altLang="zh-TW" sz="2000" dirty="0"/>
              <a:t> block will be started at the same time, fork block will not wait for the completion of Process inside the fork-</a:t>
            </a:r>
            <a:r>
              <a:rPr lang="en-US" altLang="zh-TW" sz="2000" dirty="0" err="1"/>
              <a:t>join_none</a:t>
            </a:r>
            <a:r>
              <a:rPr lang="en-US" altLang="zh-TW" sz="2000" dirty="0"/>
              <a:t>.</a:t>
            </a:r>
          </a:p>
          <a:p>
            <a:endParaRPr lang="zh-TW" altLang="en-US" dirty="0"/>
          </a:p>
        </p:txBody>
      </p:sp>
      <p:pic>
        <p:nvPicPr>
          <p:cNvPr id="5122" name="Picture 2" descr="https://1.bp.blogspot.com/-B5x8q0Rtbqw/V6nufxgW4AI/AAAAAAAABEk/9khEYAw1utkR5Bj8PaIBNqLBcRcZT5PngCPcB/s400/fork-join_non2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3501008"/>
            <a:ext cx="25431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56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Fork and Join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Example of </a:t>
            </a:r>
            <a:r>
              <a:rPr lang="en-US" altLang="zh-TW" dirty="0"/>
              <a:t>fork </a:t>
            </a:r>
            <a:r>
              <a:rPr lang="en-US" altLang="zh-TW" dirty="0" err="1"/>
              <a:t>join_none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2132856"/>
            <a:ext cx="6380609" cy="4713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50" y="4869160"/>
            <a:ext cx="31813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97268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Clocking – Clocking block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268760"/>
            <a:ext cx="5040560" cy="5532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83288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Clocking – Clocking block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6443"/>
            <a:ext cx="6905625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37044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Default clocking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133350"/>
            <a:ext cx="7267575" cy="659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3203848" y="5094476"/>
            <a:ext cx="516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The unit of delay can be applied in “default clocking” </a:t>
            </a:r>
            <a:endParaRPr lang="zh-TW" altLang="en-US" dirty="0"/>
          </a:p>
        </p:txBody>
      </p:sp>
      <p:cxnSp>
        <p:nvCxnSpPr>
          <p:cNvPr id="6" name="直線單箭頭接點 5"/>
          <p:cNvCxnSpPr/>
          <p:nvPr/>
        </p:nvCxnSpPr>
        <p:spPr>
          <a:xfrm flipH="1" flipV="1">
            <a:off x="2195736" y="4653136"/>
            <a:ext cx="1008112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828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-6052"/>
            <a:ext cx="8229600" cy="1143000"/>
          </a:xfrm>
        </p:spPr>
        <p:txBody>
          <a:bodyPr/>
          <a:lstStyle/>
          <a:p>
            <a:r>
              <a:rPr lang="en-US" altLang="zh-TW" dirty="0" err="1" smtClean="0"/>
              <a:t>modport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08696"/>
            <a:ext cx="3898776" cy="5217468"/>
          </a:xfrm>
        </p:spPr>
        <p:txBody>
          <a:bodyPr>
            <a:normAutofit/>
          </a:bodyPr>
          <a:lstStyle/>
          <a:p>
            <a:r>
              <a:rPr lang="en-US" altLang="zh-TW" sz="2000" dirty="0" smtClean="0"/>
              <a:t>This gives an example to illustrate the </a:t>
            </a:r>
            <a:r>
              <a:rPr lang="en-US" altLang="zh-TW" sz="2000" dirty="0" err="1" smtClean="0"/>
              <a:t>modport</a:t>
            </a:r>
            <a:r>
              <a:rPr lang="en-US" altLang="zh-TW" sz="2000" dirty="0" smtClean="0"/>
              <a:t>. The signals in this interface can be reorganized as each </a:t>
            </a:r>
            <a:r>
              <a:rPr lang="en-US" altLang="zh-TW" sz="2000" dirty="0" err="1" smtClean="0"/>
              <a:t>modports</a:t>
            </a:r>
            <a:r>
              <a:rPr lang="en-US" altLang="zh-TW" sz="2000" dirty="0" smtClean="0"/>
              <a:t>. This can increase the reused ability for RTL code.</a:t>
            </a:r>
            <a:endParaRPr lang="zh-TW" alt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805" y="836712"/>
            <a:ext cx="4695825" cy="596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07504" y="602128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http://www.asic-world.com/systemverilog/interface3.html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714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@16 October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671872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Verification Plan using SV</a:t>
            </a:r>
          </a:p>
          <a:p>
            <a:pPr lvl="1"/>
            <a:r>
              <a:rPr lang="en-US" altLang="zh-TW" dirty="0" smtClean="0"/>
              <a:t>Overview</a:t>
            </a:r>
          </a:p>
          <a:p>
            <a:pPr lvl="1"/>
            <a:r>
              <a:rPr lang="en-US" altLang="zh-TW" dirty="0" smtClean="0"/>
              <a:t>Feature </a:t>
            </a:r>
            <a:r>
              <a:rPr lang="en-US" altLang="zh-TW" dirty="0"/>
              <a:t>Extraction </a:t>
            </a:r>
          </a:p>
          <a:p>
            <a:pPr lvl="1"/>
            <a:r>
              <a:rPr lang="en-US" altLang="zh-TW" dirty="0" smtClean="0"/>
              <a:t>Stimulus </a:t>
            </a:r>
            <a:r>
              <a:rPr lang="en-US" altLang="zh-TW" dirty="0"/>
              <a:t>Generation Plan </a:t>
            </a:r>
          </a:p>
          <a:p>
            <a:pPr lvl="1"/>
            <a:r>
              <a:rPr lang="en-US" altLang="zh-TW" dirty="0"/>
              <a:t>Coverage Plan </a:t>
            </a:r>
            <a:endParaRPr lang="en-US" altLang="zh-TW" dirty="0" smtClean="0"/>
          </a:p>
          <a:p>
            <a:pPr lvl="1"/>
            <a:r>
              <a:rPr lang="en-US" altLang="zh-TW" dirty="0"/>
              <a:t>Verification Environment </a:t>
            </a:r>
          </a:p>
        </p:txBody>
      </p:sp>
      <p:sp>
        <p:nvSpPr>
          <p:cNvPr id="4" name="矩形 3"/>
          <p:cNvSpPr/>
          <p:nvPr/>
        </p:nvSpPr>
        <p:spPr>
          <a:xfrm>
            <a:off x="2987824" y="6309320"/>
            <a:ext cx="5958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http://www.testbench.in/SL_03_VERIFICATION_PLAN.html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768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r>
              <a:rPr lang="en-US" altLang="zh-TW" sz="2000" dirty="0" smtClean="0"/>
              <a:t>The following figure gives an example to explain the verification plan. We may refer to this example to create out verification environment. </a:t>
            </a:r>
            <a:endParaRPr lang="zh-TW" altLang="en-US" sz="2000" dirty="0"/>
          </a:p>
        </p:txBody>
      </p:sp>
      <p:pic>
        <p:nvPicPr>
          <p:cNvPr id="16386" name="Picture 2" descr="http://www.testbench.in/FILES/switch_du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24" y="3236168"/>
            <a:ext cx="38100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http://www.testbench.in/FILES/switch_packe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236168"/>
            <a:ext cx="20383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899592" y="1951672"/>
            <a:ext cx="66784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DA</a:t>
            </a:r>
            <a:r>
              <a:rPr lang="en-US" altLang="zh-TW" dirty="0"/>
              <a:t>: Destination address of the packet </a:t>
            </a:r>
            <a:endParaRPr lang="en-US" altLang="zh-TW" dirty="0" smtClean="0"/>
          </a:p>
          <a:p>
            <a:r>
              <a:rPr lang="en-US" altLang="zh-TW" dirty="0" smtClean="0"/>
              <a:t>SA</a:t>
            </a:r>
            <a:r>
              <a:rPr lang="en-US" altLang="zh-TW" dirty="0"/>
              <a:t>: Source address of </a:t>
            </a:r>
            <a:r>
              <a:rPr lang="en-US" altLang="zh-TW" dirty="0" smtClean="0"/>
              <a:t>the packet</a:t>
            </a:r>
            <a:endParaRPr lang="en-US" altLang="zh-TW" dirty="0"/>
          </a:p>
          <a:p>
            <a:r>
              <a:rPr lang="en-US" altLang="zh-TW" dirty="0" smtClean="0"/>
              <a:t>Length</a:t>
            </a:r>
            <a:r>
              <a:rPr lang="en-US" altLang="zh-TW" dirty="0"/>
              <a:t>: Length of the data </a:t>
            </a:r>
            <a:r>
              <a:rPr lang="en-US" altLang="zh-TW" dirty="0" smtClean="0"/>
              <a:t>: </a:t>
            </a:r>
            <a:r>
              <a:rPr lang="en-US" altLang="zh-TW" dirty="0"/>
              <a:t>from 0 to </a:t>
            </a:r>
            <a:r>
              <a:rPr lang="en-US" altLang="zh-TW" dirty="0" smtClean="0"/>
              <a:t>255 (Unit: Byte)</a:t>
            </a:r>
            <a:endParaRPr lang="en-US" altLang="zh-TW" dirty="0"/>
          </a:p>
          <a:p>
            <a:r>
              <a:rPr lang="en-US" altLang="zh-TW" dirty="0" smtClean="0"/>
              <a:t>Data</a:t>
            </a:r>
            <a:r>
              <a:rPr lang="en-US" altLang="zh-TW" dirty="0"/>
              <a:t>: Data should be in terms of bytes and can take anything. </a:t>
            </a:r>
          </a:p>
          <a:p>
            <a:r>
              <a:rPr lang="en-US" altLang="zh-TW" dirty="0" smtClean="0"/>
              <a:t>FCS</a:t>
            </a:r>
            <a:r>
              <a:rPr lang="en-US" altLang="zh-TW" dirty="0"/>
              <a:t>: Frame check sequence </a:t>
            </a:r>
            <a:r>
              <a:rPr lang="en-US" altLang="zh-TW" dirty="0" smtClean="0"/>
              <a:t>(CRC)</a:t>
            </a:r>
            <a:endParaRPr lang="en-US" altLang="zh-TW" dirty="0"/>
          </a:p>
        </p:txBody>
      </p:sp>
      <p:sp>
        <p:nvSpPr>
          <p:cNvPr id="7" name="文字方塊 6"/>
          <p:cNvSpPr txBox="1"/>
          <p:nvPr/>
        </p:nvSpPr>
        <p:spPr>
          <a:xfrm>
            <a:off x="2771800" y="6491322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DUT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592463" y="3428999"/>
            <a:ext cx="2471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Setting of </a:t>
            </a:r>
            <a:r>
              <a:rPr lang="en-US" altLang="zh-TW" dirty="0" err="1" smtClean="0">
                <a:solidFill>
                  <a:schemeClr val="accent1">
                    <a:lumMod val="75000"/>
                  </a:schemeClr>
                </a:solidFill>
              </a:rPr>
              <a:t>Dest</a:t>
            </a:r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. Address </a:t>
            </a:r>
          </a:p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for Port 0 to 3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1043608" y="4642177"/>
            <a:ext cx="1355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Input packet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716016" y="4980359"/>
            <a:ext cx="1527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Output packet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602698" y="6417518"/>
            <a:ext cx="1721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Packet Structure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01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Memory </a:t>
            </a:r>
            <a:r>
              <a:rPr lang="en-US" altLang="zh-TW" sz="2400" dirty="0" smtClean="0"/>
              <a:t>Interface</a:t>
            </a:r>
          </a:p>
          <a:p>
            <a:endParaRPr lang="en-US" altLang="zh-TW" sz="2400" dirty="0"/>
          </a:p>
          <a:p>
            <a:endParaRPr lang="en-US" altLang="zh-TW" sz="2400" dirty="0" smtClean="0"/>
          </a:p>
          <a:p>
            <a:endParaRPr lang="en-US" altLang="zh-TW" sz="2400" dirty="0"/>
          </a:p>
          <a:p>
            <a:r>
              <a:rPr lang="en-US" altLang="zh-TW" sz="2000" dirty="0" err="1"/>
              <a:t>m</a:t>
            </a:r>
            <a:r>
              <a:rPr lang="en-US" altLang="zh-TW" sz="2000" dirty="0" err="1" smtClean="0"/>
              <a:t>em_add</a:t>
            </a:r>
            <a:r>
              <a:rPr lang="en-US" altLang="zh-TW" sz="2000" dirty="0" smtClean="0"/>
              <a:t>[0 to 3] represent  the Port 0 to 3</a:t>
            </a:r>
          </a:p>
          <a:p>
            <a:r>
              <a:rPr lang="en-US" altLang="zh-TW" sz="2000" dirty="0" err="1" smtClean="0"/>
              <a:t>mem_data</a:t>
            </a:r>
            <a:r>
              <a:rPr lang="en-US" altLang="zh-TW" sz="2000" dirty="0" smtClean="0"/>
              <a:t> means the </a:t>
            </a:r>
            <a:r>
              <a:rPr lang="en-US" altLang="zh-TW" sz="2000" dirty="0" err="1" smtClean="0"/>
              <a:t>Dest</a:t>
            </a:r>
            <a:r>
              <a:rPr lang="en-US" altLang="zh-TW" sz="2000" dirty="0" smtClean="0"/>
              <a:t>. Address (DA)for the Port.</a:t>
            </a:r>
          </a:p>
          <a:p>
            <a:r>
              <a:rPr lang="en-US" altLang="zh-TW" sz="2000" dirty="0" smtClean="0"/>
              <a:t>The following waveform shows the DAs for Port 0 to 3 </a:t>
            </a:r>
          </a:p>
          <a:p>
            <a:pPr marL="0" indent="0">
              <a:buNone/>
            </a:pPr>
            <a:r>
              <a:rPr lang="en-US" altLang="zh-TW" sz="2000" dirty="0"/>
              <a:t> </a:t>
            </a:r>
            <a:r>
              <a:rPr lang="en-US" altLang="zh-TW" sz="2000" dirty="0" smtClean="0"/>
              <a:t>     are 0x05, 0x03, 0x00, 0xf1</a:t>
            </a:r>
            <a:endParaRPr lang="zh-TW" altLang="en-US" sz="28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60848"/>
            <a:ext cx="21717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010869"/>
            <a:ext cx="69056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http://www.testbench.in/FILES/switch_packe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1124744"/>
            <a:ext cx="20383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7020272" y="1628800"/>
            <a:ext cx="189433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36163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Input Port </a:t>
            </a:r>
          </a:p>
          <a:p>
            <a:endParaRPr lang="en-US" altLang="zh-TW" sz="2400" dirty="0" smtClean="0"/>
          </a:p>
          <a:p>
            <a:pPr marL="0" indent="0">
              <a:buNone/>
            </a:pPr>
            <a:endParaRPr lang="en-US" altLang="zh-TW" sz="2400" dirty="0" smtClean="0"/>
          </a:p>
          <a:p>
            <a:r>
              <a:rPr lang="en-US" altLang="zh-TW" sz="2400" dirty="0" smtClean="0"/>
              <a:t>A complete packet. </a:t>
            </a:r>
          </a:p>
          <a:p>
            <a:r>
              <a:rPr lang="en-US" altLang="zh-TW" sz="2400" dirty="0" smtClean="0"/>
              <a:t>The “05” is the </a:t>
            </a:r>
            <a:r>
              <a:rPr lang="en-US" altLang="zh-TW" sz="2400" dirty="0" err="1" smtClean="0"/>
              <a:t>Dest</a:t>
            </a:r>
            <a:r>
              <a:rPr lang="en-US" altLang="zh-TW" sz="2400" dirty="0" smtClean="0"/>
              <a:t>. Address. </a:t>
            </a:r>
          </a:p>
          <a:p>
            <a:r>
              <a:rPr lang="en-US" altLang="zh-TW" sz="2400" dirty="0" smtClean="0"/>
              <a:t>According to the pervious slide. This packet will </a:t>
            </a:r>
          </a:p>
          <a:p>
            <a:pPr marL="0" indent="0">
              <a:buNone/>
            </a:pPr>
            <a:r>
              <a:rPr lang="en-US" altLang="zh-TW" sz="2400" dirty="0" smtClean="0"/>
              <a:t>     be sent to Port 0 </a:t>
            </a:r>
          </a:p>
        </p:txBody>
      </p:sp>
      <p:pic>
        <p:nvPicPr>
          <p:cNvPr id="6" name="Picture 4" descr="http://www.testbench.in/FILES/switch_pack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1124744"/>
            <a:ext cx="20383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60848"/>
            <a:ext cx="18669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92" y="4869160"/>
            <a:ext cx="625792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6768026" y="1628800"/>
            <a:ext cx="39626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05</a:t>
            </a:r>
          </a:p>
          <a:p>
            <a:r>
              <a:rPr lang="en-US" altLang="zh-TW" sz="1600" dirty="0" smtClean="0"/>
              <a:t>9f</a:t>
            </a:r>
          </a:p>
          <a:p>
            <a:r>
              <a:rPr lang="en-US" altLang="zh-TW" sz="1600" dirty="0" smtClean="0"/>
              <a:t>05</a:t>
            </a:r>
          </a:p>
          <a:p>
            <a:r>
              <a:rPr lang="en-US" altLang="zh-TW" sz="1600" dirty="0" smtClean="0"/>
              <a:t>09</a:t>
            </a:r>
          </a:p>
          <a:p>
            <a:r>
              <a:rPr lang="en-US" altLang="zh-TW" sz="1600" dirty="0" smtClean="0"/>
              <a:t>05</a:t>
            </a:r>
          </a:p>
          <a:p>
            <a:r>
              <a:rPr lang="en-US" altLang="zh-TW" sz="1600" dirty="0"/>
              <a:t>b</a:t>
            </a:r>
            <a:r>
              <a:rPr lang="en-US" altLang="zh-TW" sz="1600" dirty="0" smtClean="0"/>
              <a:t>e</a:t>
            </a:r>
          </a:p>
          <a:p>
            <a:r>
              <a:rPr lang="en-US" altLang="zh-TW" sz="1600" dirty="0" smtClean="0"/>
              <a:t>d5</a:t>
            </a:r>
          </a:p>
          <a:p>
            <a:r>
              <a:rPr lang="en-US" altLang="zh-TW" sz="1600" dirty="0" smtClean="0"/>
              <a:t>d1</a:t>
            </a:r>
          </a:p>
        </p:txBody>
      </p:sp>
    </p:spTree>
    <p:extLst>
      <p:ext uri="{BB962C8B-B14F-4D97-AF65-F5344CB8AC3E}">
        <p14:creationId xmlns:p14="http://schemas.microsoft.com/office/powerpoint/2010/main" val="79256422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Output Port</a:t>
            </a:r>
            <a:endParaRPr lang="zh-TW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35" y="2204864"/>
            <a:ext cx="1575944" cy="239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35" y="4869160"/>
            <a:ext cx="5926782" cy="1275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260619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Feature Extraction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500" dirty="0"/>
              <a:t>This section contains list of all the features to be </a:t>
            </a:r>
            <a:r>
              <a:rPr lang="en-US" altLang="zh-TW" sz="1500" dirty="0" smtClean="0"/>
              <a:t>verified</a:t>
            </a:r>
          </a:p>
          <a:p>
            <a:pPr lvl="1"/>
            <a:r>
              <a:rPr lang="en-US" altLang="zh-TW" sz="1500" dirty="0"/>
              <a:t>ID: Configuration </a:t>
            </a:r>
          </a:p>
          <a:p>
            <a:pPr lvl="2"/>
            <a:r>
              <a:rPr lang="en-US" altLang="zh-TW" sz="1500" dirty="0"/>
              <a:t>Description: DA field of packet should be any of the port address. All the 4 port address should be used. </a:t>
            </a:r>
            <a:endParaRPr lang="en-US" altLang="zh-TW" sz="1500" dirty="0" smtClean="0"/>
          </a:p>
          <a:p>
            <a:pPr lvl="1"/>
            <a:r>
              <a:rPr lang="en-US" altLang="zh-TW" sz="1500" dirty="0"/>
              <a:t>ID: Packet DA </a:t>
            </a:r>
          </a:p>
          <a:p>
            <a:pPr lvl="2"/>
            <a:r>
              <a:rPr lang="en-US" altLang="zh-TW" sz="1500" dirty="0" smtClean="0"/>
              <a:t>DA </a:t>
            </a:r>
            <a:r>
              <a:rPr lang="en-US" altLang="zh-TW" sz="1500" dirty="0"/>
              <a:t>field of packet should be any of the port address. All the 4 port address should be used. </a:t>
            </a:r>
          </a:p>
          <a:p>
            <a:pPr lvl="1"/>
            <a:r>
              <a:rPr lang="en-US" altLang="zh-TW" sz="1500" dirty="0"/>
              <a:t>ID : Packet payload </a:t>
            </a:r>
          </a:p>
          <a:p>
            <a:pPr lvl="2"/>
            <a:r>
              <a:rPr lang="en-US" altLang="zh-TW" sz="1500" dirty="0" smtClean="0"/>
              <a:t>Length </a:t>
            </a:r>
            <a:r>
              <a:rPr lang="en-US" altLang="zh-TW" sz="1500" dirty="0"/>
              <a:t>can be from 0 to 255. Send packets with all the lengths. </a:t>
            </a:r>
          </a:p>
          <a:p>
            <a:pPr lvl="1"/>
            <a:r>
              <a:rPr lang="en-US" altLang="zh-TW" sz="1500" dirty="0"/>
              <a:t>ID: Length </a:t>
            </a:r>
          </a:p>
          <a:p>
            <a:pPr lvl="2"/>
            <a:r>
              <a:rPr lang="en-US" altLang="zh-TW" sz="1500" dirty="0" smtClean="0"/>
              <a:t>Length </a:t>
            </a:r>
            <a:r>
              <a:rPr lang="en-US" altLang="zh-TW" sz="1500" dirty="0"/>
              <a:t>field contains length of the payload. </a:t>
            </a:r>
            <a:r>
              <a:rPr lang="en-US" altLang="zh-TW" sz="1500" dirty="0" smtClean="0"/>
              <a:t> </a:t>
            </a:r>
          </a:p>
          <a:p>
            <a:pPr lvl="2"/>
            <a:r>
              <a:rPr lang="en-US" altLang="zh-TW" sz="1500" dirty="0" smtClean="0"/>
              <a:t>Send </a:t>
            </a:r>
            <a:r>
              <a:rPr lang="en-US" altLang="zh-TW" sz="1500" dirty="0"/>
              <a:t>Packet with correct length field and incorrect length fields. </a:t>
            </a:r>
          </a:p>
          <a:p>
            <a:pPr lvl="1"/>
            <a:r>
              <a:rPr lang="en-US" altLang="zh-TW" sz="1500" dirty="0"/>
              <a:t>ID: FCS </a:t>
            </a:r>
          </a:p>
          <a:p>
            <a:pPr lvl="2"/>
            <a:r>
              <a:rPr lang="en-US" altLang="zh-TW" sz="1500" dirty="0" smtClean="0"/>
              <a:t>Good </a:t>
            </a:r>
            <a:r>
              <a:rPr lang="en-US" altLang="zh-TW" sz="1500" dirty="0"/>
              <a:t>FCS: Send packet with good FCS. </a:t>
            </a:r>
            <a:r>
              <a:rPr lang="en-US" altLang="zh-TW" sz="1500" dirty="0" smtClean="0"/>
              <a:t> </a:t>
            </a:r>
          </a:p>
          <a:p>
            <a:pPr lvl="2"/>
            <a:r>
              <a:rPr lang="en-US" altLang="zh-TW" sz="1500" dirty="0" smtClean="0"/>
              <a:t>Bad </a:t>
            </a:r>
            <a:r>
              <a:rPr lang="en-US" altLang="zh-TW" sz="1500" dirty="0"/>
              <a:t>FCS: Send packet with corrupted FCS.</a:t>
            </a:r>
            <a:endParaRPr lang="en-US" altLang="zh-TW" sz="1500" dirty="0" smtClean="0"/>
          </a:p>
          <a:p>
            <a:pPr lvl="1"/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204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Stimulus Generation Plan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Packet </a:t>
            </a:r>
            <a:r>
              <a:rPr lang="en-US" altLang="zh-TW" sz="2400" dirty="0"/>
              <a:t>DA: Generate packet DA with the configured address. </a:t>
            </a:r>
          </a:p>
          <a:p>
            <a:r>
              <a:rPr lang="en-US" altLang="zh-TW" sz="2400" dirty="0" smtClean="0"/>
              <a:t>Payload </a:t>
            </a:r>
            <a:r>
              <a:rPr lang="en-US" altLang="zh-TW" sz="2400" dirty="0"/>
              <a:t>length: generate payload length ranging from 2 to 255. </a:t>
            </a:r>
          </a:p>
          <a:p>
            <a:r>
              <a:rPr lang="en-US" altLang="zh-TW" sz="2400" dirty="0" smtClean="0"/>
              <a:t>Correct </a:t>
            </a:r>
            <a:r>
              <a:rPr lang="en-US" altLang="zh-TW" sz="2400" dirty="0"/>
              <a:t>or Incorrect Length field. </a:t>
            </a:r>
          </a:p>
          <a:p>
            <a:r>
              <a:rPr lang="en-US" altLang="zh-TW" sz="2400" dirty="0" smtClean="0"/>
              <a:t>Generate </a:t>
            </a:r>
            <a:r>
              <a:rPr lang="en-US" altLang="zh-TW" sz="2400" dirty="0"/>
              <a:t>good and bad FCS.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4535753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Coverage Plan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Cover </a:t>
            </a:r>
            <a:r>
              <a:rPr lang="en-US" altLang="zh-TW" sz="2400" dirty="0"/>
              <a:t>all the port address configurations. </a:t>
            </a:r>
          </a:p>
          <a:p>
            <a:r>
              <a:rPr lang="en-US" altLang="zh-TW" sz="2400" dirty="0" smtClean="0"/>
              <a:t>Cover </a:t>
            </a:r>
            <a:r>
              <a:rPr lang="en-US" altLang="zh-TW" sz="2400" dirty="0"/>
              <a:t>all the packet lengths. </a:t>
            </a:r>
          </a:p>
          <a:p>
            <a:r>
              <a:rPr lang="en-US" altLang="zh-TW" sz="2400" dirty="0" smtClean="0"/>
              <a:t>Cover </a:t>
            </a:r>
            <a:r>
              <a:rPr lang="en-US" altLang="zh-TW" sz="2400" dirty="0"/>
              <a:t>all correct and incorrect length fields. </a:t>
            </a:r>
          </a:p>
          <a:p>
            <a:r>
              <a:rPr lang="en-US" altLang="zh-TW" sz="2400" dirty="0" smtClean="0"/>
              <a:t>Cover </a:t>
            </a:r>
            <a:r>
              <a:rPr lang="en-US" altLang="zh-TW" sz="2400" dirty="0"/>
              <a:t>good and bad FCS. </a:t>
            </a:r>
          </a:p>
          <a:p>
            <a:r>
              <a:rPr lang="en-US" altLang="zh-TW" sz="2400" dirty="0" smtClean="0"/>
              <a:t>Cover </a:t>
            </a:r>
            <a:r>
              <a:rPr lang="en-US" altLang="zh-TW" sz="2400" dirty="0"/>
              <a:t>all the above combinations.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7130510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Verification Environment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482" name="Picture 2" descr="http://www.testbench.in/FILES/switch_en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908820"/>
            <a:ext cx="573405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97646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@26 October 2018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576164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Some Perl Notice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Perl </a:t>
            </a:r>
            <a:r>
              <a:rPr lang="en-US" altLang="zh-TW" dirty="0" smtClean="0"/>
              <a:t>symbols</a:t>
            </a:r>
          </a:p>
          <a:p>
            <a:pPr lvl="1"/>
            <a:r>
              <a:rPr lang="en-US" altLang="zh-TW" dirty="0" smtClean="0"/>
              <a:t>$variable</a:t>
            </a:r>
          </a:p>
          <a:p>
            <a:pPr lvl="1"/>
            <a:r>
              <a:rPr lang="en-US" altLang="zh-TW" dirty="0" smtClean="0"/>
              <a:t>@array</a:t>
            </a:r>
          </a:p>
          <a:p>
            <a:pPr lvl="1"/>
            <a:r>
              <a:rPr lang="en-US" altLang="zh-TW" dirty="0" smtClean="0"/>
              <a:t>%hash</a:t>
            </a:r>
          </a:p>
          <a:p>
            <a:pPr lvl="1"/>
            <a:r>
              <a:rPr lang="en-US" altLang="zh-TW" dirty="0" smtClean="0"/>
              <a:t>() -&gt;  array , e.g. ( “a”, “b”)</a:t>
            </a:r>
          </a:p>
          <a:p>
            <a:pPr lvl="1"/>
            <a:r>
              <a:rPr lang="en-US" altLang="zh-TW" dirty="0" smtClean="0"/>
              <a:t>[] -&gt; a address of array </a:t>
            </a:r>
            <a:r>
              <a:rPr lang="en-US" altLang="zh-TW" dirty="0" err="1" smtClean="0"/>
              <a:t>e.g</a:t>
            </a:r>
            <a:r>
              <a:rPr lang="en-US" altLang="zh-TW" dirty="0" smtClean="0"/>
              <a:t>, [452,”f1”]</a:t>
            </a:r>
          </a:p>
          <a:p>
            <a:pPr lvl="1"/>
            <a:r>
              <a:rPr lang="en-US" altLang="zh-TW" dirty="0" smtClean="0"/>
              <a:t>{} -&gt; a hash element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518678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Some Perl Notice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Check File exist</a:t>
            </a:r>
          </a:p>
          <a:p>
            <a:endParaRPr lang="en-US" altLang="zh-TW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76872"/>
            <a:ext cx="7157595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482839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@14 Jan. 2019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836562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LEC R2PRE notice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Two Phases</a:t>
            </a:r>
          </a:p>
          <a:p>
            <a:pPr lvl="1"/>
            <a:r>
              <a:rPr lang="en-US" altLang="zh-TW" dirty="0" smtClean="0"/>
              <a:t>'</a:t>
            </a:r>
            <a:r>
              <a:rPr lang="en-US" altLang="zh-TW" dirty="0" err="1" smtClean="0"/>
              <a:t>fv_map</a:t>
            </a:r>
            <a:r>
              <a:rPr lang="en-US" altLang="zh-TW" dirty="0"/>
              <a:t>' netlist vs. revised netlist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RTL vs.  '</a:t>
            </a:r>
            <a:r>
              <a:rPr lang="en-US" altLang="zh-TW" dirty="0" err="1" smtClean="0"/>
              <a:t>fv_map</a:t>
            </a:r>
            <a:r>
              <a:rPr lang="en-US" altLang="zh-TW" dirty="0" smtClean="0"/>
              <a:t>' netlist.</a:t>
            </a:r>
          </a:p>
          <a:p>
            <a:r>
              <a:rPr lang="en-US" altLang="zh-TW" dirty="0" smtClean="0"/>
              <a:t>Two phases have to tie 0.</a:t>
            </a:r>
          </a:p>
          <a:p>
            <a:pPr lvl="1"/>
            <a:r>
              <a:rPr lang="en-US" altLang="zh-TW" dirty="0" err="1" smtClean="0"/>
              <a:t>fv_map</a:t>
            </a:r>
            <a:r>
              <a:rPr lang="en-US" altLang="zh-TW" dirty="0" smtClean="0"/>
              <a:t> netlist is </a:t>
            </a:r>
            <a:r>
              <a:rPr lang="en-US" altLang="zh-TW" dirty="0" smtClean="0">
                <a:solidFill>
                  <a:srgbClr val="FF0000"/>
                </a:solidFill>
              </a:rPr>
              <a:t>an </a:t>
            </a:r>
            <a:r>
              <a:rPr lang="en-US" altLang="zh-TW" dirty="0">
                <a:solidFill>
                  <a:srgbClr val="FF0000"/>
                </a:solidFill>
              </a:rPr>
              <a:t>intermediate </a:t>
            </a:r>
            <a:r>
              <a:rPr lang="en-US" altLang="zh-TW" dirty="0" smtClean="0">
                <a:solidFill>
                  <a:srgbClr val="FF0000"/>
                </a:solidFill>
              </a:rPr>
              <a:t>netlist </a:t>
            </a:r>
            <a:r>
              <a:rPr lang="en-US" altLang="zh-TW" dirty="0" smtClean="0"/>
              <a:t>which already change DFF to SCAN DFF but the SE was a constant 0. </a:t>
            </a:r>
          </a:p>
          <a:p>
            <a:pPr lvl="1"/>
            <a:r>
              <a:rPr lang="en-US" altLang="zh-TW" dirty="0" smtClean="0"/>
              <a:t>We have to tie </a:t>
            </a:r>
            <a:r>
              <a:rPr lang="en-US" altLang="zh-TW" dirty="0" err="1" smtClean="0"/>
              <a:t>scan_mode</a:t>
            </a:r>
            <a:r>
              <a:rPr lang="en-US" altLang="zh-TW" dirty="0" smtClean="0"/>
              <a:t> to 0 in both revised and golden designs to avoid comparing fault.</a:t>
            </a:r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53341766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Basic concept of IR Drop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611560" y="2348880"/>
            <a:ext cx="7830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https://franejian.wordpress.com/2015/12/28/pi-basic-power-tree-ir-drop/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576885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Setup-hold timing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https://zhuanlan.zhihu.com/p/34253965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204069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Recording for wrong delay value setting 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00808"/>
            <a:ext cx="71342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560221"/>
            <a:ext cx="8127554" cy="4024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690806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Good link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zhuanlan.zhihu.com/p/35520466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35321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Material Sharing</a:t>
            </a:r>
            <a:br>
              <a:rPr lang="en-US" altLang="zh-TW" dirty="0" smtClean="0"/>
            </a:br>
            <a:r>
              <a:rPr lang="en-US" altLang="zh-TW" dirty="0" smtClean="0"/>
              <a:t>@25 Jan. 2019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Reporter: 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04198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 for System Verilog Assertion (SVA)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908464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 </a:t>
            </a:r>
            <a:r>
              <a:rPr lang="en-US" altLang="zh-TW" dirty="0" smtClean="0"/>
              <a:t>for SVA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What is Assertion?</a:t>
            </a:r>
          </a:p>
          <a:p>
            <a:pPr marL="457200" lvl="1" indent="0">
              <a:buNone/>
            </a:pPr>
            <a:r>
              <a:rPr lang="en-US" altLang="zh-TW" dirty="0"/>
              <a:t>https://zh.wikipedia.org/wiki/%E6%96%B7%E8%A8%80_(%E7%A8%8B%E5%BC%8F)</a:t>
            </a:r>
            <a:endParaRPr lang="en-US" altLang="zh-TW" dirty="0" smtClean="0"/>
          </a:p>
          <a:p>
            <a:r>
              <a:rPr lang="en-US" altLang="zh-TW" dirty="0" smtClean="0"/>
              <a:t>Pros for SVA</a:t>
            </a:r>
          </a:p>
          <a:p>
            <a:pPr lvl="1"/>
            <a:r>
              <a:rPr lang="en-US" altLang="zh-TW" sz="2400" dirty="0" smtClean="0"/>
              <a:t>More Simplified coding style than Verilog Assertion</a:t>
            </a:r>
          </a:p>
          <a:p>
            <a:pPr lvl="1"/>
            <a:r>
              <a:rPr lang="en-US" altLang="zh-TW" sz="2400" dirty="0" smtClean="0"/>
              <a:t>Easy to maintain and reuse</a:t>
            </a:r>
          </a:p>
          <a:p>
            <a:pPr lvl="1"/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499992" y="609329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https://wenku.baidu.com/view/4b9509154028915f814dc282.html?from=search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499992" y="544696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https://www.verificationguide.com/p/systemverilog-assertion-sequence.html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845848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Steps to create SVA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https://4.bp.blogspot.com/-u9AiqpmtQtg/VwdqWoesRYI/AAAAAAAAA5U/p0x1GyzhnKg1zvsI1MStiAaEvqxwEdcJQ/s320/built_in_mrthod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484785"/>
            <a:ext cx="3163400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65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of SVA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 descr="https://1.bp.blogspot.com/-BDKOmdl97wM/Vx-dHgz9SII/AAAAAAAAA7A/CCIwVtdbN-wZlIcvTygy6gxKy3sMy7myQCKgB/s640/a_or_b_assertion_animation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124744"/>
            <a:ext cx="60960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467544" y="4515644"/>
            <a:ext cx="374441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/>
              <a:t>Note :: sequence begins when signal "a" is high on a positive edge of the clock</a:t>
            </a:r>
            <a:r>
              <a:rPr lang="en-US" altLang="zh-TW" sz="1600" dirty="0" smtClean="0"/>
              <a:t>.</a:t>
            </a:r>
          </a:p>
          <a:p>
            <a:endParaRPr lang="en-US" altLang="zh-TW" sz="1600" dirty="0"/>
          </a:p>
          <a:p>
            <a:r>
              <a:rPr lang="en-US" altLang="zh-TW" sz="1600" dirty="0"/>
              <a:t>A clock can be specified in a sequence, in a property or even in an assert statement.</a:t>
            </a:r>
          </a:p>
          <a:p>
            <a:endParaRPr lang="en-US" altLang="zh-TW" sz="1600" dirty="0"/>
          </a:p>
          <a:p>
            <a:r>
              <a:rPr lang="en-US" altLang="zh-TW" sz="1600" dirty="0"/>
              <a:t>Clock defined in the property definition</a:t>
            </a:r>
            <a:r>
              <a:rPr lang="en-US" altLang="zh-TW" sz="1600" dirty="0" smtClean="0"/>
              <a:t>:</a:t>
            </a:r>
            <a:endParaRPr lang="en-US" altLang="zh-TW" sz="1600" dirty="0"/>
          </a:p>
        </p:txBody>
      </p:sp>
      <p:sp>
        <p:nvSpPr>
          <p:cNvPr id="6" name="矩形 5"/>
          <p:cNvSpPr/>
          <p:nvPr/>
        </p:nvSpPr>
        <p:spPr>
          <a:xfrm>
            <a:off x="4427984" y="4437112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sequence </a:t>
            </a:r>
            <a:r>
              <a:rPr lang="en-US" altLang="zh-TW" dirty="0" err="1"/>
              <a:t>seq</a:t>
            </a:r>
            <a:r>
              <a:rPr lang="en-US" altLang="zh-TW" dirty="0"/>
              <a:t>;</a:t>
            </a:r>
          </a:p>
          <a:p>
            <a:r>
              <a:rPr lang="en-US" altLang="zh-TW" dirty="0"/>
              <a:t>  a ##2 b;</a:t>
            </a:r>
          </a:p>
          <a:p>
            <a:r>
              <a:rPr lang="en-US" altLang="zh-TW" dirty="0" err="1"/>
              <a:t>endsequence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property p;</a:t>
            </a:r>
          </a:p>
          <a:p>
            <a:r>
              <a:rPr lang="en-US" altLang="zh-TW" dirty="0"/>
              <a:t>  @(</a:t>
            </a:r>
            <a:r>
              <a:rPr lang="en-US" altLang="zh-TW" dirty="0" err="1"/>
              <a:t>posedge</a:t>
            </a:r>
            <a:r>
              <a:rPr lang="en-US" altLang="zh-TW" dirty="0"/>
              <a:t> </a:t>
            </a:r>
            <a:r>
              <a:rPr lang="en-US" altLang="zh-TW" dirty="0" err="1"/>
              <a:t>clk</a:t>
            </a:r>
            <a:r>
              <a:rPr lang="en-US" altLang="zh-TW" dirty="0"/>
              <a:t>) </a:t>
            </a:r>
            <a:r>
              <a:rPr lang="en-US" altLang="zh-TW" dirty="0" err="1"/>
              <a:t>seq</a:t>
            </a:r>
            <a:r>
              <a:rPr lang="en-US" altLang="zh-TW" dirty="0"/>
              <a:t>;</a:t>
            </a:r>
          </a:p>
          <a:p>
            <a:r>
              <a:rPr lang="en-US" altLang="zh-TW" dirty="0" err="1"/>
              <a:t>endproperty</a:t>
            </a:r>
            <a:endParaRPr lang="en-US" altLang="zh-TW" dirty="0"/>
          </a:p>
          <a:p>
            <a:r>
              <a:rPr lang="en-US" altLang="zh-TW" dirty="0"/>
              <a:t>a_1 : assert property(p);</a:t>
            </a:r>
            <a:endParaRPr lang="zh-TW" altLang="en-US" dirty="0"/>
          </a:p>
        </p:txBody>
      </p:sp>
      <p:cxnSp>
        <p:nvCxnSpPr>
          <p:cNvPr id="10" name="直線單箭頭接點 9"/>
          <p:cNvCxnSpPr/>
          <p:nvPr/>
        </p:nvCxnSpPr>
        <p:spPr>
          <a:xfrm flipH="1">
            <a:off x="5580112" y="4903886"/>
            <a:ext cx="831589" cy="6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6516216" y="4719220"/>
            <a:ext cx="2190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1. Create Boolean Eq.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516216" y="4437112"/>
            <a:ext cx="190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2. Create seq. exp.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6" name="直線單箭頭接點 15"/>
          <p:cNvCxnSpPr/>
          <p:nvPr/>
        </p:nvCxnSpPr>
        <p:spPr>
          <a:xfrm flipH="1">
            <a:off x="5907645" y="4621778"/>
            <a:ext cx="504056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>
            <a:off x="6185246" y="5733256"/>
            <a:ext cx="504056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6798408" y="5548590"/>
            <a:ext cx="1575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3. Create Prop.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452320" y="6369714"/>
            <a:ext cx="1546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4</a:t>
            </a:r>
            <a:r>
              <a:rPr lang="en-US" altLang="zh-TW" dirty="0" smtClean="0">
                <a:solidFill>
                  <a:srgbClr val="0070C0"/>
                </a:solidFill>
              </a:rPr>
              <a:t>. Assert Prop.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 flipH="1">
            <a:off x="6841702" y="6572636"/>
            <a:ext cx="504056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33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Genvar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forloop</a:t>
            </a:r>
            <a:r>
              <a:rPr lang="en-US" altLang="zh-TW" dirty="0" smtClean="0"/>
              <a:t> for SVA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https://stackoverflow.com/questions/12929887/can-i-generate-a-number-of-systemverilog-properties-within-a-loop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282158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Reason for neg. net delay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https://zhuanlan.zhihu.com/p/37243944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588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58046</TotalTime>
  <Words>2423</Words>
  <Application>Microsoft Office PowerPoint</Application>
  <PresentationFormat>如螢幕大小 (4:3)</PresentationFormat>
  <Paragraphs>490</Paragraphs>
  <Slides>119</Slides>
  <Notes>0</Notes>
  <HiddenSlides>1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119</vt:i4>
      </vt:variant>
    </vt:vector>
  </HeadingPairs>
  <TitlesOfParts>
    <vt:vector size="120" baseType="lpstr">
      <vt:lpstr>Office 佈景主題</vt:lpstr>
      <vt:lpstr>Material Sharing @15 March 2018</vt:lpstr>
      <vt:lpstr>Topics</vt:lpstr>
      <vt:lpstr>Set including path in Genus</vt:lpstr>
      <vt:lpstr>Read Wire Load Model attributes in Liberty file</vt:lpstr>
      <vt:lpstr>Read Wire Load Model attributes in Liberty file</vt:lpstr>
      <vt:lpstr>Extend.</vt:lpstr>
      <vt:lpstr>How to setup WLM in GENUS</vt:lpstr>
      <vt:lpstr>Check to use NO-WLM</vt:lpstr>
      <vt:lpstr>PowerPoint 簡報</vt:lpstr>
      <vt:lpstr>Usage of syn_generic, syn_map, and syn_opt</vt:lpstr>
      <vt:lpstr>Usage of syn_generic, syn_map, and syn_opt</vt:lpstr>
      <vt:lpstr>Usage of syn_generic, syn_map, and syn_opt</vt:lpstr>
      <vt:lpstr>Low power setting in GENUS</vt:lpstr>
      <vt:lpstr>Low power setting in GENUS</vt:lpstr>
      <vt:lpstr>Low power setting in GENUS</vt:lpstr>
      <vt:lpstr>Material Sharing @21 March 2018</vt:lpstr>
      <vt:lpstr>Topics</vt:lpstr>
      <vt:lpstr>set_false_path v.s. set_disable_timing</vt:lpstr>
      <vt:lpstr>Clock source latency &amp; Clock network latency</vt:lpstr>
      <vt:lpstr>Delay Time Calculation (not study yet)</vt:lpstr>
      <vt:lpstr>Unate  &amp; Non-unate</vt:lpstr>
      <vt:lpstr>Unate  &amp; Non-unate</vt:lpstr>
      <vt:lpstr>PowerPoint 簡報</vt:lpstr>
      <vt:lpstr>Material Sharing @27 March 2018</vt:lpstr>
      <vt:lpstr>Topics</vt:lpstr>
      <vt:lpstr>Group of attributes: hinst, hpins, hnets</vt:lpstr>
      <vt:lpstr>How to read/write genus attributes</vt:lpstr>
      <vt:lpstr>Toggle rate</vt:lpstr>
      <vt:lpstr>Material Sharing @3 April 2018</vt:lpstr>
      <vt:lpstr>Topics</vt:lpstr>
      <vt:lpstr>How to change the default color scheme of GVIM</vt:lpstr>
      <vt:lpstr>How to install PERL module locally</vt:lpstr>
      <vt:lpstr>PowerPoint 簡報</vt:lpstr>
      <vt:lpstr>Material Sharing @9 April 2018</vt:lpstr>
      <vt:lpstr>Topics</vt:lpstr>
      <vt:lpstr>Default Setting for LEC</vt:lpstr>
      <vt:lpstr>PowerPoint 簡報</vt:lpstr>
      <vt:lpstr>PowerPoint 簡報</vt:lpstr>
      <vt:lpstr>PowerPoint 簡報</vt:lpstr>
      <vt:lpstr>PowerPoint 簡報</vt:lpstr>
      <vt:lpstr>PowerPoint 簡報</vt:lpstr>
      <vt:lpstr>Differences between IAP/ICP/ISP</vt:lpstr>
      <vt:lpstr>Volatile on Embedded C</vt:lpstr>
      <vt:lpstr>Material Sharing @16 April 2018</vt:lpstr>
      <vt:lpstr>Outline</vt:lpstr>
      <vt:lpstr>Keil C Clock Setting file (startup.s)</vt:lpstr>
      <vt:lpstr>Keil C Clock Setting file (system_ht32f57352.c)</vt:lpstr>
      <vt:lpstr>Material Sharing @23 April 2018</vt:lpstr>
      <vt:lpstr>Outline</vt:lpstr>
      <vt:lpstr>Material Sharing @2 May 2018</vt:lpstr>
      <vt:lpstr>Outline</vt:lpstr>
      <vt:lpstr>SDC modification process before netlist released</vt:lpstr>
      <vt:lpstr>Material Sharing @8 May 2018</vt:lpstr>
      <vt:lpstr>Outline</vt:lpstr>
      <vt:lpstr>Get clock attribute on Genus</vt:lpstr>
      <vt:lpstr>Report synthesis message to check the constraints</vt:lpstr>
      <vt:lpstr>How to disable non-used clock in STA</vt:lpstr>
      <vt:lpstr>Material Sharing @29 May 2018</vt:lpstr>
      <vt:lpstr>Outline</vt:lpstr>
      <vt:lpstr>How to debug when NCSIM stuck at a time point </vt:lpstr>
      <vt:lpstr>Material Sharing @4 June 2018</vt:lpstr>
      <vt:lpstr>Outline</vt:lpstr>
      <vt:lpstr>What is Polymorphism</vt:lpstr>
      <vt:lpstr>PowerPoint 簡報</vt:lpstr>
      <vt:lpstr>UVM Study recording</vt:lpstr>
      <vt:lpstr>UVM Study recording</vt:lpstr>
      <vt:lpstr>PowerPoint 簡報</vt:lpstr>
      <vt:lpstr>Material Sharing @2 August 2018</vt:lpstr>
      <vt:lpstr>PowerPoint 簡報</vt:lpstr>
      <vt:lpstr>SDF format brief introduction</vt:lpstr>
      <vt:lpstr>SDF format brief introduction</vt:lpstr>
      <vt:lpstr>Material Sharing @9 August 2018</vt:lpstr>
      <vt:lpstr>Outline</vt:lpstr>
      <vt:lpstr>Point for LEC check for PRE2POST script</vt:lpstr>
      <vt:lpstr>Point for LEC check for PRE2POST script</vt:lpstr>
      <vt:lpstr>Material Sharing @4 September 2018</vt:lpstr>
      <vt:lpstr>Outline</vt:lpstr>
      <vt:lpstr>Class – Parameterized Classes</vt:lpstr>
      <vt:lpstr>Class – Shallow/Deep Copy</vt:lpstr>
      <vt:lpstr>Class – Shallow/Deep Copy</vt:lpstr>
      <vt:lpstr>Class – Shallow/Deep Copy</vt:lpstr>
      <vt:lpstr>Class – Shallow/Deep Copy</vt:lpstr>
      <vt:lpstr>Extend function</vt:lpstr>
      <vt:lpstr>Fork and join</vt:lpstr>
      <vt:lpstr>Fork and Join</vt:lpstr>
      <vt:lpstr>Fork and Join</vt:lpstr>
      <vt:lpstr>Fork and Join</vt:lpstr>
      <vt:lpstr>Fork and Join</vt:lpstr>
      <vt:lpstr>Fork and Join</vt:lpstr>
      <vt:lpstr>Clocking – Clocking block</vt:lpstr>
      <vt:lpstr>Clocking – Clocking block</vt:lpstr>
      <vt:lpstr>Default clocking</vt:lpstr>
      <vt:lpstr>modport</vt:lpstr>
      <vt:lpstr>Material Sharing @16 October 2018</vt:lpstr>
      <vt:lpstr>Outline</vt:lpstr>
      <vt:lpstr>Overview</vt:lpstr>
      <vt:lpstr>Overview</vt:lpstr>
      <vt:lpstr>Overview</vt:lpstr>
      <vt:lpstr>Overview</vt:lpstr>
      <vt:lpstr>Feature Extraction </vt:lpstr>
      <vt:lpstr>Stimulus Generation Plan </vt:lpstr>
      <vt:lpstr>Coverage Plan</vt:lpstr>
      <vt:lpstr>Verification Environment</vt:lpstr>
      <vt:lpstr>Material Sharing @26 October 2018</vt:lpstr>
      <vt:lpstr>Some Perl Notice </vt:lpstr>
      <vt:lpstr>Some Perl Notice </vt:lpstr>
      <vt:lpstr>Material Sharing @14 Jan. 2019</vt:lpstr>
      <vt:lpstr>LEC R2PRE notice</vt:lpstr>
      <vt:lpstr>PowerPoint 簡報</vt:lpstr>
      <vt:lpstr>Setup-hold timing</vt:lpstr>
      <vt:lpstr>Recording for wrong delay value setting </vt:lpstr>
      <vt:lpstr>Good link</vt:lpstr>
      <vt:lpstr>Material Sharing @25 Jan. 2019</vt:lpstr>
      <vt:lpstr>Outline</vt:lpstr>
      <vt:lpstr>Introduction for SVA</vt:lpstr>
      <vt:lpstr>Steps to create SVA</vt:lpstr>
      <vt:lpstr>Example of SVA</vt:lpstr>
      <vt:lpstr>Genvar forloop for SVA</vt:lpstr>
      <vt:lpstr>Reason for neg. net delay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Sharing</dc:title>
  <dc:creator>張宗賢</dc:creator>
  <cp:lastModifiedBy>Jerry Chang 張宗賢</cp:lastModifiedBy>
  <cp:revision>112</cp:revision>
  <dcterms:created xsi:type="dcterms:W3CDTF">2018-03-14T08:22:02Z</dcterms:created>
  <dcterms:modified xsi:type="dcterms:W3CDTF">2020-09-24T11:15:24Z</dcterms:modified>
</cp:coreProperties>
</file>