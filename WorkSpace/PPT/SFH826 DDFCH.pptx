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60" r:id="rId4"/>
    <p:sldId id="269" r:id="rId5"/>
    <p:sldId id="268" r:id="rId6"/>
    <p:sldId id="259" r:id="rId7"/>
    <p:sldId id="261" r:id="rId8"/>
    <p:sldId id="258" r:id="rId9"/>
    <p:sldId id="262" r:id="rId10"/>
    <p:sldId id="273" r:id="rId11"/>
    <p:sldId id="274" r:id="rId12"/>
    <p:sldId id="263" r:id="rId13"/>
    <p:sldId id="278" r:id="rId14"/>
    <p:sldId id="264" r:id="rId15"/>
    <p:sldId id="265" r:id="rId16"/>
    <p:sldId id="270" r:id="rId17"/>
    <p:sldId id="279" r:id="rId18"/>
    <p:sldId id="275" r:id="rId19"/>
    <p:sldId id="276" r:id="rId20"/>
    <p:sldId id="271" r:id="rId21"/>
    <p:sldId id="277" r:id="rId22"/>
    <p:sldId id="280" r:id="rId23"/>
    <p:sldId id="281" r:id="rId24"/>
    <p:sldId id="282" r:id="rId25"/>
    <p:sldId id="283" r:id="rId26"/>
    <p:sldId id="285" r:id="rId27"/>
    <p:sldId id="284" r:id="rId28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淺色樣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C2FFA5D-87B4-456A-9821-1D502468CF0F}" styleName="佈景主題樣式 1 - 輔色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8FB837D-C827-4EFA-A057-4D05807E0F7C}" styleName="佈景主題樣式 1 - 輔色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8EC20E35-A176-4012-BC5E-935CFFF8708E}" styleName="中等深淺樣式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114" autoAdjust="0"/>
    <p:restoredTop sz="94660"/>
  </p:normalViewPr>
  <p:slideViewPr>
    <p:cSldViewPr>
      <p:cViewPr>
        <p:scale>
          <a:sx n="150" d="100"/>
          <a:sy n="150" d="100"/>
        </p:scale>
        <p:origin x="-618" y="121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07799B-15B9-4DBD-8952-CFD18C051D08}" type="datetimeFigureOut">
              <a:rPr lang="zh-TW" altLang="en-US" smtClean="0"/>
              <a:t>2023/3/7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6D3BEB-AE91-4C09-B923-EAEBA6BB832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407000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6D3BEB-AE91-4C09-B923-EAEBA6BB832E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175453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BC173-3FD7-45B7-B8A0-7839AAC2213E}" type="datetimeFigureOut">
              <a:rPr lang="zh-TW" altLang="en-US" smtClean="0"/>
              <a:t>2023/3/7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8223E-03F3-4BAF-881B-79BEF6C1AB1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31727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BC173-3FD7-45B7-B8A0-7839AAC2213E}" type="datetimeFigureOut">
              <a:rPr lang="zh-TW" altLang="en-US" smtClean="0"/>
              <a:t>2023/3/7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8223E-03F3-4BAF-881B-79BEF6C1AB1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516075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BC173-3FD7-45B7-B8A0-7839AAC2213E}" type="datetimeFigureOut">
              <a:rPr lang="zh-TW" altLang="en-US" smtClean="0"/>
              <a:t>2023/3/7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8223E-03F3-4BAF-881B-79BEF6C1AB1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797221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BC173-3FD7-45B7-B8A0-7839AAC2213E}" type="datetimeFigureOut">
              <a:rPr lang="zh-TW" altLang="en-US" smtClean="0"/>
              <a:t>2023/3/7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8223E-03F3-4BAF-881B-79BEF6C1AB1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75747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BC173-3FD7-45B7-B8A0-7839AAC2213E}" type="datetimeFigureOut">
              <a:rPr lang="zh-TW" altLang="en-US" smtClean="0"/>
              <a:t>2023/3/7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8223E-03F3-4BAF-881B-79BEF6C1AB1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846186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BC173-3FD7-45B7-B8A0-7839AAC2213E}" type="datetimeFigureOut">
              <a:rPr lang="zh-TW" altLang="en-US" smtClean="0"/>
              <a:t>2023/3/7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8223E-03F3-4BAF-881B-79BEF6C1AB1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312556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BC173-3FD7-45B7-B8A0-7839AAC2213E}" type="datetimeFigureOut">
              <a:rPr lang="zh-TW" altLang="en-US" smtClean="0"/>
              <a:t>2023/3/7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8223E-03F3-4BAF-881B-79BEF6C1AB1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499918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BC173-3FD7-45B7-B8A0-7839AAC2213E}" type="datetimeFigureOut">
              <a:rPr lang="zh-TW" altLang="en-US" smtClean="0"/>
              <a:t>2023/3/7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8223E-03F3-4BAF-881B-79BEF6C1AB1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559969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BC173-3FD7-45B7-B8A0-7839AAC2213E}" type="datetimeFigureOut">
              <a:rPr lang="zh-TW" altLang="en-US" smtClean="0"/>
              <a:t>2023/3/7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8223E-03F3-4BAF-881B-79BEF6C1AB1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717091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BC173-3FD7-45B7-B8A0-7839AAC2213E}" type="datetimeFigureOut">
              <a:rPr lang="zh-TW" altLang="en-US" smtClean="0"/>
              <a:t>2023/3/7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8223E-03F3-4BAF-881B-79BEF6C1AB1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293114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BC173-3FD7-45B7-B8A0-7839AAC2213E}" type="datetimeFigureOut">
              <a:rPr lang="zh-TW" altLang="en-US" smtClean="0"/>
              <a:t>2023/3/7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8223E-03F3-4BAF-881B-79BEF6C1AB1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723415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8BC173-3FD7-45B7-B8A0-7839AAC2213E}" type="datetimeFigureOut">
              <a:rPr lang="zh-TW" altLang="en-US" smtClean="0"/>
              <a:t>2023/3/7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E8223E-03F3-4BAF-881B-79BEF6C1AB1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313709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b="1" dirty="0"/>
              <a:t>SFH826 DDFCH</a:t>
            </a:r>
            <a:r>
              <a:rPr lang="zh-TW" altLang="zh-TW" dirty="0"/>
              <a:t/>
            </a:r>
            <a:br>
              <a:rPr lang="zh-TW" altLang="zh-TW" dirty="0"/>
            </a:br>
            <a:r>
              <a:rPr lang="en-US" altLang="zh-TW" b="1" dirty="0"/>
              <a:t>Design Change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dirty="0" smtClean="0"/>
              <a:t>Jerry Chang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2505400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Outline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Purpose</a:t>
            </a:r>
          </a:p>
          <a:p>
            <a:r>
              <a:rPr lang="en-US" altLang="zh-TW" dirty="0" smtClean="0"/>
              <a:t>Features</a:t>
            </a:r>
          </a:p>
          <a:p>
            <a:r>
              <a:rPr lang="en-US" altLang="zh-TW" dirty="0" smtClean="0"/>
              <a:t>Original Design</a:t>
            </a:r>
          </a:p>
          <a:p>
            <a:r>
              <a:rPr lang="en-US" altLang="zh-TW" dirty="0" smtClean="0"/>
              <a:t>Purposed Modified Design</a:t>
            </a:r>
          </a:p>
          <a:p>
            <a:r>
              <a:rPr lang="en-US" altLang="zh-TW" dirty="0"/>
              <a:t>Fetching Limitation with </a:t>
            </a:r>
            <a:r>
              <a:rPr lang="en-US" altLang="zh-TW" dirty="0" smtClean="0"/>
              <a:t>FBD</a:t>
            </a:r>
          </a:p>
          <a:p>
            <a:r>
              <a:rPr lang="en-US" altLang="zh-TW" dirty="0" smtClean="0"/>
              <a:t>Verification Patterns</a:t>
            </a:r>
          </a:p>
          <a:p>
            <a:r>
              <a:rPr lang="en-US" altLang="zh-TW" dirty="0" smtClean="0"/>
              <a:t>Schedule integration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915996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Purpose (1/2)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5400600"/>
          </a:xfrm>
        </p:spPr>
        <p:txBody>
          <a:bodyPr>
            <a:normAutofit/>
          </a:bodyPr>
          <a:lstStyle/>
          <a:p>
            <a:r>
              <a:rPr lang="en-US" altLang="zh-TW" sz="2000" dirty="0" smtClean="0"/>
              <a:t>Pictures storage usage saving in DRAM</a:t>
            </a:r>
          </a:p>
          <a:p>
            <a:r>
              <a:rPr lang="en-US" altLang="zh-TW" sz="2000" dirty="0" smtClean="0"/>
              <a:t>MBUS Bandwidth saving</a:t>
            </a:r>
          </a:p>
          <a:p>
            <a:endParaRPr lang="en-US" altLang="zh-TW" sz="2000" dirty="0"/>
          </a:p>
          <a:p>
            <a:endParaRPr lang="en-US" altLang="zh-TW" sz="2000" dirty="0" smtClean="0"/>
          </a:p>
          <a:p>
            <a:endParaRPr lang="en-US" altLang="zh-TW" sz="2000" dirty="0"/>
          </a:p>
          <a:p>
            <a:pPr marL="0" indent="0">
              <a:buNone/>
            </a:pPr>
            <a:endParaRPr lang="en-US" altLang="zh-TW" sz="2000" dirty="0" smtClean="0"/>
          </a:p>
          <a:p>
            <a:endParaRPr lang="en-US" altLang="zh-TW" sz="2000" dirty="0" smtClean="0"/>
          </a:p>
          <a:p>
            <a:endParaRPr lang="en-US" altLang="zh-TW" sz="2000" dirty="0"/>
          </a:p>
          <a:p>
            <a:endParaRPr lang="en-US" altLang="zh-TW" sz="2000" dirty="0" smtClean="0"/>
          </a:p>
          <a:p>
            <a:endParaRPr lang="en-US" altLang="zh-TW" sz="2000" dirty="0"/>
          </a:p>
          <a:p>
            <a:endParaRPr lang="en-US" altLang="zh-TW" sz="2000" dirty="0" smtClean="0"/>
          </a:p>
          <a:p>
            <a:r>
              <a:rPr lang="en-US" altLang="zh-TW" sz="2000" dirty="0" smtClean="0"/>
              <a:t>In-house Frame-Buffer Integration for FBD</a:t>
            </a:r>
            <a:endParaRPr lang="en-US" altLang="zh-TW" sz="2000" dirty="0"/>
          </a:p>
          <a:p>
            <a:pPr marL="0" indent="0" algn="r">
              <a:buNone/>
            </a:pPr>
            <a:r>
              <a:rPr lang="en-US" altLang="zh-TW" sz="1600" dirty="0" smtClean="0"/>
              <a:t>Multi-Frame Decoder (MFD)</a:t>
            </a:r>
          </a:p>
          <a:p>
            <a:pPr marL="0" indent="0" algn="r">
              <a:buNone/>
            </a:pPr>
            <a:r>
              <a:rPr lang="en-US" altLang="zh-TW" sz="1600" dirty="0" smtClean="0"/>
              <a:t>Frame-Buffer Compressor (FBC)</a:t>
            </a:r>
          </a:p>
          <a:p>
            <a:pPr marL="0" indent="0" algn="r">
              <a:buNone/>
            </a:pPr>
            <a:r>
              <a:rPr lang="en-US" altLang="zh-TW" sz="1600" dirty="0" smtClean="0"/>
              <a:t>Frame Buffer Decompressor  (FBD)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5425" y="1916832"/>
            <a:ext cx="6926705" cy="30243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直線單箭頭接點 4"/>
          <p:cNvCxnSpPr/>
          <p:nvPr/>
        </p:nvCxnSpPr>
        <p:spPr>
          <a:xfrm>
            <a:off x="1887513" y="2492896"/>
            <a:ext cx="0" cy="1080120"/>
          </a:xfrm>
          <a:prstGeom prst="straightConnector1">
            <a:avLst/>
          </a:prstGeom>
          <a:ln w="3810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肘形接點 10"/>
          <p:cNvCxnSpPr/>
          <p:nvPr/>
        </p:nvCxnSpPr>
        <p:spPr>
          <a:xfrm>
            <a:off x="2195736" y="3176972"/>
            <a:ext cx="1584176" cy="396044"/>
          </a:xfrm>
          <a:prstGeom prst="bentConnector3">
            <a:avLst>
              <a:gd name="adj1" fmla="val 99904"/>
            </a:avLst>
          </a:prstGeom>
          <a:ln w="3810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/>
          <p:cNvCxnSpPr/>
          <p:nvPr/>
        </p:nvCxnSpPr>
        <p:spPr>
          <a:xfrm flipV="1">
            <a:off x="2195736" y="3157922"/>
            <a:ext cx="0" cy="396044"/>
          </a:xfrm>
          <a:prstGeom prst="line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58797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Purpose (2/2)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In-house Frame-Buffer Integration for FBD</a:t>
            </a:r>
          </a:p>
          <a:p>
            <a:pPr lvl="1"/>
            <a:r>
              <a:rPr lang="en-US" altLang="zh-TW" dirty="0" smtClean="0"/>
              <a:t>2D SBUS commands translation</a:t>
            </a:r>
          </a:p>
          <a:p>
            <a:pPr lvl="1"/>
            <a:r>
              <a:rPr lang="en-US" altLang="zh-TW" dirty="0" smtClean="0"/>
              <a:t>data-ordering-swap interface </a:t>
            </a:r>
          </a:p>
          <a:p>
            <a:pPr lvl="1"/>
            <a:r>
              <a:rPr lang="en-US" altLang="zh-TW" dirty="0" smtClean="0"/>
              <a:t>Data buffering pools </a:t>
            </a:r>
          </a:p>
          <a:p>
            <a:endParaRPr lang="zh-TW" altLang="en-US" dirty="0"/>
          </a:p>
        </p:txBody>
      </p:sp>
      <p:graphicFrame>
        <p:nvGraphicFramePr>
          <p:cNvPr id="4" name="內容版面配置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07941971"/>
              </p:ext>
            </p:extLst>
          </p:nvPr>
        </p:nvGraphicFramePr>
        <p:xfrm>
          <a:off x="395536" y="3933056"/>
          <a:ext cx="8230132" cy="273630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808312"/>
                <a:gridCol w="2809213"/>
                <a:gridCol w="2612607"/>
              </a:tblGrid>
              <a:tr h="25334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effectLst/>
                        </a:rPr>
                        <a:t>Function</a:t>
                      </a:r>
                      <a:endParaRPr lang="zh-TW" sz="2400" kern="100" dirty="0">
                        <a:solidFill>
                          <a:srgbClr val="000000"/>
                        </a:solidFill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77607" marR="77607" marT="0" marB="0"/>
                </a:tc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kern="0">
                          <a:effectLst/>
                        </a:rPr>
                        <a:t>FBD to DDFCH</a:t>
                      </a:r>
                      <a:endParaRPr lang="zh-TW" sz="2400" kern="100">
                        <a:solidFill>
                          <a:srgbClr val="000000"/>
                        </a:solidFill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77607" marR="77607" marT="0" marB="0"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25334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effectLst/>
                        </a:rPr>
                        <a:t>Data Type</a:t>
                      </a:r>
                      <a:endParaRPr lang="zh-TW" sz="2400" kern="100" dirty="0">
                        <a:solidFill>
                          <a:srgbClr val="000000"/>
                        </a:solidFill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77607" marR="77607" marT="0" marB="0"/>
                </a:tc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effectLst/>
                        </a:rPr>
                        <a:t>Uncompressed raw data</a:t>
                      </a:r>
                      <a:endParaRPr lang="zh-TW" sz="2400" kern="100" dirty="0">
                        <a:solidFill>
                          <a:srgbClr val="000000"/>
                        </a:solidFill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77607" marR="77607" marT="0" marB="0"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25334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effectLst/>
                        </a:rPr>
                        <a:t>Interface</a:t>
                      </a:r>
                      <a:endParaRPr lang="zh-TW" sz="2400" kern="100" dirty="0">
                        <a:solidFill>
                          <a:srgbClr val="000000"/>
                        </a:solidFill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77607" marR="77607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effectLst/>
                        </a:rPr>
                        <a:t>Output – FBD</a:t>
                      </a:r>
                      <a:endParaRPr lang="zh-TW" sz="2400" kern="100" dirty="0">
                        <a:solidFill>
                          <a:srgbClr val="000000"/>
                        </a:solidFill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77607" marR="77607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effectLst/>
                        </a:rPr>
                        <a:t>Input – </a:t>
                      </a:r>
                      <a:r>
                        <a:rPr lang="en-US" sz="1400" kern="0" dirty="0" smtClean="0">
                          <a:effectLst/>
                        </a:rPr>
                        <a:t>DDFCH</a:t>
                      </a:r>
                      <a:endParaRPr lang="zh-TW" sz="2400" kern="100" dirty="0">
                        <a:solidFill>
                          <a:srgbClr val="000000"/>
                        </a:solidFill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77607" marR="77607" marT="0" marB="0"/>
                </a:tc>
              </a:tr>
              <a:tr h="26719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kern="0">
                          <a:effectLst/>
                        </a:rPr>
                        <a:t>Fetching Size per Read Command</a:t>
                      </a:r>
                      <a:endParaRPr lang="zh-TW" sz="2400" kern="100">
                        <a:solidFill>
                          <a:srgbClr val="000000"/>
                        </a:solidFill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77607" marR="77607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effectLst/>
                        </a:rPr>
                        <a:t>16x4</a:t>
                      </a:r>
                      <a:endParaRPr lang="zh-TW" sz="2400" kern="100" dirty="0">
                        <a:solidFill>
                          <a:srgbClr val="000000"/>
                        </a:solidFill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77607" marR="77607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effectLst/>
                        </a:rPr>
                        <a:t>256x1/128x1</a:t>
                      </a:r>
                      <a:endParaRPr lang="zh-TW" sz="2400" kern="100" dirty="0">
                        <a:solidFill>
                          <a:srgbClr val="000000"/>
                        </a:solidFill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77607" marR="77607" marT="0" marB="0"/>
                </a:tc>
              </a:tr>
              <a:tr h="25334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effectLst/>
                        </a:rPr>
                        <a:t>Fetching Size per </a:t>
                      </a:r>
                      <a:r>
                        <a:rPr lang="en-US" sz="1400" kern="0" dirty="0" smtClean="0">
                          <a:effectLst/>
                        </a:rPr>
                        <a:t>Unit/Cycle</a:t>
                      </a:r>
                      <a:endParaRPr lang="zh-TW" sz="2400" kern="100" dirty="0">
                        <a:solidFill>
                          <a:srgbClr val="000000"/>
                        </a:solidFill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77607" marR="77607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kern="0">
                          <a:effectLst/>
                        </a:rPr>
                        <a:t>8x1</a:t>
                      </a:r>
                      <a:endParaRPr lang="zh-TW" sz="2400" kern="100">
                        <a:solidFill>
                          <a:srgbClr val="000000"/>
                        </a:solidFill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77607" marR="77607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effectLst/>
                        </a:rPr>
                        <a:t>8x1</a:t>
                      </a:r>
                      <a:endParaRPr lang="zh-TW" sz="2400" kern="100" dirty="0">
                        <a:solidFill>
                          <a:srgbClr val="000000"/>
                        </a:solidFill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77607" marR="77607" marT="0" marB="0"/>
                </a:tc>
              </a:tr>
              <a:tr h="25334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effectLst/>
                        </a:rPr>
                        <a:t>Maximum Pixel Width</a:t>
                      </a:r>
                      <a:endParaRPr lang="zh-TW" sz="2400" kern="100" dirty="0">
                        <a:solidFill>
                          <a:srgbClr val="000000"/>
                        </a:solidFill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77607" marR="77607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effectLst/>
                        </a:rPr>
                        <a:t>10</a:t>
                      </a:r>
                      <a:endParaRPr lang="zh-TW" sz="2400" kern="100" dirty="0">
                        <a:solidFill>
                          <a:srgbClr val="000000"/>
                        </a:solidFill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77607" marR="77607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kern="0">
                          <a:effectLst/>
                        </a:rPr>
                        <a:t>10</a:t>
                      </a:r>
                      <a:endParaRPr lang="zh-TW" sz="2400" kern="100">
                        <a:solidFill>
                          <a:srgbClr val="000000"/>
                        </a:solidFill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77607" marR="77607" marT="0" marB="0"/>
                </a:tc>
              </a:tr>
              <a:tr h="53439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effectLst/>
                        </a:rPr>
                        <a:t>Frame Scanning Order</a:t>
                      </a:r>
                      <a:endParaRPr lang="zh-TW" sz="2400" kern="100" dirty="0">
                        <a:solidFill>
                          <a:srgbClr val="000000"/>
                        </a:solidFill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77607" marR="77607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kern="0">
                          <a:effectLst/>
                        </a:rPr>
                        <a:t>Raster scan with 16x4 Blocks</a:t>
                      </a:r>
                      <a:endParaRPr lang="zh-TW" sz="2400" kern="100">
                        <a:effectLst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kern="0">
                          <a:effectLst/>
                        </a:rPr>
                        <a:t>YUV420</a:t>
                      </a:r>
                      <a:endParaRPr lang="zh-TW" sz="2400" kern="100">
                        <a:solidFill>
                          <a:srgbClr val="000000"/>
                        </a:solidFill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77607" marR="77607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effectLst/>
                        </a:rPr>
                        <a:t>Raster scan, </a:t>
                      </a:r>
                      <a:r>
                        <a:rPr lang="en-US" sz="1400" kern="0" dirty="0" smtClean="0">
                          <a:effectLst/>
                        </a:rPr>
                        <a:t>YUV422</a:t>
                      </a:r>
                      <a:endParaRPr lang="zh-TW" sz="2400" kern="100" dirty="0">
                        <a:solidFill>
                          <a:srgbClr val="000000"/>
                        </a:solidFill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77607" marR="77607" marT="0" marB="0"/>
                </a:tc>
              </a:tr>
              <a:tr h="66799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effectLst/>
                        </a:rPr>
                        <a:t>Y/</a:t>
                      </a:r>
                      <a:r>
                        <a:rPr lang="en-US" sz="1400" kern="0" dirty="0" err="1">
                          <a:effectLst/>
                        </a:rPr>
                        <a:t>Cb</a:t>
                      </a:r>
                      <a:r>
                        <a:rPr lang="en-US" sz="1400" kern="0" dirty="0">
                          <a:effectLst/>
                        </a:rPr>
                        <a:t>/Cr Ordering</a:t>
                      </a:r>
                      <a:endParaRPr lang="zh-TW" sz="2400" kern="100" dirty="0">
                        <a:solidFill>
                          <a:srgbClr val="000000"/>
                        </a:solidFill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77607" marR="77607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kern="0" dirty="0" smtClean="0">
                          <a:effectLst/>
                        </a:rPr>
                        <a:t>Sequential</a:t>
                      </a:r>
                      <a:endParaRPr lang="en-US" sz="2400" kern="100" dirty="0">
                        <a:effectLst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kern="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Cb</a:t>
                      </a:r>
                      <a:r>
                        <a:rPr lang="en-US" altLang="zh-TW" sz="1400" kern="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/Cr: Alternate Mixing</a:t>
                      </a:r>
                      <a:endParaRPr lang="zh-TW" altLang="zh-TW" sz="1400" kern="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endParaRPr lang="en-US" sz="1400" kern="0" dirty="0" smtClean="0">
                        <a:effectLst/>
                      </a:endParaRPr>
                    </a:p>
                  </a:txBody>
                  <a:tcPr marL="77607" marR="77607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effectLst/>
                        </a:rPr>
                        <a:t>Y: </a:t>
                      </a:r>
                      <a:r>
                        <a:rPr lang="en-US" sz="1400" kern="0" dirty="0" smtClean="0">
                          <a:effectLst/>
                        </a:rPr>
                        <a:t>Sequential</a:t>
                      </a:r>
                      <a:endParaRPr lang="zh-TW" sz="2400" kern="100" dirty="0">
                        <a:effectLst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kern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Cb</a:t>
                      </a:r>
                      <a:r>
                        <a:rPr lang="en-US" sz="1400" kern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/Cr: </a:t>
                      </a:r>
                      <a:r>
                        <a:rPr lang="en-US" altLang="zh-TW" sz="1400" kern="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Alternate</a:t>
                      </a:r>
                      <a:r>
                        <a:rPr lang="en-US" sz="1400" kern="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Mixing</a:t>
                      </a:r>
                      <a:endParaRPr lang="zh-TW" sz="1400" kern="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7607" marR="77607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002189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 smtClean="0"/>
              <a:t>An Brief Example </a:t>
            </a:r>
            <a:br>
              <a:rPr lang="en-US" altLang="zh-TW" dirty="0" smtClean="0"/>
            </a:br>
            <a:r>
              <a:rPr lang="en-US" altLang="zh-TW" dirty="0" smtClean="0"/>
              <a:t>for Data Ordering Swap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58" y="1484784"/>
            <a:ext cx="9058444" cy="3744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891162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Purpose (2/2)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In-house </a:t>
            </a:r>
            <a:r>
              <a:rPr lang="en-US" altLang="zh-TW" dirty="0"/>
              <a:t>Frame-Buffer </a:t>
            </a:r>
            <a:r>
              <a:rPr lang="en-US" altLang="zh-TW" dirty="0" smtClean="0"/>
              <a:t>Integration for FBD</a:t>
            </a:r>
          </a:p>
          <a:p>
            <a:r>
              <a:rPr lang="en-US" altLang="zh-TW" dirty="0" smtClean="0"/>
              <a:t>FBD decoded data Storing</a:t>
            </a:r>
          </a:p>
          <a:p>
            <a:pPr lvl="1"/>
            <a:r>
              <a:rPr lang="en-US" altLang="zh-TW" dirty="0" smtClean="0"/>
              <a:t>2D SBUS commands translation</a:t>
            </a:r>
          </a:p>
          <a:p>
            <a:pPr lvl="1"/>
            <a:r>
              <a:rPr lang="en-US" altLang="zh-TW" dirty="0" smtClean="0"/>
              <a:t>data-swap </a:t>
            </a:r>
            <a:r>
              <a:rPr lang="en-US" altLang="zh-TW" dirty="0"/>
              <a:t>interface </a:t>
            </a:r>
            <a:r>
              <a:rPr lang="en-US" altLang="zh-TW" dirty="0" smtClean="0"/>
              <a:t>+ data </a:t>
            </a:r>
            <a:r>
              <a:rPr lang="en-US" altLang="zh-TW" dirty="0"/>
              <a:t>buffering </a:t>
            </a:r>
            <a:r>
              <a:rPr lang="en-US" altLang="zh-TW" dirty="0" smtClean="0"/>
              <a:t>pools </a:t>
            </a:r>
          </a:p>
          <a:p>
            <a:r>
              <a:rPr lang="en-US" altLang="zh-TW" dirty="0" smtClean="0"/>
              <a:t>2D SBUS commands translation The </a:t>
            </a:r>
            <a:r>
              <a:rPr lang="en-US" altLang="zh-TW" dirty="0"/>
              <a:t>provided interface will translate </a:t>
            </a:r>
            <a:r>
              <a:rPr lang="en-US" altLang="zh-TW" dirty="0" smtClean="0"/>
              <a:t>the original </a:t>
            </a:r>
            <a:r>
              <a:rPr lang="en-US" altLang="zh-TW" dirty="0"/>
              <a:t>2D SBUS commands and search the pre-fetched data in pools. 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4962335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Features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altLang="zh-TW" dirty="0"/>
              <a:t>Frame Data Fetching</a:t>
            </a:r>
            <a:endParaRPr lang="zh-TW" altLang="zh-TW" dirty="0"/>
          </a:p>
          <a:p>
            <a:pPr lvl="1"/>
            <a:r>
              <a:rPr lang="en-US" altLang="zh-TW" dirty="0"/>
              <a:t>Support Input Formats</a:t>
            </a:r>
            <a:endParaRPr lang="zh-TW" altLang="zh-TW" dirty="0"/>
          </a:p>
          <a:p>
            <a:pPr lvl="2"/>
            <a:r>
              <a:rPr lang="en-US" altLang="zh-TW" dirty="0"/>
              <a:t>Image</a:t>
            </a:r>
            <a:endParaRPr lang="zh-TW" altLang="zh-TW" dirty="0"/>
          </a:p>
          <a:p>
            <a:pPr lvl="3"/>
            <a:r>
              <a:rPr lang="en-US" altLang="zh-TW" dirty="0"/>
              <a:t>Linear format </a:t>
            </a:r>
            <a:r>
              <a:rPr lang="en-US" altLang="zh-TW" dirty="0" smtClean="0"/>
              <a:t>(256x1, 128x1) with </a:t>
            </a:r>
            <a:r>
              <a:rPr lang="en-US" altLang="zh-TW" dirty="0"/>
              <a:t>roster scanning.</a:t>
            </a:r>
            <a:endParaRPr lang="zh-TW" altLang="zh-TW" dirty="0"/>
          </a:p>
          <a:p>
            <a:pPr lvl="3"/>
            <a:r>
              <a:rPr lang="en-US" altLang="zh-TW" dirty="0"/>
              <a:t>Maximum resolution: 1920x1080</a:t>
            </a:r>
            <a:endParaRPr lang="zh-TW" altLang="zh-TW" dirty="0"/>
          </a:p>
          <a:p>
            <a:pPr lvl="2"/>
            <a:r>
              <a:rPr lang="en-US" altLang="zh-TW" dirty="0"/>
              <a:t>In-house FBD </a:t>
            </a:r>
            <a:endParaRPr lang="zh-TW" altLang="zh-TW" dirty="0"/>
          </a:p>
          <a:p>
            <a:pPr lvl="3"/>
            <a:r>
              <a:rPr lang="en-US" altLang="zh-TW" dirty="0"/>
              <a:t>16x4 block size with roster scanning </a:t>
            </a:r>
            <a:endParaRPr lang="zh-TW" altLang="zh-TW" dirty="0"/>
          </a:p>
          <a:p>
            <a:pPr lvl="3"/>
            <a:r>
              <a:rPr lang="en-US" altLang="zh-TW" dirty="0"/>
              <a:t>Progressive/Interlacing/H265 field mode controls</a:t>
            </a:r>
            <a:endParaRPr lang="zh-TW" altLang="zh-TW" dirty="0"/>
          </a:p>
          <a:p>
            <a:pPr lvl="3"/>
            <a:r>
              <a:rPr lang="en-US" altLang="zh-TW" dirty="0"/>
              <a:t>Maximum resolution: </a:t>
            </a:r>
            <a:r>
              <a:rPr lang="en-US" altLang="zh-TW" dirty="0" smtClean="0"/>
              <a:t>1920x1080</a:t>
            </a:r>
          </a:p>
          <a:p>
            <a:pPr lvl="2"/>
            <a:r>
              <a:rPr lang="en-US" altLang="zh-TW" dirty="0" smtClean="0"/>
              <a:t>MFD 1D Format</a:t>
            </a:r>
          </a:p>
          <a:p>
            <a:pPr lvl="3"/>
            <a:r>
              <a:rPr lang="en-US" altLang="zh-TW" smtClean="0"/>
              <a:t>1920x1080, progressive </a:t>
            </a:r>
            <a:r>
              <a:rPr lang="en-US" altLang="zh-TW" dirty="0" smtClean="0"/>
              <a:t>and H265 Field mode are 10 bits</a:t>
            </a:r>
          </a:p>
          <a:p>
            <a:pPr lvl="3"/>
            <a:r>
              <a:rPr lang="en-US" altLang="zh-TW" dirty="0" smtClean="0"/>
              <a:t>Others resolutions are 8 bits</a:t>
            </a:r>
            <a:endParaRPr lang="zh-TW" altLang="zh-TW" dirty="0"/>
          </a:p>
          <a:p>
            <a:pPr lvl="1"/>
            <a:r>
              <a:rPr lang="en-US" altLang="zh-TW" dirty="0"/>
              <a:t>Design has ability to store pre-fetch image which comes from In-house FBD </a:t>
            </a:r>
            <a:r>
              <a:rPr lang="en-US" altLang="zh-TW" dirty="0" smtClean="0"/>
              <a:t>to reduce </a:t>
            </a:r>
            <a:r>
              <a:rPr lang="en-US" altLang="zh-TW" dirty="0"/>
              <a:t>BUS data transfer amounts.</a:t>
            </a:r>
            <a:endParaRPr lang="zh-TW" altLang="zh-TW" dirty="0"/>
          </a:p>
        </p:txBody>
      </p:sp>
    </p:spTree>
    <p:extLst>
      <p:ext uri="{BB962C8B-B14F-4D97-AF65-F5344CB8AC3E}">
        <p14:creationId xmlns:p14="http://schemas.microsoft.com/office/powerpoint/2010/main" val="18436709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Original Design – Overview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1872209"/>
          </a:xfrm>
        </p:spPr>
        <p:txBody>
          <a:bodyPr>
            <a:normAutofit fontScale="92500" lnSpcReduction="20000"/>
          </a:bodyPr>
          <a:lstStyle/>
          <a:p>
            <a:r>
              <a:rPr lang="en-US" altLang="zh-TW" sz="2800" dirty="0" smtClean="0"/>
              <a:t>SBUS Master Numbers:</a:t>
            </a:r>
          </a:p>
          <a:p>
            <a:pPr lvl="1"/>
            <a:r>
              <a:rPr lang="en-US" altLang="zh-TW" sz="2400" dirty="0" smtClean="0"/>
              <a:t>Motion Read : 1</a:t>
            </a:r>
          </a:p>
          <a:p>
            <a:pPr lvl="1"/>
            <a:r>
              <a:rPr lang="en-US" altLang="zh-TW" sz="2400" dirty="0" smtClean="0"/>
              <a:t>Motion Write : 1</a:t>
            </a:r>
          </a:p>
          <a:p>
            <a:pPr lvl="1"/>
            <a:r>
              <a:rPr lang="en-US" altLang="zh-TW" sz="2400" dirty="0" smtClean="0"/>
              <a:t>LUMA :3 (CURR/PRE/NXT)</a:t>
            </a:r>
          </a:p>
          <a:p>
            <a:pPr lvl="1"/>
            <a:r>
              <a:rPr lang="en-US" altLang="zh-TW" sz="2400" dirty="0" smtClean="0"/>
              <a:t>CHROMA : 3  (CUR/PRE/NXT)</a:t>
            </a:r>
            <a:endParaRPr lang="zh-TW" altLang="en-US" sz="24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5" y="2262490"/>
            <a:ext cx="7836152" cy="45027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橢圓 3"/>
          <p:cNvSpPr/>
          <p:nvPr/>
        </p:nvSpPr>
        <p:spPr>
          <a:xfrm>
            <a:off x="4644008" y="3212976"/>
            <a:ext cx="576064" cy="1651462"/>
          </a:xfrm>
          <a:prstGeom prst="ellipse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269015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TW" sz="3200" dirty="0" smtClean="0"/>
              <a:t>Original Design – Fetching Characteristic (1/3)</a:t>
            </a:r>
            <a:endParaRPr lang="zh-TW" altLang="en-US" sz="3200" dirty="0"/>
          </a:p>
        </p:txBody>
      </p:sp>
      <p:graphicFrame>
        <p:nvGraphicFramePr>
          <p:cNvPr id="11" name="表格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2666480"/>
              </p:ext>
            </p:extLst>
          </p:nvPr>
        </p:nvGraphicFramePr>
        <p:xfrm>
          <a:off x="611560" y="4509120"/>
          <a:ext cx="6896100" cy="2133600"/>
        </p:xfrm>
        <a:graphic>
          <a:graphicData uri="http://schemas.openxmlformats.org/drawingml/2006/table">
            <a:tbl>
              <a:tblPr/>
              <a:tblGrid>
                <a:gridCol w="1320192"/>
                <a:gridCol w="1675629"/>
                <a:gridCol w="685484"/>
                <a:gridCol w="685484"/>
                <a:gridCol w="952062"/>
                <a:gridCol w="787038"/>
                <a:gridCol w="790211"/>
              </a:tblGrid>
              <a:tr h="219075"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Mode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#BG_INDEX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Master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Line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Ordering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Field_ID=0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Field_ID=1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9550">
                <a:tc rowSpan="3">
                  <a:txBody>
                    <a:bodyPr/>
                    <a:lstStyle/>
                    <a:p>
                      <a:pPr algn="just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Progressive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just" fontAlgn="ctr"/>
                      <a:r>
                        <a:rPr lang="en-US" sz="1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EVEN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Roster-scan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v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v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C0C0C0"/>
                    </a:solidFill>
                  </a:tcPr>
                </a:tc>
              </a:tr>
              <a:tr h="20955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PRE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ODD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Roster-scan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v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19075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NXT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ODD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Roster-scan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zh-TW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　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v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</a:tr>
              <a:tr h="209550">
                <a:tc rowSpan="3">
                  <a:txBody>
                    <a:bodyPr/>
                    <a:lstStyle/>
                    <a:p>
                      <a:pPr algn="just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Interlacing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just" fontAlgn="ctr"/>
                      <a:r>
                        <a:rPr lang="en-US" sz="1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EVEN/ODD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Roster-scan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v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v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20955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PRE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ODD/EVEN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Roster-scan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v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v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C0C0"/>
                    </a:solidFill>
                  </a:tcPr>
                </a:tc>
              </a:tr>
              <a:tr h="219075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NXT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ODD/EVEN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Roster-scan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v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v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9550">
                <a:tc rowSpan="3">
                  <a:txBody>
                    <a:bodyPr/>
                    <a:lstStyle/>
                    <a:p>
                      <a:pPr algn="just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H265 Field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just" fontAlgn="ctr"/>
                      <a:r>
                        <a:rPr lang="en-US" sz="1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SEQ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Roster-scan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v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v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C0C0C0"/>
                    </a:solidFill>
                  </a:tcPr>
                </a:tc>
              </a:tr>
              <a:tr h="20955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PRE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SEQ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Roster-scan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v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zh-TW" alt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19075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NXT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SEQ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Roster-scan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zh-TW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　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v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表格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4868378"/>
              </p:ext>
            </p:extLst>
          </p:nvPr>
        </p:nvGraphicFramePr>
        <p:xfrm>
          <a:off x="3180366" y="1908149"/>
          <a:ext cx="2463800" cy="2061210"/>
        </p:xfrm>
        <a:graphic>
          <a:graphicData uri="http://schemas.openxmlformats.org/drawingml/2006/table">
            <a:tbl>
              <a:tblPr firstRow="1" firstCol="1" bandRow="1"/>
              <a:tblGrid>
                <a:gridCol w="1092200"/>
                <a:gridCol w="685800"/>
                <a:gridCol w="685800"/>
              </a:tblGrid>
              <a:tr h="21907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新細明體"/>
                          <a:cs typeface="新細明體"/>
                        </a:rPr>
                        <a:t>Function</a:t>
                      </a:r>
                      <a:endParaRPr lang="zh-TW" sz="1200" kern="100" dirty="0">
                        <a:solidFill>
                          <a:srgbClr val="000000"/>
                        </a:solidFill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 b="1" kern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新細明體"/>
                          <a:cs typeface="新細明體"/>
                        </a:rPr>
                        <a:t>Master</a:t>
                      </a:r>
                      <a:endParaRPr lang="zh-TW" sz="1200" kern="100">
                        <a:solidFill>
                          <a:srgbClr val="000000"/>
                        </a:solidFill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新細明體"/>
                          <a:cs typeface="新細明體"/>
                        </a:rPr>
                        <a:t>CMD Type</a:t>
                      </a:r>
                      <a:endParaRPr lang="zh-TW" sz="1200" kern="100">
                        <a:solidFill>
                          <a:srgbClr val="000000"/>
                        </a:solidFill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9550">
                <a:tc rowSpan="4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新細明體"/>
                          <a:cs typeface="新細明體"/>
                        </a:rPr>
                        <a:t>Image Display</a:t>
                      </a:r>
                      <a:endParaRPr lang="zh-TW" sz="1200" kern="100" dirty="0">
                        <a:solidFill>
                          <a:srgbClr val="000000"/>
                        </a:solidFill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 kern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新細明體"/>
                          <a:cs typeface="新細明體"/>
                        </a:rPr>
                        <a:t>LUMA</a:t>
                      </a:r>
                      <a:endParaRPr lang="zh-TW" sz="1200" kern="100">
                        <a:solidFill>
                          <a:srgbClr val="000000"/>
                        </a:solidFill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TW" sz="1200" kern="0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新細明體"/>
                          <a:cs typeface="Times New Roman"/>
                        </a:rPr>
                        <a:t>Linear</a:t>
                      </a:r>
                      <a:endParaRPr lang="zh-TW" sz="1200" kern="100" dirty="0">
                        <a:solidFill>
                          <a:srgbClr val="000000"/>
                        </a:solidFill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C0C0C0"/>
                    </a:solidFill>
                  </a:tcPr>
                </a:tc>
              </a:tr>
              <a:tr h="20955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 kern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新細明體"/>
                          <a:cs typeface="新細明體"/>
                        </a:rPr>
                        <a:t>CRMA</a:t>
                      </a:r>
                      <a:endParaRPr lang="zh-TW" sz="1200" kern="100">
                        <a:solidFill>
                          <a:srgbClr val="000000"/>
                        </a:solidFill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Times New Roman"/>
                        </a:rPr>
                        <a:t>Linear</a:t>
                      </a:r>
                      <a:endParaRPr lang="zh-TW" altLang="zh-TW" sz="1200" kern="100" dirty="0" smtClean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19075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 kern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新細明體"/>
                          <a:cs typeface="新細明體"/>
                        </a:rPr>
                        <a:t>MR</a:t>
                      </a:r>
                      <a:endParaRPr lang="zh-TW" sz="1200" kern="100">
                        <a:solidFill>
                          <a:srgbClr val="000000"/>
                        </a:solidFill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新細明體"/>
                          <a:cs typeface="新細明體"/>
                        </a:rPr>
                        <a:t>X</a:t>
                      </a:r>
                      <a:endParaRPr lang="zh-TW" sz="1200" kern="100">
                        <a:solidFill>
                          <a:srgbClr val="000000"/>
                        </a:solidFill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C0C0"/>
                    </a:solidFill>
                  </a:tcPr>
                </a:tc>
              </a:tr>
              <a:tr h="20955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 kern="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新細明體"/>
                          <a:cs typeface="新細明體"/>
                        </a:rPr>
                        <a:t>MW</a:t>
                      </a:r>
                      <a:endParaRPr lang="zh-TW" sz="1200" kern="100" dirty="0">
                        <a:solidFill>
                          <a:srgbClr val="000000"/>
                        </a:solidFill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新細明體"/>
                          <a:cs typeface="新細明體"/>
                        </a:rPr>
                        <a:t>X</a:t>
                      </a:r>
                      <a:endParaRPr lang="zh-TW" sz="1200" kern="100">
                        <a:solidFill>
                          <a:srgbClr val="000000"/>
                        </a:solidFill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9550">
                <a:tc rowSpan="4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新細明體"/>
                          <a:cs typeface="新細明體"/>
                        </a:rPr>
                        <a:t>Video Display</a:t>
                      </a:r>
                      <a:endParaRPr lang="zh-TW" sz="1200" kern="100">
                        <a:solidFill>
                          <a:srgbClr val="000000"/>
                        </a:solidFill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 kern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新細明體"/>
                          <a:cs typeface="新細明體"/>
                        </a:rPr>
                        <a:t>LUMA</a:t>
                      </a:r>
                      <a:endParaRPr lang="zh-TW" sz="1200" kern="100">
                        <a:solidFill>
                          <a:srgbClr val="000000"/>
                        </a:solidFill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新細明體"/>
                          <a:cs typeface="新細明體"/>
                        </a:rPr>
                        <a:t>2D</a:t>
                      </a:r>
                      <a:endParaRPr lang="zh-TW" sz="1200" kern="100" dirty="0">
                        <a:solidFill>
                          <a:srgbClr val="000000"/>
                        </a:solidFill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C0C0C0"/>
                    </a:solidFill>
                  </a:tcPr>
                </a:tc>
              </a:tr>
              <a:tr h="219075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 kern="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新細明體"/>
                          <a:cs typeface="新細明體"/>
                        </a:rPr>
                        <a:t>CRMA</a:t>
                      </a:r>
                      <a:endParaRPr lang="zh-TW" sz="1200" kern="100" dirty="0">
                        <a:solidFill>
                          <a:srgbClr val="000000"/>
                        </a:solidFill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新細明體"/>
                          <a:cs typeface="新細明體"/>
                        </a:rPr>
                        <a:t>2D</a:t>
                      </a:r>
                      <a:endParaRPr lang="zh-TW" sz="1200" kern="100">
                        <a:solidFill>
                          <a:srgbClr val="000000"/>
                        </a:solidFill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0955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 kern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新細明體"/>
                          <a:cs typeface="新細明體"/>
                        </a:rPr>
                        <a:t>MR</a:t>
                      </a:r>
                      <a:endParaRPr lang="zh-TW" sz="1200" kern="100">
                        <a:solidFill>
                          <a:srgbClr val="000000"/>
                        </a:solidFill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Times New Roman"/>
                        </a:rPr>
                        <a:t>Linear</a:t>
                      </a:r>
                      <a:endParaRPr lang="zh-TW" altLang="zh-TW" sz="1200" kern="100" dirty="0" smtClean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C0C0"/>
                    </a:solidFill>
                  </a:tcPr>
                </a:tc>
              </a:tr>
              <a:tr h="20955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 kern="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新細明體"/>
                          <a:cs typeface="新細明體"/>
                        </a:rPr>
                        <a:t>MW</a:t>
                      </a:r>
                      <a:endParaRPr lang="zh-TW" sz="1200" kern="100" dirty="0">
                        <a:solidFill>
                          <a:srgbClr val="000000"/>
                        </a:solidFill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Times New Roman"/>
                        </a:rPr>
                        <a:t>Linear</a:t>
                      </a:r>
                      <a:endParaRPr lang="zh-TW" altLang="zh-TW" sz="1200" kern="100" dirty="0" smtClean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文字方塊 13"/>
          <p:cNvSpPr txBox="1"/>
          <p:nvPr/>
        </p:nvSpPr>
        <p:spPr>
          <a:xfrm>
            <a:off x="2964342" y="1556792"/>
            <a:ext cx="37033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Table. Command Type of each master</a:t>
            </a:r>
            <a:endParaRPr lang="zh-TW" altLang="en-US" dirty="0"/>
          </a:p>
        </p:txBody>
      </p:sp>
      <p:sp>
        <p:nvSpPr>
          <p:cNvPr id="15" name="文字方塊 14"/>
          <p:cNvSpPr txBox="1"/>
          <p:nvPr/>
        </p:nvSpPr>
        <p:spPr>
          <a:xfrm>
            <a:off x="1763688" y="4149080"/>
            <a:ext cx="63787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Table. Internal Fetching Characteristics from LUMA/CRMA masters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703420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TW" sz="3200" dirty="0" smtClean="0"/>
              <a:t>Original Design – Fetching Characteristic (2/3)</a:t>
            </a:r>
            <a:endParaRPr lang="zh-TW" altLang="en-US" sz="32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916832"/>
            <a:ext cx="8434358" cy="43376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350174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TW" sz="3200" dirty="0" smtClean="0"/>
              <a:t>Original Design – Fetching Characteristic (3/3)</a:t>
            </a:r>
            <a:endParaRPr lang="zh-TW" altLang="en-US" sz="32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2348880"/>
            <a:ext cx="8538379" cy="3528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508998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Modified Design (1/2)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1163789"/>
            <a:ext cx="7560840" cy="56942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293213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Modified Design </a:t>
            </a:r>
            <a:r>
              <a:rPr lang="en-US" altLang="zh-TW" dirty="0" smtClean="0"/>
              <a:t>(2/2</a:t>
            </a:r>
            <a:r>
              <a:rPr lang="en-US" altLang="zh-TW" dirty="0"/>
              <a:t>)</a:t>
            </a:r>
            <a:endParaRPr lang="zh-TW" alt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9992" y="1249213"/>
            <a:ext cx="4398203" cy="33123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 altLang="zh-TW" sz="3400" dirty="0" smtClean="0"/>
              <a:t>FBD </a:t>
            </a:r>
          </a:p>
          <a:p>
            <a:pPr lvl="1"/>
            <a:r>
              <a:rPr lang="en-US" altLang="zh-TW" sz="2900" dirty="0"/>
              <a:t>New </a:t>
            </a:r>
            <a:r>
              <a:rPr lang="en-US" altLang="zh-TW" sz="2900" dirty="0" smtClean="0"/>
              <a:t>Design </a:t>
            </a:r>
          </a:p>
          <a:p>
            <a:r>
              <a:rPr lang="en-US" altLang="zh-TW" sz="3400" dirty="0" smtClean="0"/>
              <a:t>SBUS_ARB</a:t>
            </a:r>
          </a:p>
          <a:p>
            <a:pPr lvl="1"/>
            <a:r>
              <a:rPr lang="en-US" altLang="zh-TW" sz="2900" dirty="0" smtClean="0"/>
              <a:t>Modified from IPBG_ARB</a:t>
            </a:r>
          </a:p>
          <a:p>
            <a:r>
              <a:rPr lang="en-US" altLang="zh-TW" sz="3400" dirty="0" smtClean="0"/>
              <a:t>LUMA_DMAR_C_LBW</a:t>
            </a:r>
          </a:p>
          <a:p>
            <a:pPr lvl="1"/>
            <a:r>
              <a:rPr lang="en-US" altLang="zh-TW" sz="2900" dirty="0"/>
              <a:t>S</a:t>
            </a:r>
            <a:r>
              <a:rPr lang="en-US" altLang="zh-TW" sz="2900" dirty="0" smtClean="0"/>
              <a:t>upport 16x4/32x4/64x4 CMD when FBD is ON</a:t>
            </a:r>
          </a:p>
          <a:p>
            <a:r>
              <a:rPr lang="en-US" altLang="zh-TW" sz="3400" dirty="0" smtClean="0"/>
              <a:t>IPBG_CUR/IPBG_PN</a:t>
            </a:r>
          </a:p>
          <a:p>
            <a:pPr lvl="1"/>
            <a:r>
              <a:rPr lang="en-US" altLang="zh-TW" sz="2900" dirty="0" smtClean="0"/>
              <a:t>Turn off when FBD is ON</a:t>
            </a:r>
          </a:p>
          <a:p>
            <a:r>
              <a:rPr lang="en-US" altLang="zh-TW" sz="3400" dirty="0" smtClean="0"/>
              <a:t>LB_1440x160_LUMA/</a:t>
            </a:r>
            <a:r>
              <a:rPr lang="en-US" altLang="zh-TW" sz="3400" dirty="0"/>
              <a:t> </a:t>
            </a:r>
            <a:r>
              <a:rPr lang="en-US" altLang="zh-TW" sz="3400" dirty="0" smtClean="0"/>
              <a:t>LB_1440x160_CRMA</a:t>
            </a:r>
          </a:p>
          <a:p>
            <a:pPr lvl="1"/>
            <a:r>
              <a:rPr lang="en-US" altLang="zh-TW" sz="2900" dirty="0" smtClean="0"/>
              <a:t>SRAM size Extension</a:t>
            </a:r>
          </a:p>
          <a:p>
            <a:r>
              <a:rPr lang="en-US" altLang="zh-TW" sz="3400" dirty="0" smtClean="0"/>
              <a:t>LUMA_DMAR_C_LBR/LUMA_DMAR_PN_LBR</a:t>
            </a:r>
          </a:p>
          <a:p>
            <a:r>
              <a:rPr lang="en-US" altLang="zh-TW" sz="3400" dirty="0" smtClean="0"/>
              <a:t>CRMA_DMAR_C_LBR/CRMA_DMAR_PN_LBR</a:t>
            </a:r>
          </a:p>
          <a:p>
            <a:pPr lvl="1"/>
            <a:r>
              <a:rPr lang="en-US" altLang="zh-TW" sz="2900" dirty="0" smtClean="0"/>
              <a:t>The calculation </a:t>
            </a:r>
            <a:r>
              <a:rPr lang="en-US" altLang="zh-TW" sz="2900" dirty="0"/>
              <a:t>methods </a:t>
            </a:r>
            <a:r>
              <a:rPr lang="en-US" altLang="zh-TW" sz="2900" dirty="0" smtClean="0"/>
              <a:t>for buffering counts need to modify when </a:t>
            </a:r>
          </a:p>
          <a:p>
            <a:pPr lvl="2"/>
            <a:r>
              <a:rPr lang="en-US" altLang="zh-TW" sz="2500" dirty="0" smtClean="0"/>
              <a:t>FBD is ON/OFF</a:t>
            </a:r>
          </a:p>
          <a:p>
            <a:pPr lvl="2"/>
            <a:r>
              <a:rPr lang="en-US" altLang="zh-TW" sz="2500" dirty="0" smtClean="0"/>
              <a:t>Progressive/Interlacing/H265_Field</a:t>
            </a:r>
          </a:p>
          <a:p>
            <a:r>
              <a:rPr lang="en-US" altLang="zh-TW" sz="3400" dirty="0" smtClean="0"/>
              <a:t>LUMA_DMAR_C_LBW/LUMA_DMAR_PN_LBW</a:t>
            </a:r>
            <a:endParaRPr lang="en-US" altLang="zh-TW" sz="3400" dirty="0"/>
          </a:p>
          <a:p>
            <a:r>
              <a:rPr lang="en-US" altLang="zh-TW" sz="3400" dirty="0" smtClean="0"/>
              <a:t>CRMA_DMAR_C_LBW/CRMA_DMAR_PN_LBW</a:t>
            </a:r>
            <a:endParaRPr lang="en-US" altLang="zh-TW" sz="3400" dirty="0"/>
          </a:p>
          <a:p>
            <a:pPr lvl="1"/>
            <a:r>
              <a:rPr lang="en-US" altLang="zh-TW" sz="2900" dirty="0" smtClean="0"/>
              <a:t>The Read address of SRAM needs to change </a:t>
            </a:r>
          </a:p>
          <a:p>
            <a:pPr lvl="2"/>
            <a:r>
              <a:rPr lang="en-US" altLang="zh-TW" sz="2500" dirty="0" smtClean="0"/>
              <a:t>when FBD is ON</a:t>
            </a:r>
          </a:p>
          <a:p>
            <a:pPr lvl="2"/>
            <a:r>
              <a:rPr lang="en-US" altLang="zh-TW" sz="2500" dirty="0" smtClean="0"/>
              <a:t>Progressive/Interlacing/H265_Field</a:t>
            </a:r>
          </a:p>
          <a:p>
            <a:pPr lvl="1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6077388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Modified Design (2/2)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5127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426" y="3501008"/>
            <a:ext cx="8930574" cy="27363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130503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 smtClean="0"/>
              <a:t>Example of Data Sequence to access FBD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Resolution: 1080I</a:t>
            </a:r>
            <a:endParaRPr lang="zh-TW" altLang="en-US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2348880"/>
            <a:ext cx="25274813" cy="3528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916569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SRAM Evaluation</a:t>
            </a:r>
            <a:endParaRPr lang="zh-TW" altLang="en-US" dirty="0"/>
          </a:p>
        </p:txBody>
      </p:sp>
      <p:graphicFrame>
        <p:nvGraphicFramePr>
          <p:cNvPr id="5" name="內容版面配置區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5291481"/>
              </p:ext>
            </p:extLst>
          </p:nvPr>
        </p:nvGraphicFramePr>
        <p:xfrm>
          <a:off x="395536" y="1844824"/>
          <a:ext cx="8229600" cy="941070"/>
        </p:xfrm>
        <a:graphic>
          <a:graphicData uri="http://schemas.openxmlformats.org/drawingml/2006/table">
            <a:tbl>
              <a:tblPr firstRow="1" firstCol="1" bandRow="1"/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20955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 b="1" kern="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新細明體"/>
                          <a:cs typeface="新細明體"/>
                        </a:rPr>
                        <a:t>Op. </a:t>
                      </a:r>
                      <a:r>
                        <a:rPr lang="en-US" sz="1200" b="1" kern="0" dirty="0" err="1">
                          <a:solidFill>
                            <a:srgbClr val="000000"/>
                          </a:solidFill>
                          <a:effectLst/>
                          <a:latin typeface="Calibri"/>
                          <a:ea typeface="新細明體"/>
                          <a:cs typeface="新細明體"/>
                        </a:rPr>
                        <a:t>Freq</a:t>
                      </a:r>
                      <a:r>
                        <a:rPr lang="en-US" sz="1200" b="1" kern="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新細明體"/>
                          <a:cs typeface="新細明體"/>
                        </a:rPr>
                        <a:t> (MHz)</a:t>
                      </a:r>
                      <a:endParaRPr lang="zh-TW" sz="1200" kern="100" dirty="0">
                        <a:solidFill>
                          <a:srgbClr val="000000"/>
                        </a:solidFill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 b="1" kern="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新細明體"/>
                          <a:cs typeface="新細明體"/>
                        </a:rPr>
                        <a:t>Ideal Throughput per </a:t>
                      </a:r>
                      <a:r>
                        <a:rPr lang="en-US" sz="1200" b="1" kern="0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新細明體"/>
                          <a:cs typeface="新細明體"/>
                        </a:rPr>
                        <a:t>frame time (FPS=60</a:t>
                      </a:r>
                      <a:r>
                        <a:rPr lang="en-US" sz="1200" b="1" kern="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新細明體"/>
                          <a:cs typeface="新細明體"/>
                        </a:rPr>
                        <a:t>)(A)</a:t>
                      </a:r>
                      <a:endParaRPr lang="zh-TW" sz="1200" kern="100" dirty="0">
                        <a:solidFill>
                          <a:srgbClr val="000000"/>
                        </a:solidFill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 b="1" kern="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新細明體"/>
                          <a:cs typeface="新細明體"/>
                        </a:rPr>
                        <a:t>Read Cycle Times (B)</a:t>
                      </a:r>
                      <a:endParaRPr lang="zh-TW" sz="1200" kern="100" dirty="0">
                        <a:solidFill>
                          <a:srgbClr val="000000"/>
                        </a:solidFill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 b="1" kern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新細明體"/>
                          <a:cs typeface="新細明體"/>
                        </a:rPr>
                        <a:t>Write Cycle Times (C )</a:t>
                      </a:r>
                      <a:endParaRPr lang="zh-TW" sz="1200" kern="100">
                        <a:solidFill>
                          <a:srgbClr val="000000"/>
                        </a:solidFill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 b="1" kern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新細明體"/>
                          <a:cs typeface="新細明體"/>
                        </a:rPr>
                        <a:t>Utilization</a:t>
                      </a:r>
                      <a:endParaRPr lang="zh-TW" sz="1200" kern="100">
                        <a:solidFill>
                          <a:srgbClr val="000000"/>
                        </a:solidFill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200" b="1" kern="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新細明體"/>
                          <a:cs typeface="新細明體"/>
                        </a:rPr>
                        <a:t>306</a:t>
                      </a:r>
                      <a:endParaRPr lang="zh-TW" sz="1200" kern="100" dirty="0">
                        <a:solidFill>
                          <a:srgbClr val="000000"/>
                        </a:solidFill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200" kern="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新細明體"/>
                          <a:cs typeface="新細明體"/>
                        </a:rPr>
                        <a:t>5100000</a:t>
                      </a:r>
                      <a:endParaRPr lang="zh-TW" sz="1200" kern="100" dirty="0">
                        <a:solidFill>
                          <a:srgbClr val="000000"/>
                        </a:solidFill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200" kern="0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新細明體"/>
                          <a:cs typeface="新細明體"/>
                        </a:rPr>
                        <a:t>829440</a:t>
                      </a:r>
                      <a:endParaRPr lang="zh-TW" sz="1200" kern="100" dirty="0">
                        <a:solidFill>
                          <a:srgbClr val="000000"/>
                        </a:solidFill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200" kern="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新細明體"/>
                          <a:cs typeface="新細明體"/>
                        </a:rPr>
                        <a:t>1244160</a:t>
                      </a:r>
                      <a:endParaRPr lang="zh-TW" sz="1200" kern="100" dirty="0">
                        <a:solidFill>
                          <a:srgbClr val="000000"/>
                        </a:solidFill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200" kern="0" dirty="0">
                          <a:solidFill>
                            <a:srgbClr val="FF0000"/>
                          </a:solidFill>
                          <a:effectLst/>
                          <a:latin typeface="Calibri"/>
                          <a:ea typeface="新細明體"/>
                          <a:cs typeface="新細明體"/>
                        </a:rPr>
                        <a:t>36.59%</a:t>
                      </a:r>
                      <a:endParaRPr lang="zh-TW" sz="1200" kern="100" dirty="0">
                        <a:solidFill>
                          <a:srgbClr val="FF0000"/>
                        </a:solidFill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endParaRPr lang="zh-TW" sz="1200" kern="10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 kern="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新細明體"/>
                          <a:cs typeface="新細明體"/>
                        </a:rPr>
                        <a:t>306*1000*1000/60</a:t>
                      </a:r>
                      <a:endParaRPr lang="zh-TW" sz="1200" kern="100" dirty="0">
                        <a:solidFill>
                          <a:srgbClr val="000000"/>
                        </a:solidFill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 kern="0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新細明體"/>
                          <a:cs typeface="新細明體"/>
                        </a:rPr>
                        <a:t>2048*540*3*2/8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altLang="zh-TW" sz="1200" kern="0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新細明體"/>
                          <a:cs typeface="Times New Roman"/>
                        </a:rPr>
                        <a:t>YUV422</a:t>
                      </a:r>
                      <a:endParaRPr lang="zh-TW" sz="1200" kern="100" dirty="0">
                        <a:solidFill>
                          <a:srgbClr val="000000"/>
                        </a:solidFill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 kern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/>
                          <a:cs typeface="新細明體"/>
                        </a:rPr>
                        <a:t>2048*540*3*1.5*2/8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altLang="zh-TW" sz="1200" kern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/>
                          <a:cs typeface="Times New Roman"/>
                        </a:rPr>
                        <a:t>YUV420</a:t>
                      </a:r>
                      <a:endParaRPr lang="zh-TW" sz="1200" kern="100" dirty="0">
                        <a:solidFill>
                          <a:srgbClr val="000000"/>
                        </a:solidFill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 kern="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新細明體"/>
                          <a:cs typeface="新細明體"/>
                        </a:rPr>
                        <a:t>(B+C)/A</a:t>
                      </a:r>
                      <a:endParaRPr lang="zh-TW" sz="1200" kern="100" dirty="0">
                        <a:solidFill>
                          <a:srgbClr val="000000"/>
                        </a:solidFill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8590772"/>
              </p:ext>
            </p:extLst>
          </p:nvPr>
        </p:nvGraphicFramePr>
        <p:xfrm>
          <a:off x="1187624" y="3356992"/>
          <a:ext cx="6807834" cy="3229610"/>
        </p:xfrm>
        <a:graphic>
          <a:graphicData uri="http://schemas.openxmlformats.org/drawingml/2006/table">
            <a:tbl>
              <a:tblPr firstRow="1" firstCol="1" bandRow="1"/>
              <a:tblGrid>
                <a:gridCol w="756426"/>
                <a:gridCol w="756426"/>
                <a:gridCol w="756426"/>
                <a:gridCol w="756426"/>
                <a:gridCol w="756426"/>
                <a:gridCol w="756426"/>
                <a:gridCol w="756426"/>
                <a:gridCol w="756426"/>
                <a:gridCol w="756426"/>
              </a:tblGrid>
              <a:tr h="260350">
                <a:tc rowSpan="2"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200" b="1" kern="0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新細明體"/>
                          <a:cs typeface="新細明體"/>
                        </a:rPr>
                        <a:t>Pool  Type</a:t>
                      </a:r>
                      <a:endParaRPr lang="zh-TW" sz="1200" kern="100" dirty="0">
                        <a:solidFill>
                          <a:srgbClr val="000000"/>
                        </a:solidFill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新細明體"/>
                          <a:cs typeface="新細明體"/>
                        </a:rPr>
                        <a:t>Data</a:t>
                      </a:r>
                      <a:endParaRPr lang="zh-TW" sz="1200" kern="100">
                        <a:solidFill>
                          <a:srgbClr val="000000"/>
                        </a:solidFill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新細明體"/>
                          <a:cs typeface="新細明體"/>
                        </a:rPr>
                        <a:t>SRAM</a:t>
                      </a:r>
                      <a:endParaRPr lang="zh-TW" sz="1200" kern="100">
                        <a:solidFill>
                          <a:srgbClr val="000000"/>
                        </a:solidFill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26035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200" kern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新細明體"/>
                          <a:cs typeface="新細明體"/>
                        </a:rPr>
                        <a:t>Type</a:t>
                      </a:r>
                      <a:endParaRPr lang="zh-TW" sz="1200" kern="100">
                        <a:solidFill>
                          <a:srgbClr val="000000"/>
                        </a:solidFill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200" kern="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新細明體"/>
                          <a:cs typeface="新細明體"/>
                        </a:rPr>
                        <a:t>Width</a:t>
                      </a:r>
                      <a:endParaRPr lang="zh-TW" sz="1200" kern="100" dirty="0">
                        <a:solidFill>
                          <a:srgbClr val="000000"/>
                        </a:solidFill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200" kern="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新細明體"/>
                          <a:cs typeface="新細明體"/>
                        </a:rPr>
                        <a:t>Height</a:t>
                      </a:r>
                      <a:endParaRPr lang="zh-TW" sz="1200" kern="100" dirty="0">
                        <a:solidFill>
                          <a:srgbClr val="000000"/>
                        </a:solidFill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200" kern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新細明體"/>
                          <a:cs typeface="新細明體"/>
                        </a:rPr>
                        <a:t>Data Width</a:t>
                      </a:r>
                      <a:endParaRPr lang="zh-TW" sz="1200" kern="100">
                        <a:solidFill>
                          <a:srgbClr val="000000"/>
                        </a:solidFill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200" kern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新細明體"/>
                          <a:cs typeface="新細明體"/>
                        </a:rPr>
                        <a:t>WE</a:t>
                      </a:r>
                      <a:endParaRPr lang="zh-TW" sz="1200" kern="100">
                        <a:solidFill>
                          <a:srgbClr val="000000"/>
                        </a:solidFill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200" kern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新細明體"/>
                          <a:cs typeface="新細明體"/>
                        </a:rPr>
                        <a:t>Width</a:t>
                      </a:r>
                      <a:endParaRPr lang="zh-TW" sz="1200" kern="100">
                        <a:solidFill>
                          <a:srgbClr val="000000"/>
                        </a:solidFill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200" kern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新細明體"/>
                          <a:cs typeface="新細明體"/>
                        </a:rPr>
                        <a:t>Height</a:t>
                      </a:r>
                      <a:endParaRPr lang="zh-TW" sz="1200" kern="100">
                        <a:solidFill>
                          <a:srgbClr val="000000"/>
                        </a:solidFill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200" kern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新細明體"/>
                          <a:cs typeface="新細明體"/>
                        </a:rPr>
                        <a:t>Size</a:t>
                      </a:r>
                      <a:endParaRPr lang="zh-TW" sz="1200" kern="100">
                        <a:solidFill>
                          <a:srgbClr val="000000"/>
                        </a:solidFill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</a:tr>
              <a:tr h="260350">
                <a:tc rowSpan="3"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200" b="1" kern="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新細明體"/>
                          <a:cs typeface="新細明體"/>
                        </a:rPr>
                        <a:t>Current</a:t>
                      </a:r>
                      <a:endParaRPr lang="zh-TW" sz="1200" kern="100" dirty="0">
                        <a:solidFill>
                          <a:srgbClr val="000000"/>
                        </a:solidFill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200" kern="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新細明體"/>
                          <a:cs typeface="新細明體"/>
                        </a:rPr>
                        <a:t>Y</a:t>
                      </a:r>
                      <a:endParaRPr lang="zh-TW" sz="1200" kern="100" dirty="0">
                        <a:solidFill>
                          <a:srgbClr val="000000"/>
                        </a:solidFill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200" kern="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新細明體"/>
                          <a:cs typeface="新細明體"/>
                        </a:rPr>
                        <a:t>1920</a:t>
                      </a:r>
                      <a:endParaRPr lang="zh-TW" sz="1200" kern="0" dirty="0">
                        <a:solidFill>
                          <a:srgbClr val="000000"/>
                        </a:solidFill>
                        <a:effectLst/>
                        <a:latin typeface="Calibri"/>
                        <a:ea typeface="新細明體"/>
                        <a:cs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200" kern="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新細明體"/>
                          <a:cs typeface="新細明體"/>
                        </a:rPr>
                        <a:t>4</a:t>
                      </a:r>
                      <a:endParaRPr lang="zh-TW" sz="1200" kern="0" dirty="0">
                        <a:solidFill>
                          <a:srgbClr val="000000"/>
                        </a:solidFill>
                        <a:effectLst/>
                        <a:latin typeface="Calibri"/>
                        <a:ea typeface="新細明體"/>
                        <a:cs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200" kern="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新細明體"/>
                          <a:cs typeface="新細明體"/>
                        </a:rPr>
                        <a:t>160</a:t>
                      </a:r>
                      <a:endParaRPr lang="zh-TW" sz="1200" kern="0" dirty="0">
                        <a:solidFill>
                          <a:srgbClr val="000000"/>
                        </a:solidFill>
                        <a:effectLst/>
                        <a:latin typeface="Calibri"/>
                        <a:ea typeface="新細明體"/>
                        <a:cs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200" kern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新細明體"/>
                          <a:cs typeface="新細明體"/>
                        </a:rPr>
                        <a:t>4</a:t>
                      </a:r>
                      <a:endParaRPr lang="zh-TW" sz="1200" kern="0">
                        <a:solidFill>
                          <a:srgbClr val="000000"/>
                        </a:solidFill>
                        <a:effectLst/>
                        <a:latin typeface="Calibri"/>
                        <a:ea typeface="新細明體"/>
                        <a:cs typeface="新細明體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200" kern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新細明體"/>
                          <a:cs typeface="新細明體"/>
                        </a:rPr>
                        <a:t>160</a:t>
                      </a:r>
                      <a:endParaRPr lang="zh-TW" sz="1200" kern="0">
                        <a:solidFill>
                          <a:srgbClr val="000000"/>
                        </a:solidFill>
                        <a:effectLst/>
                        <a:latin typeface="Calibri"/>
                        <a:ea typeface="新細明體"/>
                        <a:cs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200" kern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新細明體"/>
                          <a:cs typeface="新細明體"/>
                        </a:rPr>
                        <a:t>480</a:t>
                      </a:r>
                      <a:endParaRPr lang="zh-TW" sz="1200" kern="0">
                        <a:solidFill>
                          <a:srgbClr val="000000"/>
                        </a:solidFill>
                        <a:effectLst/>
                        <a:latin typeface="Calibri"/>
                        <a:ea typeface="新細明體"/>
                        <a:cs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200" kern="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新細明體"/>
                          <a:cs typeface="新細明體"/>
                        </a:rPr>
                        <a:t>76800</a:t>
                      </a:r>
                      <a:endParaRPr lang="zh-TW" sz="1200" kern="0" dirty="0">
                        <a:solidFill>
                          <a:srgbClr val="000000"/>
                        </a:solidFill>
                        <a:effectLst/>
                        <a:latin typeface="Calibri"/>
                        <a:ea typeface="新細明體"/>
                        <a:cs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26035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200" kern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新細明體"/>
                          <a:cs typeface="新細明體"/>
                        </a:rPr>
                        <a:t>Cb</a:t>
                      </a:r>
                      <a:endParaRPr lang="zh-TW" sz="1200" kern="100">
                        <a:solidFill>
                          <a:srgbClr val="000000"/>
                        </a:solidFill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200" kern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新細明體"/>
                          <a:cs typeface="新細明體"/>
                        </a:rPr>
                        <a:t>960</a:t>
                      </a:r>
                      <a:endParaRPr lang="zh-TW" sz="1200" kern="0">
                        <a:solidFill>
                          <a:srgbClr val="000000"/>
                        </a:solidFill>
                        <a:effectLst/>
                        <a:latin typeface="Calibri"/>
                        <a:ea typeface="新細明體"/>
                        <a:cs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200" kern="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新細明體"/>
                          <a:cs typeface="新細明體"/>
                        </a:rPr>
                        <a:t>4</a:t>
                      </a:r>
                      <a:endParaRPr lang="zh-TW" sz="1200" kern="0" dirty="0">
                        <a:solidFill>
                          <a:srgbClr val="000000"/>
                        </a:solidFill>
                        <a:effectLst/>
                        <a:latin typeface="Calibri"/>
                        <a:ea typeface="新細明體"/>
                        <a:cs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200" kern="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新細明體"/>
                          <a:cs typeface="新細明體"/>
                        </a:rPr>
                        <a:t>160</a:t>
                      </a:r>
                      <a:endParaRPr lang="zh-TW" sz="1200" kern="0" dirty="0">
                        <a:solidFill>
                          <a:srgbClr val="000000"/>
                        </a:solidFill>
                        <a:effectLst/>
                        <a:latin typeface="Calibri"/>
                        <a:ea typeface="新細明體"/>
                        <a:cs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200" kern="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新細明體"/>
                          <a:cs typeface="新細明體"/>
                        </a:rPr>
                        <a:t>4</a:t>
                      </a:r>
                      <a:endParaRPr lang="zh-TW" sz="1200" kern="0" dirty="0">
                        <a:solidFill>
                          <a:srgbClr val="000000"/>
                        </a:solidFill>
                        <a:effectLst/>
                        <a:latin typeface="Calibri"/>
                        <a:ea typeface="新細明體"/>
                        <a:cs typeface="新細明體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200" kern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新細明體"/>
                          <a:cs typeface="新細明體"/>
                        </a:rPr>
                        <a:t>160</a:t>
                      </a:r>
                      <a:endParaRPr lang="zh-TW" sz="1200" kern="0">
                        <a:solidFill>
                          <a:srgbClr val="000000"/>
                        </a:solidFill>
                        <a:effectLst/>
                        <a:latin typeface="Calibri"/>
                        <a:ea typeface="新細明體"/>
                        <a:cs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200" kern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新細明體"/>
                          <a:cs typeface="新細明體"/>
                        </a:rPr>
                        <a:t>240</a:t>
                      </a:r>
                      <a:endParaRPr lang="zh-TW" sz="1200" kern="0">
                        <a:solidFill>
                          <a:srgbClr val="000000"/>
                        </a:solidFill>
                        <a:effectLst/>
                        <a:latin typeface="Calibri"/>
                        <a:ea typeface="新細明體"/>
                        <a:cs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200" kern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新細明體"/>
                          <a:cs typeface="新細明體"/>
                        </a:rPr>
                        <a:t>38400</a:t>
                      </a:r>
                      <a:endParaRPr lang="zh-TW" sz="1200" kern="0">
                        <a:solidFill>
                          <a:srgbClr val="000000"/>
                        </a:solidFill>
                        <a:effectLst/>
                        <a:latin typeface="Calibri"/>
                        <a:ea typeface="新細明體"/>
                        <a:cs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C0C0"/>
                    </a:solidFill>
                  </a:tcPr>
                </a:tc>
              </a:tr>
              <a:tr h="26035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200" kern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新細明體"/>
                          <a:cs typeface="新細明體"/>
                        </a:rPr>
                        <a:t>Cr</a:t>
                      </a:r>
                      <a:endParaRPr lang="zh-TW" sz="1200" kern="100">
                        <a:solidFill>
                          <a:srgbClr val="000000"/>
                        </a:solidFill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200" kern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新細明體"/>
                          <a:cs typeface="新細明體"/>
                        </a:rPr>
                        <a:t>960</a:t>
                      </a:r>
                      <a:endParaRPr lang="zh-TW" sz="1200" kern="0">
                        <a:solidFill>
                          <a:srgbClr val="000000"/>
                        </a:solidFill>
                        <a:effectLst/>
                        <a:latin typeface="Calibri"/>
                        <a:ea typeface="新細明體"/>
                        <a:cs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200" kern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新細明體"/>
                          <a:cs typeface="新細明體"/>
                        </a:rPr>
                        <a:t>4</a:t>
                      </a:r>
                      <a:endParaRPr lang="zh-TW" sz="1200" kern="0">
                        <a:solidFill>
                          <a:srgbClr val="000000"/>
                        </a:solidFill>
                        <a:effectLst/>
                        <a:latin typeface="Calibri"/>
                        <a:ea typeface="新細明體"/>
                        <a:cs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200" kern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新細明體"/>
                          <a:cs typeface="新細明體"/>
                        </a:rPr>
                        <a:t>160</a:t>
                      </a:r>
                      <a:endParaRPr lang="zh-TW" sz="1200" kern="0">
                        <a:solidFill>
                          <a:srgbClr val="000000"/>
                        </a:solidFill>
                        <a:effectLst/>
                        <a:latin typeface="Calibri"/>
                        <a:ea typeface="新細明體"/>
                        <a:cs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200" kern="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新細明體"/>
                          <a:cs typeface="新細明體"/>
                        </a:rPr>
                        <a:t>4</a:t>
                      </a:r>
                      <a:endParaRPr lang="zh-TW" sz="1200" kern="0" dirty="0">
                        <a:solidFill>
                          <a:srgbClr val="000000"/>
                        </a:solidFill>
                        <a:effectLst/>
                        <a:latin typeface="Calibri"/>
                        <a:ea typeface="新細明體"/>
                        <a:cs typeface="新細明體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200" kern="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新細明體"/>
                          <a:cs typeface="新細明體"/>
                        </a:rPr>
                        <a:t>160</a:t>
                      </a:r>
                      <a:endParaRPr lang="zh-TW" sz="1200" kern="0" dirty="0">
                        <a:solidFill>
                          <a:srgbClr val="000000"/>
                        </a:solidFill>
                        <a:effectLst/>
                        <a:latin typeface="Calibri"/>
                        <a:ea typeface="新細明體"/>
                        <a:cs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200" kern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新細明體"/>
                          <a:cs typeface="新細明體"/>
                        </a:rPr>
                        <a:t>240</a:t>
                      </a:r>
                      <a:endParaRPr lang="zh-TW" sz="1200" kern="0">
                        <a:solidFill>
                          <a:srgbClr val="000000"/>
                        </a:solidFill>
                        <a:effectLst/>
                        <a:latin typeface="Calibri"/>
                        <a:ea typeface="新細明體"/>
                        <a:cs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200" kern="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新細明體"/>
                          <a:cs typeface="新細明體"/>
                        </a:rPr>
                        <a:t>38400</a:t>
                      </a:r>
                      <a:endParaRPr lang="zh-TW" sz="1200" kern="0" dirty="0">
                        <a:solidFill>
                          <a:srgbClr val="000000"/>
                        </a:solidFill>
                        <a:effectLst/>
                        <a:latin typeface="Calibri"/>
                        <a:ea typeface="新細明體"/>
                        <a:cs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0350">
                <a:tc rowSpan="3"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200" b="1" kern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新細明體"/>
                          <a:cs typeface="新細明體"/>
                        </a:rPr>
                        <a:t>Pervious</a:t>
                      </a:r>
                      <a:endParaRPr lang="zh-TW" sz="1200" kern="100">
                        <a:solidFill>
                          <a:srgbClr val="000000"/>
                        </a:solidFill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200" kern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新細明體"/>
                          <a:cs typeface="新細明體"/>
                        </a:rPr>
                        <a:t>Y</a:t>
                      </a:r>
                      <a:endParaRPr lang="zh-TW" sz="1200" kern="100">
                        <a:solidFill>
                          <a:srgbClr val="000000"/>
                        </a:solidFill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200" kern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新細明體"/>
                          <a:cs typeface="新細明體"/>
                        </a:rPr>
                        <a:t>1920</a:t>
                      </a:r>
                      <a:endParaRPr lang="zh-TW" sz="1200" kern="0">
                        <a:solidFill>
                          <a:srgbClr val="000000"/>
                        </a:solidFill>
                        <a:effectLst/>
                        <a:latin typeface="Calibri"/>
                        <a:ea typeface="新細明體"/>
                        <a:cs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200" kern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新細明體"/>
                          <a:cs typeface="新細明體"/>
                        </a:rPr>
                        <a:t>4</a:t>
                      </a:r>
                      <a:endParaRPr lang="zh-TW" sz="1200" kern="0">
                        <a:solidFill>
                          <a:srgbClr val="000000"/>
                        </a:solidFill>
                        <a:effectLst/>
                        <a:latin typeface="Calibri"/>
                        <a:ea typeface="新細明體"/>
                        <a:cs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200" kern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新細明體"/>
                          <a:cs typeface="新細明體"/>
                        </a:rPr>
                        <a:t>160</a:t>
                      </a:r>
                      <a:endParaRPr lang="zh-TW" sz="1200" kern="0">
                        <a:solidFill>
                          <a:srgbClr val="000000"/>
                        </a:solidFill>
                        <a:effectLst/>
                        <a:latin typeface="Calibri"/>
                        <a:ea typeface="新細明體"/>
                        <a:cs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200" kern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新細明體"/>
                          <a:cs typeface="新細明體"/>
                        </a:rPr>
                        <a:t>4</a:t>
                      </a:r>
                      <a:endParaRPr lang="zh-TW" sz="1200" kern="0">
                        <a:solidFill>
                          <a:srgbClr val="000000"/>
                        </a:solidFill>
                        <a:effectLst/>
                        <a:latin typeface="Calibri"/>
                        <a:ea typeface="新細明體"/>
                        <a:cs typeface="新細明體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200" kern="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新細明體"/>
                          <a:cs typeface="新細明體"/>
                        </a:rPr>
                        <a:t>160</a:t>
                      </a:r>
                      <a:endParaRPr lang="zh-TW" sz="1200" kern="0" dirty="0">
                        <a:solidFill>
                          <a:srgbClr val="000000"/>
                        </a:solidFill>
                        <a:effectLst/>
                        <a:latin typeface="Calibri"/>
                        <a:ea typeface="新細明體"/>
                        <a:cs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200" kern="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新細明體"/>
                          <a:cs typeface="新細明體"/>
                        </a:rPr>
                        <a:t>480</a:t>
                      </a:r>
                      <a:endParaRPr lang="zh-TW" sz="1200" kern="0" dirty="0">
                        <a:solidFill>
                          <a:srgbClr val="000000"/>
                        </a:solidFill>
                        <a:effectLst/>
                        <a:latin typeface="Calibri"/>
                        <a:ea typeface="新細明體"/>
                        <a:cs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200" kern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新細明體"/>
                          <a:cs typeface="新細明體"/>
                        </a:rPr>
                        <a:t>76800</a:t>
                      </a:r>
                      <a:endParaRPr lang="zh-TW" sz="1200" kern="0">
                        <a:solidFill>
                          <a:srgbClr val="000000"/>
                        </a:solidFill>
                        <a:effectLst/>
                        <a:latin typeface="Calibri"/>
                        <a:ea typeface="新細明體"/>
                        <a:cs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C0C0C0"/>
                    </a:solidFill>
                  </a:tcPr>
                </a:tc>
              </a:tr>
              <a:tr h="26035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200" kern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新細明體"/>
                          <a:cs typeface="新細明體"/>
                        </a:rPr>
                        <a:t>Cb</a:t>
                      </a:r>
                      <a:endParaRPr lang="zh-TW" sz="1200" kern="100">
                        <a:solidFill>
                          <a:srgbClr val="000000"/>
                        </a:solidFill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200" kern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新細明體"/>
                          <a:cs typeface="新細明體"/>
                        </a:rPr>
                        <a:t>960</a:t>
                      </a:r>
                      <a:endParaRPr lang="zh-TW" sz="1200" kern="0">
                        <a:solidFill>
                          <a:srgbClr val="000000"/>
                        </a:solidFill>
                        <a:effectLst/>
                        <a:latin typeface="Calibri"/>
                        <a:ea typeface="新細明體"/>
                        <a:cs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200" kern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新細明體"/>
                          <a:cs typeface="新細明體"/>
                        </a:rPr>
                        <a:t>4</a:t>
                      </a:r>
                      <a:endParaRPr lang="zh-TW" sz="1200" kern="0">
                        <a:solidFill>
                          <a:srgbClr val="000000"/>
                        </a:solidFill>
                        <a:effectLst/>
                        <a:latin typeface="Calibri"/>
                        <a:ea typeface="新細明體"/>
                        <a:cs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200" kern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新細明體"/>
                          <a:cs typeface="新細明體"/>
                        </a:rPr>
                        <a:t>160</a:t>
                      </a:r>
                      <a:endParaRPr lang="zh-TW" sz="1200" kern="0">
                        <a:solidFill>
                          <a:srgbClr val="000000"/>
                        </a:solidFill>
                        <a:effectLst/>
                        <a:latin typeface="Calibri"/>
                        <a:ea typeface="新細明體"/>
                        <a:cs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200" kern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新細明體"/>
                          <a:cs typeface="新細明體"/>
                        </a:rPr>
                        <a:t>4</a:t>
                      </a:r>
                      <a:endParaRPr lang="zh-TW" sz="1200" kern="0">
                        <a:solidFill>
                          <a:srgbClr val="000000"/>
                        </a:solidFill>
                        <a:effectLst/>
                        <a:latin typeface="Calibri"/>
                        <a:ea typeface="新細明體"/>
                        <a:cs typeface="新細明體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200" kern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新細明體"/>
                          <a:cs typeface="新細明體"/>
                        </a:rPr>
                        <a:t>160</a:t>
                      </a:r>
                      <a:endParaRPr lang="zh-TW" sz="1200" kern="0">
                        <a:solidFill>
                          <a:srgbClr val="000000"/>
                        </a:solidFill>
                        <a:effectLst/>
                        <a:latin typeface="Calibri"/>
                        <a:ea typeface="新細明體"/>
                        <a:cs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200" kern="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新細明體"/>
                          <a:cs typeface="新細明體"/>
                        </a:rPr>
                        <a:t>240</a:t>
                      </a:r>
                      <a:endParaRPr lang="zh-TW" sz="1200" kern="0" dirty="0">
                        <a:solidFill>
                          <a:srgbClr val="000000"/>
                        </a:solidFill>
                        <a:effectLst/>
                        <a:latin typeface="Calibri"/>
                        <a:ea typeface="新細明體"/>
                        <a:cs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200" kern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新細明體"/>
                          <a:cs typeface="新細明體"/>
                        </a:rPr>
                        <a:t>38400</a:t>
                      </a:r>
                      <a:endParaRPr lang="zh-TW" sz="1200" kern="0">
                        <a:solidFill>
                          <a:srgbClr val="000000"/>
                        </a:solidFill>
                        <a:effectLst/>
                        <a:latin typeface="Calibri"/>
                        <a:ea typeface="新細明體"/>
                        <a:cs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6035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200" kern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新細明體"/>
                          <a:cs typeface="新細明體"/>
                        </a:rPr>
                        <a:t>Cr</a:t>
                      </a:r>
                      <a:endParaRPr lang="zh-TW" sz="1200" kern="100">
                        <a:solidFill>
                          <a:srgbClr val="000000"/>
                        </a:solidFill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200" kern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新細明體"/>
                          <a:cs typeface="新細明體"/>
                        </a:rPr>
                        <a:t>960</a:t>
                      </a:r>
                      <a:endParaRPr lang="zh-TW" sz="1200" kern="0">
                        <a:solidFill>
                          <a:srgbClr val="000000"/>
                        </a:solidFill>
                        <a:effectLst/>
                        <a:latin typeface="Calibri"/>
                        <a:ea typeface="新細明體"/>
                        <a:cs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200" kern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新細明體"/>
                          <a:cs typeface="新細明體"/>
                        </a:rPr>
                        <a:t>4</a:t>
                      </a:r>
                      <a:endParaRPr lang="zh-TW" sz="1200" kern="0">
                        <a:solidFill>
                          <a:srgbClr val="000000"/>
                        </a:solidFill>
                        <a:effectLst/>
                        <a:latin typeface="Calibri"/>
                        <a:ea typeface="新細明體"/>
                        <a:cs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200" kern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新細明體"/>
                          <a:cs typeface="新細明體"/>
                        </a:rPr>
                        <a:t>160</a:t>
                      </a:r>
                      <a:endParaRPr lang="zh-TW" sz="1200" kern="0">
                        <a:solidFill>
                          <a:srgbClr val="000000"/>
                        </a:solidFill>
                        <a:effectLst/>
                        <a:latin typeface="Calibri"/>
                        <a:ea typeface="新細明體"/>
                        <a:cs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200" kern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新細明體"/>
                          <a:cs typeface="新細明體"/>
                        </a:rPr>
                        <a:t>4</a:t>
                      </a:r>
                      <a:endParaRPr lang="zh-TW" sz="1200" kern="0">
                        <a:solidFill>
                          <a:srgbClr val="000000"/>
                        </a:solidFill>
                        <a:effectLst/>
                        <a:latin typeface="Calibri"/>
                        <a:ea typeface="新細明體"/>
                        <a:cs typeface="新細明體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200" kern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新細明體"/>
                          <a:cs typeface="新細明體"/>
                        </a:rPr>
                        <a:t>160</a:t>
                      </a:r>
                      <a:endParaRPr lang="zh-TW" sz="1200" kern="0">
                        <a:solidFill>
                          <a:srgbClr val="000000"/>
                        </a:solidFill>
                        <a:effectLst/>
                        <a:latin typeface="Calibri"/>
                        <a:ea typeface="新細明體"/>
                        <a:cs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200" kern="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新細明體"/>
                          <a:cs typeface="新細明體"/>
                        </a:rPr>
                        <a:t>240</a:t>
                      </a:r>
                      <a:endParaRPr lang="zh-TW" sz="1200" kern="0" dirty="0">
                        <a:solidFill>
                          <a:srgbClr val="000000"/>
                        </a:solidFill>
                        <a:effectLst/>
                        <a:latin typeface="Calibri"/>
                        <a:ea typeface="新細明體"/>
                        <a:cs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200" kern="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新細明體"/>
                          <a:cs typeface="新細明體"/>
                        </a:rPr>
                        <a:t>38400</a:t>
                      </a:r>
                      <a:endParaRPr lang="zh-TW" sz="1200" kern="0" dirty="0">
                        <a:solidFill>
                          <a:srgbClr val="000000"/>
                        </a:solidFill>
                        <a:effectLst/>
                        <a:latin typeface="Calibri"/>
                        <a:ea typeface="新細明體"/>
                        <a:cs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</a:tr>
              <a:tr h="260350">
                <a:tc rowSpan="3"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200" b="1" kern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新細明體"/>
                          <a:cs typeface="新細明體"/>
                        </a:rPr>
                        <a:t>Next</a:t>
                      </a:r>
                      <a:endParaRPr lang="zh-TW" sz="1200" kern="100">
                        <a:solidFill>
                          <a:srgbClr val="000000"/>
                        </a:solidFill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200" kern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新細明體"/>
                          <a:cs typeface="新細明體"/>
                        </a:rPr>
                        <a:t>Y</a:t>
                      </a:r>
                      <a:endParaRPr lang="zh-TW" sz="1200" kern="100">
                        <a:solidFill>
                          <a:srgbClr val="000000"/>
                        </a:solidFill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200" kern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新細明體"/>
                          <a:cs typeface="新細明體"/>
                        </a:rPr>
                        <a:t>1920</a:t>
                      </a:r>
                      <a:endParaRPr lang="zh-TW" sz="1200" kern="0">
                        <a:solidFill>
                          <a:srgbClr val="000000"/>
                        </a:solidFill>
                        <a:effectLst/>
                        <a:latin typeface="Calibri"/>
                        <a:ea typeface="新細明體"/>
                        <a:cs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200" kern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新細明體"/>
                          <a:cs typeface="新細明體"/>
                        </a:rPr>
                        <a:t>4</a:t>
                      </a:r>
                      <a:endParaRPr lang="zh-TW" sz="1200" kern="0">
                        <a:solidFill>
                          <a:srgbClr val="000000"/>
                        </a:solidFill>
                        <a:effectLst/>
                        <a:latin typeface="Calibri"/>
                        <a:ea typeface="新細明體"/>
                        <a:cs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200" kern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新細明體"/>
                          <a:cs typeface="新細明體"/>
                        </a:rPr>
                        <a:t>160</a:t>
                      </a:r>
                      <a:endParaRPr lang="zh-TW" sz="1200" kern="0">
                        <a:solidFill>
                          <a:srgbClr val="000000"/>
                        </a:solidFill>
                        <a:effectLst/>
                        <a:latin typeface="Calibri"/>
                        <a:ea typeface="新細明體"/>
                        <a:cs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200" kern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新細明體"/>
                          <a:cs typeface="新細明體"/>
                        </a:rPr>
                        <a:t>4</a:t>
                      </a:r>
                      <a:endParaRPr lang="zh-TW" sz="1200" kern="0">
                        <a:solidFill>
                          <a:srgbClr val="000000"/>
                        </a:solidFill>
                        <a:effectLst/>
                        <a:latin typeface="Calibri"/>
                        <a:ea typeface="新細明體"/>
                        <a:cs typeface="新細明體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200" kern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新細明體"/>
                          <a:cs typeface="新細明體"/>
                        </a:rPr>
                        <a:t>160</a:t>
                      </a:r>
                      <a:endParaRPr lang="zh-TW" sz="1200" kern="0">
                        <a:solidFill>
                          <a:srgbClr val="000000"/>
                        </a:solidFill>
                        <a:effectLst/>
                        <a:latin typeface="Calibri"/>
                        <a:ea typeface="新細明體"/>
                        <a:cs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200" kern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新細明體"/>
                          <a:cs typeface="新細明體"/>
                        </a:rPr>
                        <a:t>480</a:t>
                      </a:r>
                      <a:endParaRPr lang="zh-TW" sz="1200" kern="0">
                        <a:solidFill>
                          <a:srgbClr val="000000"/>
                        </a:solidFill>
                        <a:effectLst/>
                        <a:latin typeface="Calibri"/>
                        <a:ea typeface="新細明體"/>
                        <a:cs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200" kern="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新細明體"/>
                          <a:cs typeface="新細明體"/>
                        </a:rPr>
                        <a:t>76800</a:t>
                      </a:r>
                      <a:endParaRPr lang="zh-TW" sz="1200" kern="0" dirty="0">
                        <a:solidFill>
                          <a:srgbClr val="000000"/>
                        </a:solidFill>
                        <a:effectLst/>
                        <a:latin typeface="Calibri"/>
                        <a:ea typeface="新細明體"/>
                        <a:cs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26035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200" kern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新細明體"/>
                          <a:cs typeface="新細明體"/>
                        </a:rPr>
                        <a:t>Cb</a:t>
                      </a:r>
                      <a:endParaRPr lang="zh-TW" sz="1200" kern="100">
                        <a:solidFill>
                          <a:srgbClr val="000000"/>
                        </a:solidFill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200" kern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新細明體"/>
                          <a:cs typeface="新細明體"/>
                        </a:rPr>
                        <a:t>960</a:t>
                      </a:r>
                      <a:endParaRPr lang="zh-TW" sz="1200" kern="0">
                        <a:solidFill>
                          <a:srgbClr val="000000"/>
                        </a:solidFill>
                        <a:effectLst/>
                        <a:latin typeface="Calibri"/>
                        <a:ea typeface="新細明體"/>
                        <a:cs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200" kern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新細明體"/>
                          <a:cs typeface="新細明體"/>
                        </a:rPr>
                        <a:t>4</a:t>
                      </a:r>
                      <a:endParaRPr lang="zh-TW" sz="1200" kern="0">
                        <a:solidFill>
                          <a:srgbClr val="000000"/>
                        </a:solidFill>
                        <a:effectLst/>
                        <a:latin typeface="Calibri"/>
                        <a:ea typeface="新細明體"/>
                        <a:cs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200" kern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新細明體"/>
                          <a:cs typeface="新細明體"/>
                        </a:rPr>
                        <a:t>160</a:t>
                      </a:r>
                      <a:endParaRPr lang="zh-TW" sz="1200" kern="0">
                        <a:solidFill>
                          <a:srgbClr val="000000"/>
                        </a:solidFill>
                        <a:effectLst/>
                        <a:latin typeface="Calibri"/>
                        <a:ea typeface="新細明體"/>
                        <a:cs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200" kern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新細明體"/>
                          <a:cs typeface="新細明體"/>
                        </a:rPr>
                        <a:t>4</a:t>
                      </a:r>
                      <a:endParaRPr lang="zh-TW" sz="1200" kern="0">
                        <a:solidFill>
                          <a:srgbClr val="000000"/>
                        </a:solidFill>
                        <a:effectLst/>
                        <a:latin typeface="Calibri"/>
                        <a:ea typeface="新細明體"/>
                        <a:cs typeface="新細明體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200" kern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新細明體"/>
                          <a:cs typeface="新細明體"/>
                        </a:rPr>
                        <a:t>160</a:t>
                      </a:r>
                      <a:endParaRPr lang="zh-TW" sz="1200" kern="0">
                        <a:solidFill>
                          <a:srgbClr val="000000"/>
                        </a:solidFill>
                        <a:effectLst/>
                        <a:latin typeface="Calibri"/>
                        <a:ea typeface="新細明體"/>
                        <a:cs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200" kern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新細明體"/>
                          <a:cs typeface="新細明體"/>
                        </a:rPr>
                        <a:t>240</a:t>
                      </a:r>
                      <a:endParaRPr lang="zh-TW" sz="1200" kern="0">
                        <a:solidFill>
                          <a:srgbClr val="000000"/>
                        </a:solidFill>
                        <a:effectLst/>
                        <a:latin typeface="Calibri"/>
                        <a:ea typeface="新細明體"/>
                        <a:cs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200" kern="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新細明體"/>
                          <a:cs typeface="新細明體"/>
                        </a:rPr>
                        <a:t>38400</a:t>
                      </a:r>
                      <a:endParaRPr lang="zh-TW" sz="1200" kern="0" dirty="0">
                        <a:solidFill>
                          <a:srgbClr val="000000"/>
                        </a:solidFill>
                        <a:effectLst/>
                        <a:latin typeface="Calibri"/>
                        <a:ea typeface="新細明體"/>
                        <a:cs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C0C0"/>
                    </a:solidFill>
                  </a:tcPr>
                </a:tc>
              </a:tr>
              <a:tr h="26035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200" kern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新細明體"/>
                          <a:cs typeface="新細明體"/>
                        </a:rPr>
                        <a:t>Cr</a:t>
                      </a:r>
                      <a:endParaRPr lang="zh-TW" sz="1200" kern="100">
                        <a:solidFill>
                          <a:srgbClr val="000000"/>
                        </a:solidFill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200" kern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新細明體"/>
                          <a:cs typeface="新細明體"/>
                        </a:rPr>
                        <a:t>960</a:t>
                      </a:r>
                      <a:endParaRPr lang="zh-TW" sz="1200" kern="0">
                        <a:solidFill>
                          <a:srgbClr val="000000"/>
                        </a:solidFill>
                        <a:effectLst/>
                        <a:latin typeface="Calibri"/>
                        <a:ea typeface="新細明體"/>
                        <a:cs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200" kern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新細明體"/>
                          <a:cs typeface="新細明體"/>
                        </a:rPr>
                        <a:t>4</a:t>
                      </a:r>
                      <a:endParaRPr lang="zh-TW" sz="1200" kern="0">
                        <a:solidFill>
                          <a:srgbClr val="000000"/>
                        </a:solidFill>
                        <a:effectLst/>
                        <a:latin typeface="Calibri"/>
                        <a:ea typeface="新細明體"/>
                        <a:cs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200" kern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新細明體"/>
                          <a:cs typeface="新細明體"/>
                        </a:rPr>
                        <a:t>160</a:t>
                      </a:r>
                      <a:endParaRPr lang="zh-TW" sz="1200" kern="0">
                        <a:solidFill>
                          <a:srgbClr val="000000"/>
                        </a:solidFill>
                        <a:effectLst/>
                        <a:latin typeface="Calibri"/>
                        <a:ea typeface="新細明體"/>
                        <a:cs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200" kern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新細明體"/>
                          <a:cs typeface="新細明體"/>
                        </a:rPr>
                        <a:t>4</a:t>
                      </a:r>
                      <a:endParaRPr lang="zh-TW" sz="1200" kern="0">
                        <a:solidFill>
                          <a:srgbClr val="000000"/>
                        </a:solidFill>
                        <a:effectLst/>
                        <a:latin typeface="Calibri"/>
                        <a:ea typeface="新細明體"/>
                        <a:cs typeface="新細明體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200" kern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新細明體"/>
                          <a:cs typeface="新細明體"/>
                        </a:rPr>
                        <a:t>160</a:t>
                      </a:r>
                      <a:endParaRPr lang="zh-TW" sz="1200" kern="0">
                        <a:solidFill>
                          <a:srgbClr val="000000"/>
                        </a:solidFill>
                        <a:effectLst/>
                        <a:latin typeface="Calibri"/>
                        <a:ea typeface="新細明體"/>
                        <a:cs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200" kern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新細明體"/>
                          <a:cs typeface="新細明體"/>
                        </a:rPr>
                        <a:t>240</a:t>
                      </a:r>
                      <a:endParaRPr lang="zh-TW" sz="1200" kern="0">
                        <a:solidFill>
                          <a:srgbClr val="000000"/>
                        </a:solidFill>
                        <a:effectLst/>
                        <a:latin typeface="Calibri"/>
                        <a:ea typeface="新細明體"/>
                        <a:cs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200" kern="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新細明體"/>
                          <a:cs typeface="新細明體"/>
                        </a:rPr>
                        <a:t>38400</a:t>
                      </a:r>
                      <a:endParaRPr lang="zh-TW" sz="1200" kern="0" dirty="0">
                        <a:solidFill>
                          <a:srgbClr val="000000"/>
                        </a:solidFill>
                        <a:effectLst/>
                        <a:latin typeface="Calibri"/>
                        <a:ea typeface="新細明體"/>
                        <a:cs typeface="新細明體"/>
                      </a:endParaRPr>
                    </a:p>
                  </a:txBody>
                  <a:tcPr marL="17780" marR="177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035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200" b="1" kern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新細明體"/>
                          <a:cs typeface="新細明體"/>
                        </a:rPr>
                        <a:t>Total</a:t>
                      </a:r>
                      <a:endParaRPr lang="zh-TW" sz="1200" kern="100">
                        <a:solidFill>
                          <a:srgbClr val="000000"/>
                        </a:solidFill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sz="1200" kern="10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sz="1200" kern="0">
                        <a:solidFill>
                          <a:srgbClr val="000000"/>
                        </a:solidFill>
                        <a:effectLst/>
                        <a:latin typeface="Calibri"/>
                        <a:ea typeface="新細明體"/>
                        <a:cs typeface="新細明體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sz="1200" kern="0">
                        <a:solidFill>
                          <a:srgbClr val="000000"/>
                        </a:solidFill>
                        <a:effectLst/>
                        <a:latin typeface="Calibri"/>
                        <a:ea typeface="新細明體"/>
                        <a:cs typeface="新細明體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sz="1200" kern="0">
                        <a:solidFill>
                          <a:srgbClr val="000000"/>
                        </a:solidFill>
                        <a:effectLst/>
                        <a:latin typeface="Calibri"/>
                        <a:ea typeface="新細明體"/>
                        <a:cs typeface="新細明體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sz="1200" kern="0">
                        <a:solidFill>
                          <a:srgbClr val="000000"/>
                        </a:solidFill>
                        <a:effectLst/>
                        <a:latin typeface="Calibri"/>
                        <a:ea typeface="新細明體"/>
                        <a:cs typeface="新細明體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200" kern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新細明體"/>
                          <a:cs typeface="新細明體"/>
                        </a:rPr>
                        <a:t>80</a:t>
                      </a:r>
                      <a:endParaRPr lang="zh-TW" sz="1200" kern="0">
                        <a:solidFill>
                          <a:srgbClr val="000000"/>
                        </a:solidFill>
                        <a:effectLst/>
                        <a:latin typeface="Calibri"/>
                        <a:ea typeface="新細明體"/>
                        <a:cs typeface="新細明體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200" kern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新細明體"/>
                          <a:cs typeface="新細明體"/>
                        </a:rPr>
                        <a:t>3072</a:t>
                      </a:r>
                      <a:endParaRPr lang="zh-TW" sz="1200" kern="0">
                        <a:solidFill>
                          <a:srgbClr val="000000"/>
                        </a:solidFill>
                        <a:effectLst/>
                        <a:latin typeface="Calibri"/>
                        <a:ea typeface="新細明體"/>
                        <a:cs typeface="新細明體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200" kern="0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新細明體"/>
                          <a:cs typeface="新細明體"/>
                        </a:rPr>
                        <a:t>56.3KBs</a:t>
                      </a:r>
                      <a:endParaRPr lang="zh-TW" sz="1200" kern="0" dirty="0">
                        <a:solidFill>
                          <a:srgbClr val="000000"/>
                        </a:solidFill>
                        <a:effectLst/>
                        <a:latin typeface="Calibri"/>
                        <a:ea typeface="新細明體"/>
                        <a:cs typeface="新細明體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</a:tr>
            </a:tbl>
          </a:graphicData>
        </a:graphic>
      </p:graphicFrame>
      <p:sp>
        <p:nvSpPr>
          <p:cNvPr id="7" name="文字方塊 6"/>
          <p:cNvSpPr txBox="1"/>
          <p:nvPr/>
        </p:nvSpPr>
        <p:spPr>
          <a:xfrm>
            <a:off x="3277635" y="1516142"/>
            <a:ext cx="30945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Table I . Throughput Evaluation</a:t>
            </a:r>
            <a:endParaRPr lang="zh-TW" altLang="en-US" dirty="0"/>
          </a:p>
        </p:txBody>
      </p:sp>
      <p:sp>
        <p:nvSpPr>
          <p:cNvPr id="8" name="文字方塊 7"/>
          <p:cNvSpPr txBox="1"/>
          <p:nvPr/>
        </p:nvSpPr>
        <p:spPr>
          <a:xfrm>
            <a:off x="467544" y="2708920"/>
            <a:ext cx="2702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Conclusion: </a:t>
            </a:r>
            <a:r>
              <a:rPr lang="en-US" altLang="zh-TW" dirty="0" smtClean="0">
                <a:solidFill>
                  <a:srgbClr val="FF0000"/>
                </a:solidFill>
              </a:rPr>
              <a:t>S1P</a:t>
            </a:r>
            <a:r>
              <a:rPr lang="en-US" altLang="zh-TW" dirty="0" smtClean="0"/>
              <a:t> is enough.</a:t>
            </a:r>
            <a:endParaRPr lang="zh-TW" altLang="en-US" dirty="0"/>
          </a:p>
        </p:txBody>
      </p:sp>
      <p:sp>
        <p:nvSpPr>
          <p:cNvPr id="9" name="文字方塊 8"/>
          <p:cNvSpPr txBox="1"/>
          <p:nvPr/>
        </p:nvSpPr>
        <p:spPr>
          <a:xfrm>
            <a:off x="2843808" y="2996952"/>
            <a:ext cx="42475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Table II . SRAM Usage with 4-lines buffering</a:t>
            </a:r>
            <a:endParaRPr lang="zh-TW" altLang="en-US" dirty="0"/>
          </a:p>
        </p:txBody>
      </p:sp>
      <p:sp>
        <p:nvSpPr>
          <p:cNvPr id="10" name="矩形 9"/>
          <p:cNvSpPr/>
          <p:nvPr/>
        </p:nvSpPr>
        <p:spPr>
          <a:xfrm>
            <a:off x="6660232" y="1577697"/>
            <a:ext cx="197541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400" dirty="0" smtClean="0">
                <a:solidFill>
                  <a:srgbClr val="FF0000"/>
                </a:solidFill>
              </a:rPr>
              <a:t>Worst Case: 1080I Mode</a:t>
            </a:r>
            <a:endParaRPr lang="zh-TW" altLang="en-US" sz="1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791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Fetching Limitation with FBD</a:t>
            </a:r>
            <a:endParaRPr lang="zh-TW" altLang="en-US" dirty="0"/>
          </a:p>
        </p:txBody>
      </p:sp>
      <p:sp>
        <p:nvSpPr>
          <p:cNvPr id="13" name="內容版面配置區 1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2000" kern="0" dirty="0" smtClean="0">
                <a:solidFill>
                  <a:srgbClr val="000000"/>
                </a:solidFill>
                <a:latin typeface="Wingdings"/>
                <a:cs typeface="新細明體"/>
              </a:rPr>
              <a:t>¡</a:t>
            </a:r>
            <a:r>
              <a:rPr lang="en-US" altLang="zh-TW" sz="2000" kern="0" dirty="0" smtClean="0">
                <a:solidFill>
                  <a:srgbClr val="000000"/>
                </a:solidFill>
                <a:ea typeface="+mj-ea"/>
                <a:cs typeface="新細明體"/>
              </a:rPr>
              <a:t> </a:t>
            </a:r>
          </a:p>
          <a:p>
            <a:pPr lvl="1"/>
            <a:r>
              <a:rPr lang="en-US" altLang="zh-TW" sz="1800" kern="0" dirty="0" smtClean="0">
                <a:solidFill>
                  <a:srgbClr val="000000"/>
                </a:solidFill>
                <a:ea typeface="+mj-ea"/>
                <a:cs typeface="新細明體"/>
              </a:rPr>
              <a:t>No difference in Fetching, keeps original method</a:t>
            </a:r>
          </a:p>
          <a:p>
            <a:pPr lvl="1"/>
            <a:r>
              <a:rPr lang="en-US" altLang="zh-TW" sz="1800" kern="0" dirty="0" smtClean="0">
                <a:solidFill>
                  <a:srgbClr val="000000"/>
                </a:solidFill>
                <a:ea typeface="+mj-ea"/>
                <a:cs typeface="新細明體"/>
              </a:rPr>
              <a:t>No increased BUS data </a:t>
            </a:r>
            <a:r>
              <a:rPr lang="en-US" altLang="zh-TW" sz="1800" kern="0" dirty="0">
                <a:solidFill>
                  <a:srgbClr val="000000"/>
                </a:solidFill>
                <a:ea typeface="+mj-ea"/>
                <a:cs typeface="新細明體"/>
              </a:rPr>
              <a:t>amount increment</a:t>
            </a:r>
            <a:r>
              <a:rPr lang="en-US" altLang="zh-TW" sz="1800" kern="0" dirty="0" smtClean="0">
                <a:solidFill>
                  <a:srgbClr val="000000"/>
                </a:solidFill>
                <a:ea typeface="+mj-ea"/>
                <a:cs typeface="新細明體"/>
              </a:rPr>
              <a:t>. </a:t>
            </a:r>
            <a:endParaRPr lang="zh-TW" altLang="zh-TW" sz="1800" kern="100" dirty="0">
              <a:solidFill>
                <a:srgbClr val="000000"/>
              </a:solidFill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en-US" altLang="zh-TW" sz="2000" kern="0" dirty="0">
                <a:solidFill>
                  <a:srgbClr val="000000"/>
                </a:solidFill>
                <a:latin typeface="Wingdings 3"/>
                <a:cs typeface="新細明體"/>
              </a:rPr>
              <a:t>r</a:t>
            </a:r>
            <a:endParaRPr lang="zh-TW" altLang="zh-TW" sz="2000" kern="100" dirty="0">
              <a:solidFill>
                <a:srgbClr val="000000"/>
              </a:solidFill>
              <a:cs typeface="Times New Roman"/>
            </a:endParaRPr>
          </a:p>
          <a:p>
            <a:pPr lvl="1"/>
            <a:r>
              <a:rPr lang="en-US" altLang="zh-TW" sz="1800" kern="100" dirty="0" smtClean="0">
                <a:solidFill>
                  <a:srgbClr val="000000"/>
                </a:solidFill>
                <a:cs typeface="Times New Roman"/>
              </a:rPr>
              <a:t>Additional cropping lines when Y-axis is not the times of 4 or 8</a:t>
            </a:r>
          </a:p>
          <a:p>
            <a:pPr lvl="1"/>
            <a:r>
              <a:rPr lang="en-US" altLang="zh-TW" sz="1800" kern="100" dirty="0" smtClean="0">
                <a:solidFill>
                  <a:srgbClr val="000000"/>
                </a:solidFill>
                <a:cs typeface="Times New Roman"/>
              </a:rPr>
              <a:t>A-little-bit </a:t>
            </a:r>
            <a:r>
              <a:rPr lang="en-US" altLang="zh-TW" sz="1800" kern="0" dirty="0">
                <a:solidFill>
                  <a:srgbClr val="000000"/>
                </a:solidFill>
                <a:cs typeface="新細明體"/>
              </a:rPr>
              <a:t>BUS data amount increment. </a:t>
            </a:r>
            <a:endParaRPr lang="en-US" altLang="zh-TW" sz="1800" kern="0" dirty="0" smtClean="0">
              <a:solidFill>
                <a:srgbClr val="000000"/>
              </a:solidFill>
              <a:cs typeface="新細明體"/>
            </a:endParaRPr>
          </a:p>
          <a:p>
            <a:r>
              <a:rPr lang="en-US" altLang="zh-TW" sz="2000" kern="0" dirty="0">
                <a:solidFill>
                  <a:srgbClr val="000000"/>
                </a:solidFill>
                <a:latin typeface="Wingdings 3"/>
                <a:cs typeface="新細明體"/>
              </a:rPr>
              <a:t>p</a:t>
            </a:r>
            <a:endParaRPr lang="zh-TW" altLang="zh-TW" sz="2000" kern="100" dirty="0">
              <a:solidFill>
                <a:srgbClr val="000000"/>
              </a:solidFill>
              <a:cs typeface="Times New Roman"/>
            </a:endParaRPr>
          </a:p>
          <a:p>
            <a:pPr lvl="1"/>
            <a:r>
              <a:rPr lang="en-US" altLang="zh-TW" sz="1800" kern="100" dirty="0" smtClean="0">
                <a:solidFill>
                  <a:srgbClr val="000000"/>
                </a:solidFill>
                <a:cs typeface="Times New Roman"/>
              </a:rPr>
              <a:t>Can not bypass any fetching lines via Vertical Decimation due to the basic unit minimum fetching lines is 4</a:t>
            </a:r>
          </a:p>
          <a:p>
            <a:pPr lvl="1"/>
            <a:r>
              <a:rPr lang="en-US" altLang="zh-TW" sz="1800" kern="100" dirty="0" smtClean="0">
                <a:solidFill>
                  <a:srgbClr val="000000"/>
                </a:solidFill>
                <a:cs typeface="Times New Roman"/>
              </a:rPr>
              <a:t>Extremely </a:t>
            </a:r>
            <a:r>
              <a:rPr lang="en-US" altLang="zh-TW" sz="1800" kern="0" dirty="0">
                <a:solidFill>
                  <a:srgbClr val="000000"/>
                </a:solidFill>
                <a:cs typeface="新細明體"/>
              </a:rPr>
              <a:t>BUS data amount increment.</a:t>
            </a:r>
            <a:r>
              <a:rPr lang="en-US" altLang="zh-TW" sz="1800" kern="100" dirty="0" smtClean="0">
                <a:solidFill>
                  <a:srgbClr val="000000"/>
                </a:solidFill>
                <a:cs typeface="Times New Roman"/>
              </a:rPr>
              <a:t>  </a:t>
            </a:r>
            <a:endParaRPr lang="zh-TW" altLang="zh-TW" sz="1800" kern="100" dirty="0">
              <a:solidFill>
                <a:srgbClr val="000000"/>
              </a:solidFill>
              <a:cs typeface="Times New Roman"/>
            </a:endParaRPr>
          </a:p>
        </p:txBody>
      </p:sp>
      <p:graphicFrame>
        <p:nvGraphicFramePr>
          <p:cNvPr id="14" name="內容版面配置區 10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23017116"/>
              </p:ext>
            </p:extLst>
          </p:nvPr>
        </p:nvGraphicFramePr>
        <p:xfrm>
          <a:off x="1475656" y="5157192"/>
          <a:ext cx="5345748" cy="1466850"/>
        </p:xfrm>
        <a:graphic>
          <a:graphicData uri="http://schemas.openxmlformats.org/drawingml/2006/table">
            <a:tbl>
              <a:tblPr firstRow="1" firstCol="1" bandRow="1"/>
              <a:tblGrid>
                <a:gridCol w="1645920"/>
                <a:gridCol w="1508760"/>
                <a:gridCol w="730885"/>
                <a:gridCol w="645160"/>
                <a:gridCol w="815023"/>
              </a:tblGrid>
              <a:tr h="209550"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新細明體"/>
                          <a:cs typeface="新細明體"/>
                        </a:rPr>
                        <a:t>Function</a:t>
                      </a:r>
                      <a:endParaRPr lang="zh-TW" sz="1200" kern="100" dirty="0">
                        <a:solidFill>
                          <a:srgbClr val="000000"/>
                        </a:solidFill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新細明體"/>
                          <a:cs typeface="新細明體"/>
                        </a:rPr>
                        <a:t>Fetching Data Format</a:t>
                      </a:r>
                      <a:endParaRPr lang="zh-TW" sz="1200" kern="100" dirty="0">
                        <a:solidFill>
                          <a:srgbClr val="000000"/>
                        </a:solidFill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新細明體"/>
                          <a:cs typeface="新細明體"/>
                        </a:rPr>
                        <a:t>Cropping</a:t>
                      </a:r>
                      <a:endParaRPr lang="zh-TW" sz="1200" kern="100">
                        <a:solidFill>
                          <a:srgbClr val="000000"/>
                        </a:solidFill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新細明體"/>
                          <a:cs typeface="新細明體"/>
                        </a:rPr>
                        <a:t>Decimation</a:t>
                      </a:r>
                      <a:endParaRPr lang="zh-TW" sz="1200" kern="100" dirty="0">
                        <a:solidFill>
                          <a:srgbClr val="000000"/>
                        </a:solidFill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41910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 kern="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新細明體"/>
                          <a:cs typeface="新細明體"/>
                        </a:rPr>
                        <a:t>Vertical</a:t>
                      </a:r>
                      <a:endParaRPr lang="zh-TW" sz="1200" kern="100" dirty="0">
                        <a:solidFill>
                          <a:srgbClr val="000000"/>
                        </a:solidFill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 kern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新細明體"/>
                          <a:cs typeface="新細明體"/>
                        </a:rPr>
                        <a:t>Horizontal</a:t>
                      </a:r>
                      <a:endParaRPr lang="zh-TW" sz="1200" kern="100">
                        <a:solidFill>
                          <a:srgbClr val="000000"/>
                        </a:solidFill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新細明體"/>
                          <a:cs typeface="新細明體"/>
                        </a:rPr>
                        <a:t>Image Display</a:t>
                      </a:r>
                      <a:endParaRPr lang="zh-TW" sz="1200" kern="100">
                        <a:solidFill>
                          <a:srgbClr val="000000"/>
                        </a:solidFill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 kern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新細明體"/>
                          <a:cs typeface="新細明體"/>
                        </a:rPr>
                        <a:t>Linear</a:t>
                      </a:r>
                      <a:endParaRPr lang="zh-TW" sz="1200" kern="100">
                        <a:solidFill>
                          <a:srgbClr val="000000"/>
                        </a:solidFill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 kern="0" dirty="0">
                          <a:solidFill>
                            <a:srgbClr val="000000"/>
                          </a:solidFill>
                          <a:effectLst/>
                          <a:latin typeface="Wingdings"/>
                          <a:ea typeface="新細明體"/>
                          <a:cs typeface="新細明體"/>
                        </a:rPr>
                        <a:t>¡</a:t>
                      </a:r>
                      <a:endParaRPr lang="zh-TW" sz="1200" kern="100" dirty="0">
                        <a:solidFill>
                          <a:srgbClr val="000000"/>
                        </a:solidFill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 kern="0" dirty="0">
                          <a:solidFill>
                            <a:srgbClr val="000000"/>
                          </a:solidFill>
                          <a:effectLst/>
                          <a:latin typeface="Wingdings"/>
                          <a:ea typeface="新細明體"/>
                          <a:cs typeface="新細明體"/>
                        </a:rPr>
                        <a:t>¡</a:t>
                      </a:r>
                      <a:endParaRPr lang="zh-TW" sz="1200" kern="100" dirty="0">
                        <a:solidFill>
                          <a:srgbClr val="000000"/>
                        </a:solidFill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 kern="0">
                          <a:solidFill>
                            <a:srgbClr val="000000"/>
                          </a:solidFill>
                          <a:effectLst/>
                          <a:latin typeface="Wingdings"/>
                          <a:ea typeface="新細明體"/>
                          <a:cs typeface="新細明體"/>
                        </a:rPr>
                        <a:t>¡</a:t>
                      </a:r>
                      <a:endParaRPr lang="zh-TW" sz="1200" kern="100">
                        <a:solidFill>
                          <a:srgbClr val="000000"/>
                        </a:solidFill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9550">
                <a:tc rowSpan="3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新細明體"/>
                          <a:cs typeface="新細明體"/>
                        </a:rPr>
                        <a:t>Video Display</a:t>
                      </a:r>
                      <a:endParaRPr lang="zh-TW" sz="1200" kern="100" dirty="0">
                        <a:solidFill>
                          <a:srgbClr val="000000"/>
                        </a:solidFill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 kern="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新細明體"/>
                          <a:cs typeface="新細明體"/>
                        </a:rPr>
                        <a:t>Progressive</a:t>
                      </a:r>
                      <a:endParaRPr lang="zh-TW" sz="1200" kern="100" dirty="0">
                        <a:solidFill>
                          <a:srgbClr val="000000"/>
                        </a:solidFill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 kern="0" dirty="0">
                          <a:solidFill>
                            <a:srgbClr val="000000"/>
                          </a:solidFill>
                          <a:effectLst/>
                          <a:latin typeface="Wingdings 3"/>
                          <a:ea typeface="新細明體"/>
                          <a:cs typeface="新細明體"/>
                        </a:rPr>
                        <a:t>r</a:t>
                      </a:r>
                      <a:endParaRPr lang="zh-TW" sz="1200" kern="100" dirty="0">
                        <a:solidFill>
                          <a:srgbClr val="000000"/>
                        </a:solidFill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 kern="0" dirty="0">
                          <a:solidFill>
                            <a:srgbClr val="000000"/>
                          </a:solidFill>
                          <a:effectLst/>
                          <a:latin typeface="Wingdings 3"/>
                          <a:ea typeface="新細明體"/>
                          <a:cs typeface="新細明體"/>
                        </a:rPr>
                        <a:t>p</a:t>
                      </a:r>
                      <a:endParaRPr lang="zh-TW" sz="1200" kern="100" dirty="0">
                        <a:solidFill>
                          <a:srgbClr val="000000"/>
                        </a:solidFill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 kern="0" dirty="0">
                          <a:solidFill>
                            <a:srgbClr val="000000"/>
                          </a:solidFill>
                          <a:effectLst/>
                          <a:latin typeface="Wingdings"/>
                          <a:ea typeface="新細明體"/>
                          <a:cs typeface="新細明體"/>
                        </a:rPr>
                        <a:t>¡</a:t>
                      </a:r>
                      <a:endParaRPr lang="zh-TW" sz="1200" kern="100" dirty="0">
                        <a:solidFill>
                          <a:srgbClr val="000000"/>
                        </a:solidFill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</a:tr>
              <a:tr h="20955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 kern="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新細明體"/>
                          <a:cs typeface="新細明體"/>
                        </a:rPr>
                        <a:t>Interlacing</a:t>
                      </a:r>
                      <a:endParaRPr lang="zh-TW" sz="1200" kern="100" dirty="0">
                        <a:solidFill>
                          <a:srgbClr val="000000"/>
                        </a:solidFill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 kern="0" dirty="0">
                          <a:solidFill>
                            <a:srgbClr val="000000"/>
                          </a:solidFill>
                          <a:effectLst/>
                          <a:latin typeface="Wingdings 3"/>
                          <a:ea typeface="新細明體"/>
                          <a:cs typeface="新細明體"/>
                        </a:rPr>
                        <a:t>r</a:t>
                      </a:r>
                      <a:endParaRPr lang="zh-TW" sz="1200" kern="100" dirty="0">
                        <a:solidFill>
                          <a:srgbClr val="000000"/>
                        </a:solidFill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 kern="0">
                          <a:solidFill>
                            <a:srgbClr val="000000"/>
                          </a:solidFill>
                          <a:effectLst/>
                          <a:latin typeface="Wingdings 3"/>
                          <a:ea typeface="新細明體"/>
                          <a:cs typeface="新細明體"/>
                        </a:rPr>
                        <a:t>p</a:t>
                      </a:r>
                      <a:endParaRPr lang="zh-TW" sz="1200" kern="100">
                        <a:solidFill>
                          <a:srgbClr val="000000"/>
                        </a:solidFill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 kern="0">
                          <a:solidFill>
                            <a:srgbClr val="000000"/>
                          </a:solidFill>
                          <a:effectLst/>
                          <a:latin typeface="Wingdings"/>
                          <a:ea typeface="新細明體"/>
                          <a:cs typeface="新細明體"/>
                        </a:rPr>
                        <a:t>¡</a:t>
                      </a:r>
                      <a:endParaRPr lang="zh-TW" sz="1200" kern="100">
                        <a:solidFill>
                          <a:srgbClr val="000000"/>
                        </a:solidFill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955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 kern="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新細明體"/>
                          <a:cs typeface="新細明體"/>
                        </a:rPr>
                        <a:t>H265 Field</a:t>
                      </a:r>
                      <a:endParaRPr lang="zh-TW" sz="1200" kern="100" dirty="0">
                        <a:solidFill>
                          <a:srgbClr val="000000"/>
                        </a:solidFill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 kern="0" dirty="0">
                          <a:solidFill>
                            <a:srgbClr val="000000"/>
                          </a:solidFill>
                          <a:effectLst/>
                          <a:latin typeface="Wingdings 3"/>
                          <a:ea typeface="新細明體"/>
                          <a:cs typeface="新細明體"/>
                        </a:rPr>
                        <a:t>r</a:t>
                      </a:r>
                      <a:endParaRPr lang="zh-TW" sz="1200" kern="100" dirty="0">
                        <a:solidFill>
                          <a:srgbClr val="000000"/>
                        </a:solidFill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 kern="0" dirty="0">
                          <a:solidFill>
                            <a:srgbClr val="000000"/>
                          </a:solidFill>
                          <a:effectLst/>
                          <a:latin typeface="Wingdings 3"/>
                          <a:ea typeface="新細明體"/>
                          <a:cs typeface="新細明體"/>
                        </a:rPr>
                        <a:t>p</a:t>
                      </a:r>
                      <a:endParaRPr lang="zh-TW" sz="1200" kern="100" dirty="0">
                        <a:solidFill>
                          <a:srgbClr val="000000"/>
                        </a:solidFill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 kern="0" dirty="0">
                          <a:solidFill>
                            <a:srgbClr val="000000"/>
                          </a:solidFill>
                          <a:effectLst/>
                          <a:latin typeface="Wingdings"/>
                          <a:ea typeface="新細明體"/>
                          <a:cs typeface="新細明體"/>
                        </a:rPr>
                        <a:t>¡</a:t>
                      </a:r>
                      <a:endParaRPr lang="zh-TW" sz="1200" kern="100" dirty="0">
                        <a:solidFill>
                          <a:srgbClr val="000000"/>
                        </a:solidFill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454942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Pattern Lists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997152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altLang="zh-TW" dirty="0" smtClean="0"/>
              <a:t>Compressed Pattern</a:t>
            </a:r>
          </a:p>
          <a:p>
            <a:r>
              <a:rPr lang="en-US" altLang="zh-TW" dirty="0" smtClean="0"/>
              <a:t>480P_FBD_Frame</a:t>
            </a:r>
          </a:p>
          <a:p>
            <a:r>
              <a:rPr lang="en-US" altLang="zh-TW" dirty="0" smtClean="0"/>
              <a:t>480P_FBD_Field</a:t>
            </a:r>
            <a:endParaRPr lang="zh-TW" altLang="zh-TW" dirty="0"/>
          </a:p>
          <a:p>
            <a:r>
              <a:rPr lang="en-US" altLang="zh-TW" dirty="0" smtClean="0"/>
              <a:t>480I_FBD</a:t>
            </a:r>
            <a:endParaRPr lang="zh-TW" altLang="zh-TW" dirty="0"/>
          </a:p>
          <a:p>
            <a:r>
              <a:rPr lang="en-US" altLang="zh-TW" dirty="0" smtClean="0"/>
              <a:t>576P_FBD_Frame</a:t>
            </a:r>
          </a:p>
          <a:p>
            <a:r>
              <a:rPr lang="en-US" altLang="zh-TW" dirty="0" smtClean="0"/>
              <a:t>576P_FBD_Field</a:t>
            </a:r>
            <a:endParaRPr lang="zh-TW" altLang="zh-TW" dirty="0"/>
          </a:p>
          <a:p>
            <a:r>
              <a:rPr lang="en-US" altLang="zh-TW" dirty="0" smtClean="0"/>
              <a:t>576I_FBD</a:t>
            </a:r>
            <a:endParaRPr lang="zh-TW" altLang="zh-TW" dirty="0"/>
          </a:p>
          <a:p>
            <a:r>
              <a:rPr lang="en-US" altLang="zh-TW" dirty="0" smtClean="0"/>
              <a:t>720P_FBD_Frame</a:t>
            </a:r>
            <a:endParaRPr lang="zh-TW" altLang="zh-TW" dirty="0"/>
          </a:p>
          <a:p>
            <a:r>
              <a:rPr lang="en-US" altLang="zh-TW" dirty="0" smtClean="0"/>
              <a:t>720P_FBD_Field</a:t>
            </a:r>
            <a:endParaRPr lang="zh-TW" altLang="zh-TW" dirty="0"/>
          </a:p>
          <a:p>
            <a:r>
              <a:rPr lang="en-US" altLang="zh-TW" dirty="0"/>
              <a:t>1080P_FBD_Frame</a:t>
            </a:r>
            <a:endParaRPr lang="zh-TW" altLang="zh-TW" dirty="0"/>
          </a:p>
          <a:p>
            <a:r>
              <a:rPr lang="en-US" altLang="zh-TW" dirty="0"/>
              <a:t>1080I_FBD_Frame</a:t>
            </a:r>
            <a:endParaRPr lang="zh-TW" altLang="zh-TW" dirty="0"/>
          </a:p>
          <a:p>
            <a:r>
              <a:rPr lang="en-US" altLang="zh-TW" dirty="0" smtClean="0"/>
              <a:t>1080P_FBD_Field</a:t>
            </a:r>
          </a:p>
          <a:p>
            <a:endParaRPr lang="en-US" altLang="zh-TW" dirty="0" smtClean="0"/>
          </a:p>
          <a:p>
            <a:r>
              <a:rPr lang="en-US" altLang="zh-TW" dirty="0" smtClean="0"/>
              <a:t>1080I_FBD_Frame_8bit</a:t>
            </a:r>
            <a:endParaRPr lang="zh-TW" altLang="zh-TW" dirty="0" smtClean="0"/>
          </a:p>
          <a:p>
            <a:r>
              <a:rPr lang="en-US" altLang="zh-TW" dirty="0" smtClean="0"/>
              <a:t>1080P_FBD_Field_8bit</a:t>
            </a:r>
          </a:p>
          <a:p>
            <a:r>
              <a:rPr lang="en-US" altLang="zh-TW" dirty="0" smtClean="0"/>
              <a:t>1080I_FBD_Frame_10bit</a:t>
            </a:r>
            <a:endParaRPr lang="zh-TW" altLang="zh-TW" dirty="0"/>
          </a:p>
          <a:p>
            <a:r>
              <a:rPr lang="en-US" altLang="zh-TW" dirty="0" smtClean="0"/>
              <a:t>1080P_FBD_Field_10bit</a:t>
            </a:r>
            <a:endParaRPr lang="en-US" altLang="zh-TW" dirty="0"/>
          </a:p>
          <a:p>
            <a:endParaRPr lang="en-US" altLang="zh-TW" dirty="0" smtClean="0"/>
          </a:p>
          <a:p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853136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altLang="zh-TW" dirty="0" smtClean="0"/>
              <a:t>Non-Compressed Pattern</a:t>
            </a:r>
          </a:p>
          <a:p>
            <a:r>
              <a:rPr lang="en-US" altLang="zh-TW" dirty="0" smtClean="0"/>
              <a:t>1080P_Linear</a:t>
            </a:r>
            <a:endParaRPr lang="zh-TW" altLang="zh-TW" dirty="0" smtClean="0"/>
          </a:p>
          <a:p>
            <a:r>
              <a:rPr lang="en-US" altLang="zh-TW" dirty="0" smtClean="0"/>
              <a:t>1080I_Linear</a:t>
            </a:r>
          </a:p>
          <a:p>
            <a:r>
              <a:rPr lang="en-US" altLang="zh-TW" dirty="0" smtClean="0"/>
              <a:t>1080P_MFD_1D_8bit</a:t>
            </a:r>
          </a:p>
          <a:p>
            <a:r>
              <a:rPr lang="en-US" altLang="zh-TW" dirty="0" smtClean="0"/>
              <a:t>1080I_MFD_1D_8bit</a:t>
            </a:r>
          </a:p>
          <a:p>
            <a:r>
              <a:rPr lang="en-US" altLang="zh-TW" strike="dblStrike" dirty="0" smtClean="0"/>
              <a:t>1080I_MFD_1D_10bit</a:t>
            </a:r>
          </a:p>
          <a:p>
            <a:r>
              <a:rPr lang="en-US" altLang="zh-TW" dirty="0"/>
              <a:t>1080P_MFD_1D_10bit</a:t>
            </a:r>
          </a:p>
          <a:p>
            <a:pPr marL="0" indent="0">
              <a:buNone/>
            </a:pPr>
            <a:r>
              <a:rPr lang="en-US" altLang="zh-TW" dirty="0" smtClean="0"/>
              <a:t>Functions</a:t>
            </a:r>
          </a:p>
          <a:p>
            <a:r>
              <a:rPr lang="en-US" altLang="zh-TW" dirty="0" smtClean="0"/>
              <a:t>DCM2</a:t>
            </a:r>
          </a:p>
          <a:p>
            <a:r>
              <a:rPr lang="en-US" altLang="zh-TW" dirty="0" smtClean="0"/>
              <a:t>DCM4</a:t>
            </a:r>
          </a:p>
          <a:p>
            <a:r>
              <a:rPr lang="en-US" altLang="zh-TW" dirty="0"/>
              <a:t>Cropping</a:t>
            </a:r>
            <a:r>
              <a:rPr lang="en-US" altLang="zh-TW" dirty="0" smtClean="0"/>
              <a:t>-X Pixels 0 to 7</a:t>
            </a:r>
          </a:p>
          <a:p>
            <a:r>
              <a:rPr lang="en-US" altLang="zh-TW" dirty="0" smtClean="0"/>
              <a:t>Cropping-Y </a:t>
            </a:r>
            <a:r>
              <a:rPr lang="en-US" altLang="zh-TW" dirty="0"/>
              <a:t>Line 0 </a:t>
            </a:r>
            <a:r>
              <a:rPr lang="en-US" altLang="zh-TW" dirty="0" smtClean="0"/>
              <a:t>to 7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2770619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To-Do JOBs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TW" dirty="0" smtClean="0"/>
              <a:t>Script or simulation model for patterns </a:t>
            </a:r>
          </a:p>
          <a:p>
            <a:pPr lvl="1"/>
            <a:r>
              <a:rPr lang="en-US" altLang="zh-TW" dirty="0" smtClean="0"/>
              <a:t>FBD models</a:t>
            </a:r>
          </a:p>
          <a:p>
            <a:pPr lvl="1"/>
            <a:r>
              <a:rPr lang="en-US" altLang="zh-TW" dirty="0" smtClean="0"/>
              <a:t>MFD 1D data in DRAM</a:t>
            </a:r>
          </a:p>
          <a:p>
            <a:pPr lvl="1"/>
            <a:r>
              <a:rPr lang="en-US" altLang="zh-TW" dirty="0"/>
              <a:t>Pattern create for pattern </a:t>
            </a:r>
            <a:r>
              <a:rPr lang="en-US" altLang="zh-TW" dirty="0" smtClean="0"/>
              <a:t>lists via </a:t>
            </a:r>
            <a:r>
              <a:rPr lang="en-US" altLang="zh-TW" dirty="0"/>
              <a:t>pattern gen </a:t>
            </a:r>
            <a:endParaRPr lang="en-US" altLang="zh-TW" dirty="0" smtClean="0"/>
          </a:p>
          <a:p>
            <a:r>
              <a:rPr lang="en-US" altLang="zh-TW" dirty="0" smtClean="0"/>
              <a:t>RTL Coding </a:t>
            </a:r>
          </a:p>
          <a:p>
            <a:pPr lvl="1"/>
            <a:r>
              <a:rPr lang="en-US" altLang="zh-TW" dirty="0" smtClean="0"/>
              <a:t>SRAM_POOL design</a:t>
            </a:r>
          </a:p>
          <a:p>
            <a:pPr lvl="1"/>
            <a:r>
              <a:rPr lang="en-US" altLang="zh-TW" dirty="0" smtClean="0"/>
              <a:t>FBD WCTRL/RCTRL</a:t>
            </a:r>
          </a:p>
          <a:p>
            <a:r>
              <a:rPr lang="en-US" altLang="zh-TW" dirty="0" smtClean="0"/>
              <a:t>Verification </a:t>
            </a:r>
          </a:p>
          <a:p>
            <a:pPr lvl="1"/>
            <a:r>
              <a:rPr lang="en-US" altLang="zh-TW" dirty="0" smtClean="0"/>
              <a:t>Pattern create for pattern lists</a:t>
            </a:r>
          </a:p>
          <a:p>
            <a:pPr lvl="1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9390820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Design Notes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handling the rest pixel data when  width &lt;64. Need to separate them into the times of  16 or 32.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2607229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Rotation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Function</a:t>
            </a:r>
          </a:p>
          <a:p>
            <a:pPr lvl="1"/>
            <a:r>
              <a:rPr lang="en-US" altLang="zh-TW" dirty="0" smtClean="0"/>
              <a:t>0 degrees</a:t>
            </a:r>
          </a:p>
          <a:p>
            <a:pPr lvl="1"/>
            <a:r>
              <a:rPr lang="en-US" altLang="zh-TW" dirty="0" smtClean="0"/>
              <a:t>90 degrees</a:t>
            </a:r>
          </a:p>
          <a:p>
            <a:pPr lvl="1"/>
            <a:r>
              <a:rPr lang="en-US" altLang="zh-TW" dirty="0" smtClean="0"/>
              <a:t>180 degrees</a:t>
            </a:r>
          </a:p>
          <a:p>
            <a:pPr lvl="1"/>
            <a:r>
              <a:rPr lang="en-US" altLang="zh-TW" dirty="0" smtClean="0"/>
              <a:t>270 degrees</a:t>
            </a:r>
          </a:p>
          <a:p>
            <a:pPr lvl="1"/>
            <a:r>
              <a:rPr lang="en-US" altLang="zh-TW" dirty="0" smtClean="0"/>
              <a:t>Mirror</a:t>
            </a:r>
          </a:p>
          <a:p>
            <a:pPr lvl="1"/>
            <a:r>
              <a:rPr lang="en-US" altLang="zh-TW" dirty="0" smtClean="0"/>
              <a:t>Upside </a:t>
            </a:r>
            <a:r>
              <a:rPr lang="en-US" altLang="zh-TW" dirty="0"/>
              <a:t>down</a:t>
            </a:r>
            <a:endParaRPr lang="zh-TW" altLang="en-US" dirty="0"/>
          </a:p>
        </p:txBody>
      </p:sp>
      <p:sp>
        <p:nvSpPr>
          <p:cNvPr id="9" name="AutoShape 2" descr="25,012,490 Image Images, Stock Photos &amp; Vectors | Shutterstock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pic>
        <p:nvPicPr>
          <p:cNvPr id="6150" name="Picture 6" descr="File:Image.jpg - 維基百科，自由的百科全書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9952" y="1988840"/>
            <a:ext cx="730052" cy="730052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6" descr="File:Image.jpg - 維基百科，自由的百科全書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4980782" y="1988344"/>
            <a:ext cx="730052" cy="730052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6" descr="File:Image.jpg - 維基百科，自由的百科全書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5796136" y="1988344"/>
            <a:ext cx="730052" cy="730052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6" descr="File:Image.jpg - 維基百科，自由的百科全書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6650260" y="1988344"/>
            <a:ext cx="730052" cy="730052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6" descr="File:Image.jpg - 維基百科，自由的百科全書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4139952" y="2852936"/>
            <a:ext cx="748978" cy="730052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6" descr="File:Image.jpg - 維基百科，自由的百科全書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4980782" y="2848744"/>
            <a:ext cx="730052" cy="734244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6" descr="File:Image.jpg - 維基百科，自由的百科全書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4168" y="4077072"/>
            <a:ext cx="2160240" cy="216024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文字方塊 16"/>
          <p:cNvSpPr txBox="1"/>
          <p:nvPr/>
        </p:nvSpPr>
        <p:spPr>
          <a:xfrm>
            <a:off x="5711433" y="3750796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(0,0)</a:t>
            </a:r>
            <a:endParaRPr lang="zh-TW" altLang="en-US" dirty="0"/>
          </a:p>
        </p:txBody>
      </p:sp>
      <p:sp>
        <p:nvSpPr>
          <p:cNvPr id="20" name="文字方塊 19"/>
          <p:cNvSpPr txBox="1"/>
          <p:nvPr/>
        </p:nvSpPr>
        <p:spPr>
          <a:xfrm>
            <a:off x="7935669" y="3718530"/>
            <a:ext cx="9685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(1919,0)</a:t>
            </a:r>
            <a:endParaRPr lang="zh-TW" altLang="en-US" dirty="0"/>
          </a:p>
        </p:txBody>
      </p:sp>
      <p:sp>
        <p:nvSpPr>
          <p:cNvPr id="21" name="文字方塊 20"/>
          <p:cNvSpPr txBox="1"/>
          <p:nvPr/>
        </p:nvSpPr>
        <p:spPr>
          <a:xfrm>
            <a:off x="5436096" y="6165304"/>
            <a:ext cx="9685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(0,1079)</a:t>
            </a:r>
            <a:endParaRPr lang="zh-TW" altLang="en-US" dirty="0"/>
          </a:p>
        </p:txBody>
      </p:sp>
      <p:sp>
        <p:nvSpPr>
          <p:cNvPr id="22" name="文字方塊 21"/>
          <p:cNvSpPr txBox="1"/>
          <p:nvPr/>
        </p:nvSpPr>
        <p:spPr>
          <a:xfrm>
            <a:off x="7935668" y="6162734"/>
            <a:ext cx="13195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(1919,1079)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288858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Rotation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0 </a:t>
            </a:r>
            <a:r>
              <a:rPr lang="en-US" altLang="zh-TW" dirty="0"/>
              <a:t>degrees</a:t>
            </a:r>
          </a:p>
          <a:p>
            <a:pPr lvl="1"/>
            <a:r>
              <a:rPr lang="en-US" altLang="zh-TW" dirty="0" smtClean="0"/>
              <a:t>Read from DRAM</a:t>
            </a:r>
          </a:p>
          <a:p>
            <a:pPr lvl="2"/>
            <a:r>
              <a:rPr lang="en-US" altLang="zh-TW" dirty="0" smtClean="0"/>
              <a:t>Roster-Scan with 16x4</a:t>
            </a:r>
          </a:p>
          <a:p>
            <a:pPr lvl="1"/>
            <a:r>
              <a:rPr lang="en-US" altLang="zh-TW" dirty="0" smtClean="0"/>
              <a:t>Write to DISP</a:t>
            </a:r>
          </a:p>
          <a:p>
            <a:pPr lvl="2"/>
            <a:r>
              <a:rPr lang="en-US" altLang="zh-TW" dirty="0" smtClean="0"/>
              <a:t>Roster-Scan </a:t>
            </a:r>
          </a:p>
        </p:txBody>
      </p:sp>
      <p:pic>
        <p:nvPicPr>
          <p:cNvPr id="4" name="Picture 6" descr="File:Image.jpg - 維基百科，自由的百科全書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230" y="2276872"/>
            <a:ext cx="2360066" cy="2360066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矩形 4"/>
          <p:cNvSpPr/>
          <p:nvPr/>
        </p:nvSpPr>
        <p:spPr>
          <a:xfrm>
            <a:off x="4876230" y="2276872"/>
            <a:ext cx="559866" cy="194320"/>
          </a:xfrm>
          <a:prstGeom prst="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0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5436096" y="2276872"/>
            <a:ext cx="559866" cy="194320"/>
          </a:xfrm>
          <a:prstGeom prst="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1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5995491" y="2276872"/>
            <a:ext cx="559866" cy="194320"/>
          </a:xfrm>
          <a:prstGeom prst="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2</a:t>
            </a:r>
            <a:endParaRPr lang="zh-TW" altLang="en-US" dirty="0">
              <a:solidFill>
                <a:schemeClr val="tx1"/>
              </a:solidFill>
            </a:endParaRPr>
          </a:p>
        </p:txBody>
      </p:sp>
      <p:grpSp>
        <p:nvGrpSpPr>
          <p:cNvPr id="29" name="群組 28"/>
          <p:cNvGrpSpPr/>
          <p:nvPr/>
        </p:nvGrpSpPr>
        <p:grpSpPr>
          <a:xfrm>
            <a:off x="4468763" y="1484622"/>
            <a:ext cx="1587499" cy="566315"/>
            <a:chOff x="4468764" y="1484623"/>
            <a:chExt cx="1120216" cy="388962"/>
          </a:xfrm>
        </p:grpSpPr>
        <p:sp>
          <p:nvSpPr>
            <p:cNvPr id="12" name="矩形 11"/>
            <p:cNvSpPr/>
            <p:nvPr/>
          </p:nvSpPr>
          <p:spPr>
            <a:xfrm>
              <a:off x="4468764" y="1484784"/>
              <a:ext cx="559866" cy="97160"/>
            </a:xfrm>
            <a:prstGeom prst="rect">
              <a:avLst/>
            </a:prstGeom>
            <a:solidFill>
              <a:srgbClr val="92D050"/>
            </a:soli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400" dirty="0" smtClean="0">
                  <a:solidFill>
                    <a:schemeClr val="tx1"/>
                  </a:solidFill>
                </a:rPr>
                <a:t>0</a:t>
              </a:r>
              <a:endParaRPr lang="zh-TW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3" name="矩形 12"/>
            <p:cNvSpPr/>
            <p:nvPr/>
          </p:nvSpPr>
          <p:spPr>
            <a:xfrm>
              <a:off x="5028630" y="1484623"/>
              <a:ext cx="559866" cy="97160"/>
            </a:xfrm>
            <a:prstGeom prst="rect">
              <a:avLst/>
            </a:prstGeom>
            <a:solidFill>
              <a:srgbClr val="92D050"/>
            </a:soli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400" dirty="0" smtClean="0">
                  <a:solidFill>
                    <a:schemeClr val="tx1"/>
                  </a:solidFill>
                </a:rPr>
                <a:t>1</a:t>
              </a:r>
              <a:endParaRPr lang="zh-TW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4469248" y="1581944"/>
              <a:ext cx="559866" cy="97160"/>
            </a:xfrm>
            <a:prstGeom prst="rect">
              <a:avLst/>
            </a:prstGeom>
            <a:solidFill>
              <a:srgbClr val="92D050"/>
            </a:soli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400" dirty="0" smtClean="0">
                  <a:solidFill>
                    <a:schemeClr val="tx1"/>
                  </a:solidFill>
                </a:rPr>
                <a:t>2</a:t>
              </a:r>
              <a:endParaRPr lang="zh-TW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5" name="矩形 14"/>
            <p:cNvSpPr/>
            <p:nvPr/>
          </p:nvSpPr>
          <p:spPr>
            <a:xfrm>
              <a:off x="5029114" y="1581783"/>
              <a:ext cx="559866" cy="97160"/>
            </a:xfrm>
            <a:prstGeom prst="rect">
              <a:avLst/>
            </a:prstGeom>
            <a:solidFill>
              <a:srgbClr val="92D050"/>
            </a:soli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400" dirty="0" smtClean="0">
                  <a:solidFill>
                    <a:schemeClr val="tx1"/>
                  </a:solidFill>
                </a:rPr>
                <a:t>3</a:t>
              </a:r>
              <a:endParaRPr lang="zh-TW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6" name="矩形 15"/>
            <p:cNvSpPr/>
            <p:nvPr/>
          </p:nvSpPr>
          <p:spPr>
            <a:xfrm>
              <a:off x="4468764" y="1679265"/>
              <a:ext cx="559866" cy="97160"/>
            </a:xfrm>
            <a:prstGeom prst="rect">
              <a:avLst/>
            </a:prstGeom>
            <a:solidFill>
              <a:srgbClr val="92D050"/>
            </a:soli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400" dirty="0" smtClean="0">
                  <a:solidFill>
                    <a:schemeClr val="tx1"/>
                  </a:solidFill>
                </a:rPr>
                <a:t>4</a:t>
              </a:r>
              <a:endParaRPr lang="zh-TW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7" name="矩形 16"/>
            <p:cNvSpPr/>
            <p:nvPr/>
          </p:nvSpPr>
          <p:spPr>
            <a:xfrm>
              <a:off x="5028630" y="1679104"/>
              <a:ext cx="559866" cy="97160"/>
            </a:xfrm>
            <a:prstGeom prst="rect">
              <a:avLst/>
            </a:prstGeom>
            <a:solidFill>
              <a:srgbClr val="92D050"/>
            </a:soli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400" dirty="0" smtClean="0">
                  <a:solidFill>
                    <a:schemeClr val="tx1"/>
                  </a:solidFill>
                </a:rPr>
                <a:t>5</a:t>
              </a:r>
              <a:endParaRPr lang="zh-TW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20" name="矩形 19"/>
            <p:cNvSpPr/>
            <p:nvPr/>
          </p:nvSpPr>
          <p:spPr>
            <a:xfrm>
              <a:off x="4468764" y="1776425"/>
              <a:ext cx="559866" cy="97160"/>
            </a:xfrm>
            <a:prstGeom prst="rect">
              <a:avLst/>
            </a:prstGeom>
            <a:solidFill>
              <a:srgbClr val="92D050"/>
            </a:soli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400" dirty="0" smtClean="0">
                  <a:solidFill>
                    <a:schemeClr val="tx1"/>
                  </a:solidFill>
                </a:rPr>
                <a:t>6</a:t>
              </a:r>
              <a:endParaRPr lang="zh-TW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21" name="矩形 20"/>
            <p:cNvSpPr/>
            <p:nvPr/>
          </p:nvSpPr>
          <p:spPr>
            <a:xfrm>
              <a:off x="5028630" y="1776264"/>
              <a:ext cx="559866" cy="97160"/>
            </a:xfrm>
            <a:prstGeom prst="rect">
              <a:avLst/>
            </a:prstGeom>
            <a:solidFill>
              <a:srgbClr val="92D050"/>
            </a:soli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400" dirty="0" smtClean="0">
                  <a:solidFill>
                    <a:schemeClr val="tx1"/>
                  </a:solidFill>
                </a:rPr>
                <a:t>7</a:t>
              </a:r>
              <a:endParaRPr lang="zh-TW" altLang="en-US" sz="1400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23" name="直線接點 22"/>
          <p:cNvCxnSpPr>
            <a:stCxn id="20" idx="1"/>
          </p:cNvCxnSpPr>
          <p:nvPr/>
        </p:nvCxnSpPr>
        <p:spPr>
          <a:xfrm>
            <a:off x="4468763" y="1980206"/>
            <a:ext cx="407467" cy="2966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接點 24"/>
          <p:cNvCxnSpPr>
            <a:endCxn id="21" idx="3"/>
          </p:cNvCxnSpPr>
          <p:nvPr/>
        </p:nvCxnSpPr>
        <p:spPr>
          <a:xfrm flipV="1">
            <a:off x="5436096" y="1979972"/>
            <a:ext cx="619481" cy="2969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2743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Function</a:t>
            </a:r>
          </a:p>
          <a:p>
            <a:pPr lvl="1"/>
            <a:r>
              <a:rPr lang="en-US" altLang="zh-TW" dirty="0" smtClean="0"/>
              <a:t>90 </a:t>
            </a:r>
            <a:r>
              <a:rPr lang="en-US" altLang="zh-TW" dirty="0"/>
              <a:t>degrees</a:t>
            </a:r>
          </a:p>
          <a:p>
            <a:pPr lvl="2"/>
            <a:r>
              <a:rPr lang="en-US" altLang="zh-TW" dirty="0"/>
              <a:t>Read from </a:t>
            </a:r>
            <a:r>
              <a:rPr lang="en-US" altLang="zh-TW" dirty="0" smtClean="0"/>
              <a:t>DRAM</a:t>
            </a:r>
          </a:p>
          <a:p>
            <a:pPr lvl="3"/>
            <a:r>
              <a:rPr lang="en-US" altLang="zh-TW" dirty="0" smtClean="0"/>
              <a:t>Start </a:t>
            </a:r>
            <a:r>
              <a:rPr lang="en-US" altLang="zh-TW" dirty="0" err="1" smtClean="0"/>
              <a:t>y_pos</a:t>
            </a:r>
            <a:r>
              <a:rPr lang="en-US" altLang="zh-TW" dirty="0" smtClean="0"/>
              <a:t> = HEIGHT/4</a:t>
            </a:r>
          </a:p>
          <a:p>
            <a:pPr lvl="3"/>
            <a:r>
              <a:rPr lang="en-US" altLang="zh-TW" dirty="0" smtClean="0"/>
              <a:t>Start </a:t>
            </a:r>
            <a:r>
              <a:rPr lang="en-US" altLang="zh-TW" dirty="0" err="1" smtClean="0"/>
              <a:t>x_pos</a:t>
            </a:r>
            <a:r>
              <a:rPr lang="en-US" altLang="zh-TW" dirty="0" smtClean="0"/>
              <a:t> = 0 </a:t>
            </a:r>
          </a:p>
          <a:p>
            <a:pPr lvl="3"/>
            <a:r>
              <a:rPr lang="en-US" altLang="zh-TW" dirty="0" smtClean="0"/>
              <a:t>Roster-scan among y-axis</a:t>
            </a:r>
            <a:endParaRPr lang="en-US" altLang="zh-TW" dirty="0"/>
          </a:p>
          <a:p>
            <a:pPr lvl="2"/>
            <a:r>
              <a:rPr lang="en-US" altLang="zh-TW" dirty="0" smtClean="0"/>
              <a:t>Write </a:t>
            </a:r>
            <a:r>
              <a:rPr lang="en-US" altLang="zh-TW" dirty="0"/>
              <a:t>to DISP</a:t>
            </a:r>
          </a:p>
          <a:p>
            <a:pPr lvl="3"/>
            <a:r>
              <a:rPr lang="en-US" altLang="zh-TW" dirty="0"/>
              <a:t>Roster-Scan </a:t>
            </a:r>
          </a:p>
          <a:p>
            <a:endParaRPr lang="zh-TW" altLang="en-US" dirty="0"/>
          </a:p>
        </p:txBody>
      </p:sp>
      <p:pic>
        <p:nvPicPr>
          <p:cNvPr id="6" name="Picture 6" descr="File:Image.jpg - 維基百科，自由的百科全書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5737860" y="2612350"/>
            <a:ext cx="2160240" cy="216024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文字方塊 6"/>
          <p:cNvSpPr txBox="1"/>
          <p:nvPr/>
        </p:nvSpPr>
        <p:spPr>
          <a:xfrm>
            <a:off x="7713588" y="2227748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(0,0)</a:t>
            </a:r>
            <a:endParaRPr lang="zh-TW" altLang="en-US" dirty="0"/>
          </a:p>
        </p:txBody>
      </p:sp>
      <p:sp>
        <p:nvSpPr>
          <p:cNvPr id="8" name="文字方塊 7"/>
          <p:cNvSpPr txBox="1"/>
          <p:nvPr/>
        </p:nvSpPr>
        <p:spPr>
          <a:xfrm>
            <a:off x="7538060" y="4772590"/>
            <a:ext cx="9685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(1919,0)</a:t>
            </a:r>
            <a:endParaRPr lang="zh-TW" altLang="en-US" dirty="0"/>
          </a:p>
        </p:txBody>
      </p:sp>
      <p:sp>
        <p:nvSpPr>
          <p:cNvPr id="9" name="文字方塊 8"/>
          <p:cNvSpPr txBox="1"/>
          <p:nvPr/>
        </p:nvSpPr>
        <p:spPr>
          <a:xfrm>
            <a:off x="5076056" y="2236122"/>
            <a:ext cx="8515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(0,128)</a:t>
            </a:r>
            <a:endParaRPr lang="zh-TW" altLang="en-US" dirty="0"/>
          </a:p>
        </p:txBody>
      </p:sp>
      <p:sp>
        <p:nvSpPr>
          <p:cNvPr id="10" name="文字方塊 9"/>
          <p:cNvSpPr txBox="1"/>
          <p:nvPr/>
        </p:nvSpPr>
        <p:spPr>
          <a:xfrm>
            <a:off x="5076056" y="4772590"/>
            <a:ext cx="1085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(1919,64)</a:t>
            </a:r>
            <a:endParaRPr lang="zh-TW" altLang="en-US" dirty="0"/>
          </a:p>
        </p:txBody>
      </p:sp>
      <p:sp>
        <p:nvSpPr>
          <p:cNvPr id="12" name="矩形 11"/>
          <p:cNvSpPr/>
          <p:nvPr/>
        </p:nvSpPr>
        <p:spPr>
          <a:xfrm rot="5400000">
            <a:off x="5555087" y="2788227"/>
            <a:ext cx="559866" cy="194320"/>
          </a:xfrm>
          <a:prstGeom prst="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矩形 12"/>
          <p:cNvSpPr/>
          <p:nvPr/>
        </p:nvSpPr>
        <p:spPr>
          <a:xfrm rot="5400000">
            <a:off x="5749407" y="2785083"/>
            <a:ext cx="559866" cy="194320"/>
          </a:xfrm>
          <a:prstGeom prst="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矩形 13"/>
          <p:cNvSpPr/>
          <p:nvPr/>
        </p:nvSpPr>
        <p:spPr>
          <a:xfrm rot="5400000">
            <a:off x="5937377" y="2795036"/>
            <a:ext cx="559866" cy="176655"/>
          </a:xfrm>
          <a:prstGeom prst="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矩形 14"/>
          <p:cNvSpPr/>
          <p:nvPr/>
        </p:nvSpPr>
        <p:spPr>
          <a:xfrm rot="5400000">
            <a:off x="6115714" y="2792461"/>
            <a:ext cx="559866" cy="176655"/>
          </a:xfrm>
          <a:prstGeom prst="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矩形 15"/>
          <p:cNvSpPr/>
          <p:nvPr/>
        </p:nvSpPr>
        <p:spPr>
          <a:xfrm rot="16200000">
            <a:off x="4454139" y="3812430"/>
            <a:ext cx="811785" cy="178830"/>
          </a:xfrm>
          <a:prstGeom prst="rect">
            <a:avLst/>
          </a:prstGeom>
          <a:solidFill>
            <a:srgbClr val="92D050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600" dirty="0" smtClean="0">
                <a:solidFill>
                  <a:schemeClr val="tx1"/>
                </a:solidFill>
              </a:rPr>
              <a:t>7</a:t>
            </a:r>
            <a:endParaRPr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17" name="矩形 16"/>
          <p:cNvSpPr/>
          <p:nvPr/>
        </p:nvSpPr>
        <p:spPr>
          <a:xfrm rot="16200000">
            <a:off x="4453843" y="3000645"/>
            <a:ext cx="811785" cy="178830"/>
          </a:xfrm>
          <a:prstGeom prst="rect">
            <a:avLst/>
          </a:prstGeom>
          <a:solidFill>
            <a:srgbClr val="92D050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600" dirty="0" smtClean="0">
                <a:solidFill>
                  <a:schemeClr val="tx1"/>
                </a:solidFill>
              </a:rPr>
              <a:t>6</a:t>
            </a:r>
            <a:endParaRPr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18" name="矩形 17"/>
          <p:cNvSpPr/>
          <p:nvPr/>
        </p:nvSpPr>
        <p:spPr>
          <a:xfrm rot="16200000">
            <a:off x="4632969" y="3811728"/>
            <a:ext cx="811785" cy="178830"/>
          </a:xfrm>
          <a:prstGeom prst="rect">
            <a:avLst/>
          </a:prstGeom>
          <a:solidFill>
            <a:srgbClr val="92D050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600" dirty="0" smtClean="0">
                <a:solidFill>
                  <a:schemeClr val="tx1"/>
                </a:solidFill>
              </a:rPr>
              <a:t>5</a:t>
            </a:r>
            <a:endParaRPr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19" name="矩形 18"/>
          <p:cNvSpPr/>
          <p:nvPr/>
        </p:nvSpPr>
        <p:spPr>
          <a:xfrm rot="16200000">
            <a:off x="4632673" y="2999943"/>
            <a:ext cx="811785" cy="178830"/>
          </a:xfrm>
          <a:prstGeom prst="rect">
            <a:avLst/>
          </a:prstGeom>
          <a:solidFill>
            <a:srgbClr val="92D050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600" dirty="0" smtClean="0">
                <a:solidFill>
                  <a:schemeClr val="tx1"/>
                </a:solidFill>
              </a:rPr>
              <a:t>4</a:t>
            </a:r>
            <a:endParaRPr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20" name="矩形 19"/>
          <p:cNvSpPr/>
          <p:nvPr/>
        </p:nvSpPr>
        <p:spPr>
          <a:xfrm rot="16200000">
            <a:off x="4812096" y="3812430"/>
            <a:ext cx="811785" cy="178830"/>
          </a:xfrm>
          <a:prstGeom prst="rect">
            <a:avLst/>
          </a:prstGeom>
          <a:solidFill>
            <a:srgbClr val="92D050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600" dirty="0" smtClean="0">
                <a:solidFill>
                  <a:schemeClr val="tx1"/>
                </a:solidFill>
              </a:rPr>
              <a:t>3</a:t>
            </a:r>
            <a:endParaRPr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21" name="矩形 20"/>
          <p:cNvSpPr/>
          <p:nvPr/>
        </p:nvSpPr>
        <p:spPr>
          <a:xfrm rot="16200000">
            <a:off x="4811800" y="3000645"/>
            <a:ext cx="811785" cy="178830"/>
          </a:xfrm>
          <a:prstGeom prst="rect">
            <a:avLst/>
          </a:prstGeom>
          <a:solidFill>
            <a:srgbClr val="92D050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600" dirty="0" smtClean="0">
                <a:solidFill>
                  <a:schemeClr val="tx1"/>
                </a:solidFill>
              </a:rPr>
              <a:t>2</a:t>
            </a:r>
            <a:endParaRPr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22" name="矩形 21"/>
          <p:cNvSpPr/>
          <p:nvPr/>
        </p:nvSpPr>
        <p:spPr>
          <a:xfrm rot="16200000">
            <a:off x="4990926" y="3812430"/>
            <a:ext cx="811785" cy="178830"/>
          </a:xfrm>
          <a:prstGeom prst="rect">
            <a:avLst/>
          </a:prstGeom>
          <a:solidFill>
            <a:srgbClr val="92D050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600" dirty="0" smtClean="0">
                <a:solidFill>
                  <a:schemeClr val="tx1"/>
                </a:solidFill>
              </a:rPr>
              <a:t>1</a:t>
            </a:r>
            <a:endParaRPr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23" name="矩形 22"/>
          <p:cNvSpPr/>
          <p:nvPr/>
        </p:nvSpPr>
        <p:spPr>
          <a:xfrm rot="16200000">
            <a:off x="4990630" y="3000645"/>
            <a:ext cx="811785" cy="178830"/>
          </a:xfrm>
          <a:prstGeom prst="rect">
            <a:avLst/>
          </a:prstGeom>
          <a:solidFill>
            <a:srgbClr val="92D050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600" dirty="0" smtClean="0">
                <a:solidFill>
                  <a:schemeClr val="tx1"/>
                </a:solidFill>
              </a:rPr>
              <a:t>0</a:t>
            </a:r>
            <a:endParaRPr lang="zh-TW" altLang="en-US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77989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altLang="zh-TW" dirty="0"/>
              <a:t>180 </a:t>
            </a:r>
            <a:r>
              <a:rPr lang="en-US" altLang="zh-TW" dirty="0" smtClean="0"/>
              <a:t>degrees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altLang="zh-TW" dirty="0"/>
              <a:t>Read from DRAM</a:t>
            </a:r>
          </a:p>
          <a:p>
            <a:pPr marL="742950" lvl="2" indent="-342900"/>
            <a:r>
              <a:rPr lang="en-US" altLang="zh-TW" dirty="0" smtClean="0"/>
              <a:t>Base Address</a:t>
            </a:r>
          </a:p>
          <a:p>
            <a:pPr marL="1200150" lvl="3" indent="-342900"/>
            <a:endParaRPr lang="en-US" altLang="zh-TW" dirty="0"/>
          </a:p>
          <a:p>
            <a:endParaRPr lang="zh-TW" altLang="en-US" dirty="0"/>
          </a:p>
        </p:txBody>
      </p:sp>
      <p:pic>
        <p:nvPicPr>
          <p:cNvPr id="4" name="Picture 6" descr="File:Image.jpg - 維基百科，自由的百科全書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4932040" y="2612350"/>
            <a:ext cx="2160240" cy="216024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文字方塊 4"/>
          <p:cNvSpPr txBox="1"/>
          <p:nvPr/>
        </p:nvSpPr>
        <p:spPr>
          <a:xfrm>
            <a:off x="6907768" y="4772590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(0,0)</a:t>
            </a:r>
            <a:endParaRPr lang="zh-TW" altLang="en-US" dirty="0"/>
          </a:p>
        </p:txBody>
      </p:sp>
      <p:sp>
        <p:nvSpPr>
          <p:cNvPr id="6" name="文字方塊 5"/>
          <p:cNvSpPr txBox="1"/>
          <p:nvPr/>
        </p:nvSpPr>
        <p:spPr>
          <a:xfrm>
            <a:off x="4352145" y="4772590"/>
            <a:ext cx="9685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(1919,0)</a:t>
            </a:r>
            <a:endParaRPr lang="zh-TW" alt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6620655" y="2204864"/>
            <a:ext cx="9685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(0,1079)</a:t>
            </a:r>
            <a:endParaRPr lang="zh-TW" altLang="en-US" dirty="0"/>
          </a:p>
        </p:txBody>
      </p:sp>
      <p:sp>
        <p:nvSpPr>
          <p:cNvPr id="8" name="文字方塊 7"/>
          <p:cNvSpPr txBox="1"/>
          <p:nvPr/>
        </p:nvSpPr>
        <p:spPr>
          <a:xfrm>
            <a:off x="4091898" y="2243018"/>
            <a:ext cx="13195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(1919,1079)</a:t>
            </a:r>
            <a:endParaRPr lang="zh-TW" altLang="en-US" dirty="0"/>
          </a:p>
        </p:txBody>
      </p:sp>
      <p:sp>
        <p:nvSpPr>
          <p:cNvPr id="9" name="矩形 8"/>
          <p:cNvSpPr/>
          <p:nvPr/>
        </p:nvSpPr>
        <p:spPr>
          <a:xfrm>
            <a:off x="4908626" y="2612350"/>
            <a:ext cx="559866" cy="194320"/>
          </a:xfrm>
          <a:prstGeom prst="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 9"/>
          <p:cNvSpPr/>
          <p:nvPr/>
        </p:nvSpPr>
        <p:spPr>
          <a:xfrm>
            <a:off x="5468492" y="2612350"/>
            <a:ext cx="559866" cy="194320"/>
          </a:xfrm>
          <a:prstGeom prst="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矩形 11"/>
          <p:cNvSpPr/>
          <p:nvPr/>
        </p:nvSpPr>
        <p:spPr>
          <a:xfrm>
            <a:off x="6028358" y="2612350"/>
            <a:ext cx="559866" cy="194320"/>
          </a:xfrm>
          <a:prstGeom prst="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22" name="群組 21"/>
          <p:cNvGrpSpPr/>
          <p:nvPr/>
        </p:nvGrpSpPr>
        <p:grpSpPr>
          <a:xfrm>
            <a:off x="4854111" y="1572460"/>
            <a:ext cx="1543395" cy="648234"/>
            <a:chOff x="4468764" y="1484623"/>
            <a:chExt cx="1120216" cy="388962"/>
          </a:xfrm>
        </p:grpSpPr>
        <p:sp>
          <p:nvSpPr>
            <p:cNvPr id="14" name="矩形 13"/>
            <p:cNvSpPr/>
            <p:nvPr/>
          </p:nvSpPr>
          <p:spPr>
            <a:xfrm>
              <a:off x="4468764" y="1484784"/>
              <a:ext cx="559866" cy="97160"/>
            </a:xfrm>
            <a:prstGeom prst="rect">
              <a:avLst/>
            </a:prstGeom>
            <a:solidFill>
              <a:srgbClr val="92D050"/>
            </a:soli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400" dirty="0">
                  <a:solidFill>
                    <a:schemeClr val="tx1"/>
                  </a:solidFill>
                </a:rPr>
                <a:t>7</a:t>
              </a:r>
              <a:endParaRPr lang="zh-TW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5" name="矩形 14"/>
            <p:cNvSpPr/>
            <p:nvPr/>
          </p:nvSpPr>
          <p:spPr>
            <a:xfrm>
              <a:off x="5028630" y="1484623"/>
              <a:ext cx="559866" cy="97160"/>
            </a:xfrm>
            <a:prstGeom prst="rect">
              <a:avLst/>
            </a:prstGeom>
            <a:solidFill>
              <a:srgbClr val="92D050"/>
            </a:soli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400" dirty="0">
                  <a:solidFill>
                    <a:schemeClr val="tx1"/>
                  </a:solidFill>
                </a:rPr>
                <a:t>6</a:t>
              </a:r>
              <a:endParaRPr lang="zh-TW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6" name="矩形 15"/>
            <p:cNvSpPr/>
            <p:nvPr/>
          </p:nvSpPr>
          <p:spPr>
            <a:xfrm>
              <a:off x="4469248" y="1581944"/>
              <a:ext cx="559866" cy="97160"/>
            </a:xfrm>
            <a:prstGeom prst="rect">
              <a:avLst/>
            </a:prstGeom>
            <a:solidFill>
              <a:srgbClr val="92D050"/>
            </a:soli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400" dirty="0" smtClean="0">
                  <a:solidFill>
                    <a:schemeClr val="tx1"/>
                  </a:solidFill>
                </a:rPr>
                <a:t>5</a:t>
              </a:r>
              <a:endParaRPr lang="zh-TW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7" name="矩形 16"/>
            <p:cNvSpPr/>
            <p:nvPr/>
          </p:nvSpPr>
          <p:spPr>
            <a:xfrm>
              <a:off x="5029114" y="1581783"/>
              <a:ext cx="559866" cy="97160"/>
            </a:xfrm>
            <a:prstGeom prst="rect">
              <a:avLst/>
            </a:prstGeom>
            <a:solidFill>
              <a:srgbClr val="92D050"/>
            </a:soli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400" dirty="0">
                  <a:solidFill>
                    <a:schemeClr val="tx1"/>
                  </a:solidFill>
                </a:rPr>
                <a:t>4</a:t>
              </a:r>
              <a:endParaRPr lang="zh-TW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4468764" y="1679265"/>
              <a:ext cx="559866" cy="97160"/>
            </a:xfrm>
            <a:prstGeom prst="rect">
              <a:avLst/>
            </a:prstGeom>
            <a:solidFill>
              <a:srgbClr val="92D050"/>
            </a:soli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400" dirty="0">
                  <a:solidFill>
                    <a:schemeClr val="tx1"/>
                  </a:solidFill>
                </a:rPr>
                <a:t>3</a:t>
              </a:r>
              <a:endParaRPr lang="zh-TW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" name="矩形 18"/>
            <p:cNvSpPr/>
            <p:nvPr/>
          </p:nvSpPr>
          <p:spPr>
            <a:xfrm>
              <a:off x="5028630" y="1679104"/>
              <a:ext cx="559866" cy="97160"/>
            </a:xfrm>
            <a:prstGeom prst="rect">
              <a:avLst/>
            </a:prstGeom>
            <a:solidFill>
              <a:srgbClr val="92D050"/>
            </a:soli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400" dirty="0">
                  <a:solidFill>
                    <a:schemeClr val="tx1"/>
                  </a:solidFill>
                </a:rPr>
                <a:t>2</a:t>
              </a:r>
              <a:endParaRPr lang="zh-TW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20" name="矩形 19"/>
            <p:cNvSpPr/>
            <p:nvPr/>
          </p:nvSpPr>
          <p:spPr>
            <a:xfrm>
              <a:off x="4468764" y="1776425"/>
              <a:ext cx="559866" cy="97160"/>
            </a:xfrm>
            <a:prstGeom prst="rect">
              <a:avLst/>
            </a:prstGeom>
            <a:solidFill>
              <a:srgbClr val="92D050"/>
            </a:soli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400" dirty="0" smtClean="0">
                  <a:solidFill>
                    <a:schemeClr val="tx1"/>
                  </a:solidFill>
                </a:rPr>
                <a:t>1</a:t>
              </a:r>
              <a:endParaRPr lang="zh-TW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21" name="矩形 20"/>
            <p:cNvSpPr/>
            <p:nvPr/>
          </p:nvSpPr>
          <p:spPr>
            <a:xfrm>
              <a:off x="5028630" y="1776264"/>
              <a:ext cx="559866" cy="97160"/>
            </a:xfrm>
            <a:prstGeom prst="rect">
              <a:avLst/>
            </a:prstGeom>
            <a:solidFill>
              <a:srgbClr val="92D050"/>
            </a:soli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400" dirty="0">
                  <a:solidFill>
                    <a:schemeClr val="tx1"/>
                  </a:solidFill>
                </a:rPr>
                <a:t>0</a:t>
              </a:r>
              <a:endParaRPr lang="zh-TW" altLang="en-US" sz="1400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806053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270 degrees</a:t>
            </a:r>
            <a:endParaRPr lang="zh-TW" altLang="en-US" dirty="0"/>
          </a:p>
        </p:txBody>
      </p:sp>
      <p:pic>
        <p:nvPicPr>
          <p:cNvPr id="5" name="Picture 6" descr="File:Image.jpg - 維基百科，自由的百科全書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5094885" y="2996952"/>
            <a:ext cx="2160240" cy="216024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文字方塊 5"/>
          <p:cNvSpPr txBox="1"/>
          <p:nvPr/>
        </p:nvSpPr>
        <p:spPr>
          <a:xfrm>
            <a:off x="4716016" y="5157192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(0,0)</a:t>
            </a:r>
            <a:endParaRPr lang="zh-TW" alt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4540486" y="2615719"/>
            <a:ext cx="9685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(1919,0)</a:t>
            </a:r>
            <a:endParaRPr lang="zh-TW" altLang="en-US" dirty="0"/>
          </a:p>
        </p:txBody>
      </p:sp>
      <p:sp>
        <p:nvSpPr>
          <p:cNvPr id="8" name="文字方塊 7"/>
          <p:cNvSpPr txBox="1"/>
          <p:nvPr/>
        </p:nvSpPr>
        <p:spPr>
          <a:xfrm>
            <a:off x="6770857" y="5157192"/>
            <a:ext cx="9685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(0,1079)</a:t>
            </a:r>
            <a:endParaRPr lang="zh-TW" altLang="en-US" dirty="0"/>
          </a:p>
        </p:txBody>
      </p:sp>
      <p:sp>
        <p:nvSpPr>
          <p:cNvPr id="9" name="文字方塊 8"/>
          <p:cNvSpPr txBox="1"/>
          <p:nvPr/>
        </p:nvSpPr>
        <p:spPr>
          <a:xfrm>
            <a:off x="6770857" y="2615719"/>
            <a:ext cx="13195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(1919,1079)</a:t>
            </a:r>
            <a:endParaRPr lang="zh-TW" altLang="en-US" dirty="0"/>
          </a:p>
        </p:txBody>
      </p:sp>
      <p:sp>
        <p:nvSpPr>
          <p:cNvPr id="10" name="矩形 9"/>
          <p:cNvSpPr/>
          <p:nvPr/>
        </p:nvSpPr>
        <p:spPr>
          <a:xfrm rot="5400000">
            <a:off x="4912112" y="3178505"/>
            <a:ext cx="559866" cy="194320"/>
          </a:xfrm>
          <a:prstGeom prst="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 10"/>
          <p:cNvSpPr/>
          <p:nvPr/>
        </p:nvSpPr>
        <p:spPr>
          <a:xfrm rot="5400000">
            <a:off x="5106432" y="3175361"/>
            <a:ext cx="559866" cy="194320"/>
          </a:xfrm>
          <a:prstGeom prst="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矩形 11"/>
          <p:cNvSpPr/>
          <p:nvPr/>
        </p:nvSpPr>
        <p:spPr>
          <a:xfrm rot="5400000">
            <a:off x="5294402" y="3185314"/>
            <a:ext cx="559866" cy="176655"/>
          </a:xfrm>
          <a:prstGeom prst="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矩形 12"/>
          <p:cNvSpPr/>
          <p:nvPr/>
        </p:nvSpPr>
        <p:spPr>
          <a:xfrm rot="5400000">
            <a:off x="5472739" y="3182739"/>
            <a:ext cx="559866" cy="176655"/>
          </a:xfrm>
          <a:prstGeom prst="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矩形 13"/>
          <p:cNvSpPr/>
          <p:nvPr/>
        </p:nvSpPr>
        <p:spPr>
          <a:xfrm rot="16200000">
            <a:off x="3729945" y="4218322"/>
            <a:ext cx="811785" cy="178830"/>
          </a:xfrm>
          <a:prstGeom prst="rect">
            <a:avLst/>
          </a:prstGeom>
          <a:solidFill>
            <a:srgbClr val="92D050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600" dirty="0" smtClean="0">
                <a:solidFill>
                  <a:schemeClr val="tx1"/>
                </a:solidFill>
              </a:rPr>
              <a:t>0</a:t>
            </a:r>
            <a:endParaRPr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15" name="矩形 14"/>
          <p:cNvSpPr/>
          <p:nvPr/>
        </p:nvSpPr>
        <p:spPr>
          <a:xfrm rot="16200000">
            <a:off x="3729649" y="3406537"/>
            <a:ext cx="811785" cy="178830"/>
          </a:xfrm>
          <a:prstGeom prst="rect">
            <a:avLst/>
          </a:prstGeom>
          <a:solidFill>
            <a:srgbClr val="92D050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600" dirty="0" smtClean="0">
                <a:solidFill>
                  <a:schemeClr val="tx1"/>
                </a:solidFill>
              </a:rPr>
              <a:t>1</a:t>
            </a:r>
            <a:endParaRPr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16" name="矩形 15"/>
          <p:cNvSpPr/>
          <p:nvPr/>
        </p:nvSpPr>
        <p:spPr>
          <a:xfrm rot="16200000">
            <a:off x="3908775" y="4217620"/>
            <a:ext cx="811785" cy="178830"/>
          </a:xfrm>
          <a:prstGeom prst="rect">
            <a:avLst/>
          </a:prstGeom>
          <a:solidFill>
            <a:srgbClr val="92D050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600" dirty="0" smtClean="0">
                <a:solidFill>
                  <a:schemeClr val="tx1"/>
                </a:solidFill>
              </a:rPr>
              <a:t>2</a:t>
            </a:r>
            <a:endParaRPr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17" name="矩形 16"/>
          <p:cNvSpPr/>
          <p:nvPr/>
        </p:nvSpPr>
        <p:spPr>
          <a:xfrm rot="16200000">
            <a:off x="3908479" y="3405835"/>
            <a:ext cx="811785" cy="178830"/>
          </a:xfrm>
          <a:prstGeom prst="rect">
            <a:avLst/>
          </a:prstGeom>
          <a:solidFill>
            <a:srgbClr val="92D050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600" dirty="0" smtClean="0">
                <a:solidFill>
                  <a:schemeClr val="tx1"/>
                </a:solidFill>
              </a:rPr>
              <a:t>3</a:t>
            </a:r>
            <a:endParaRPr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18" name="矩形 17"/>
          <p:cNvSpPr/>
          <p:nvPr/>
        </p:nvSpPr>
        <p:spPr>
          <a:xfrm rot="16200000">
            <a:off x="4087902" y="4218322"/>
            <a:ext cx="811785" cy="178830"/>
          </a:xfrm>
          <a:prstGeom prst="rect">
            <a:avLst/>
          </a:prstGeom>
          <a:solidFill>
            <a:srgbClr val="92D050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600" dirty="0" smtClean="0">
                <a:solidFill>
                  <a:schemeClr val="tx1"/>
                </a:solidFill>
              </a:rPr>
              <a:t>4</a:t>
            </a:r>
            <a:endParaRPr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19" name="矩形 18"/>
          <p:cNvSpPr/>
          <p:nvPr/>
        </p:nvSpPr>
        <p:spPr>
          <a:xfrm rot="16200000">
            <a:off x="4087606" y="3406537"/>
            <a:ext cx="811785" cy="178830"/>
          </a:xfrm>
          <a:prstGeom prst="rect">
            <a:avLst/>
          </a:prstGeom>
          <a:solidFill>
            <a:srgbClr val="92D050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600" dirty="0" smtClean="0">
                <a:solidFill>
                  <a:schemeClr val="tx1"/>
                </a:solidFill>
              </a:rPr>
              <a:t>5</a:t>
            </a:r>
            <a:endParaRPr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20" name="矩形 19"/>
          <p:cNvSpPr/>
          <p:nvPr/>
        </p:nvSpPr>
        <p:spPr>
          <a:xfrm rot="16200000">
            <a:off x="4266732" y="4218322"/>
            <a:ext cx="811785" cy="178830"/>
          </a:xfrm>
          <a:prstGeom prst="rect">
            <a:avLst/>
          </a:prstGeom>
          <a:solidFill>
            <a:srgbClr val="92D050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600" dirty="0" smtClean="0">
                <a:solidFill>
                  <a:schemeClr val="tx1"/>
                </a:solidFill>
              </a:rPr>
              <a:t>6</a:t>
            </a:r>
            <a:endParaRPr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21" name="矩形 20"/>
          <p:cNvSpPr/>
          <p:nvPr/>
        </p:nvSpPr>
        <p:spPr>
          <a:xfrm rot="16200000">
            <a:off x="4266436" y="3406537"/>
            <a:ext cx="811785" cy="178830"/>
          </a:xfrm>
          <a:prstGeom prst="rect">
            <a:avLst/>
          </a:prstGeom>
          <a:solidFill>
            <a:srgbClr val="92D050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600" dirty="0" smtClean="0">
                <a:solidFill>
                  <a:schemeClr val="tx1"/>
                </a:solidFill>
              </a:rPr>
              <a:t>7</a:t>
            </a:r>
            <a:endParaRPr lang="zh-TW" altLang="en-US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20490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altLang="zh-TW" dirty="0" smtClean="0"/>
              <a:t>Mirror</a:t>
            </a:r>
            <a:endParaRPr lang="zh-TW" altLang="en-US" dirty="0"/>
          </a:p>
          <a:p>
            <a:endParaRPr lang="zh-TW" altLang="en-US" dirty="0"/>
          </a:p>
        </p:txBody>
      </p:sp>
      <p:pic>
        <p:nvPicPr>
          <p:cNvPr id="4" name="Picture 6" descr="File:Image.jpg - 維基百科，自由的百科全書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4876230" y="2276872"/>
            <a:ext cx="2520280" cy="2360066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矩形 4"/>
          <p:cNvSpPr/>
          <p:nvPr/>
        </p:nvSpPr>
        <p:spPr>
          <a:xfrm>
            <a:off x="4876230" y="2276872"/>
            <a:ext cx="559866" cy="194320"/>
          </a:xfrm>
          <a:prstGeom prst="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0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5436096" y="2276872"/>
            <a:ext cx="559866" cy="194320"/>
          </a:xfrm>
          <a:prstGeom prst="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1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5995491" y="2276872"/>
            <a:ext cx="559866" cy="194320"/>
          </a:xfrm>
          <a:prstGeom prst="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2</a:t>
            </a:r>
            <a:endParaRPr lang="zh-TW" altLang="en-US" dirty="0">
              <a:solidFill>
                <a:schemeClr val="tx1"/>
              </a:solidFill>
            </a:endParaRPr>
          </a:p>
        </p:txBody>
      </p:sp>
      <p:grpSp>
        <p:nvGrpSpPr>
          <p:cNvPr id="8" name="群組 7"/>
          <p:cNvGrpSpPr/>
          <p:nvPr/>
        </p:nvGrpSpPr>
        <p:grpSpPr>
          <a:xfrm>
            <a:off x="4468763" y="1484622"/>
            <a:ext cx="1587499" cy="566315"/>
            <a:chOff x="4468764" y="1484623"/>
            <a:chExt cx="1120216" cy="388962"/>
          </a:xfrm>
        </p:grpSpPr>
        <p:sp>
          <p:nvSpPr>
            <p:cNvPr id="9" name="矩形 8"/>
            <p:cNvSpPr/>
            <p:nvPr/>
          </p:nvSpPr>
          <p:spPr>
            <a:xfrm>
              <a:off x="4468764" y="1484784"/>
              <a:ext cx="559866" cy="97160"/>
            </a:xfrm>
            <a:prstGeom prst="rect">
              <a:avLst/>
            </a:prstGeom>
            <a:solidFill>
              <a:srgbClr val="92D050"/>
            </a:soli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400" dirty="0" smtClean="0">
                  <a:solidFill>
                    <a:schemeClr val="tx1"/>
                  </a:solidFill>
                </a:rPr>
                <a:t>1</a:t>
              </a:r>
              <a:endParaRPr lang="zh-TW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0" name="矩形 9"/>
            <p:cNvSpPr/>
            <p:nvPr/>
          </p:nvSpPr>
          <p:spPr>
            <a:xfrm>
              <a:off x="5028630" y="1484623"/>
              <a:ext cx="559866" cy="97160"/>
            </a:xfrm>
            <a:prstGeom prst="rect">
              <a:avLst/>
            </a:prstGeom>
            <a:solidFill>
              <a:srgbClr val="92D050"/>
            </a:soli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400" dirty="0" smtClean="0">
                  <a:solidFill>
                    <a:schemeClr val="tx1"/>
                  </a:solidFill>
                </a:rPr>
                <a:t>0</a:t>
              </a:r>
              <a:endParaRPr lang="zh-TW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4469248" y="1581944"/>
              <a:ext cx="559866" cy="97160"/>
            </a:xfrm>
            <a:prstGeom prst="rect">
              <a:avLst/>
            </a:prstGeom>
            <a:solidFill>
              <a:srgbClr val="92D050"/>
            </a:soli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400" dirty="0" smtClean="0">
                  <a:solidFill>
                    <a:schemeClr val="tx1"/>
                  </a:solidFill>
                </a:rPr>
                <a:t>3</a:t>
              </a:r>
              <a:endParaRPr lang="zh-TW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2" name="矩形 11"/>
            <p:cNvSpPr/>
            <p:nvPr/>
          </p:nvSpPr>
          <p:spPr>
            <a:xfrm>
              <a:off x="5029114" y="1581783"/>
              <a:ext cx="559866" cy="97160"/>
            </a:xfrm>
            <a:prstGeom prst="rect">
              <a:avLst/>
            </a:prstGeom>
            <a:solidFill>
              <a:srgbClr val="92D050"/>
            </a:soli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400" dirty="0" smtClean="0">
                  <a:solidFill>
                    <a:schemeClr val="tx1"/>
                  </a:solidFill>
                </a:rPr>
                <a:t>2</a:t>
              </a:r>
              <a:endParaRPr lang="zh-TW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3" name="矩形 12"/>
            <p:cNvSpPr/>
            <p:nvPr/>
          </p:nvSpPr>
          <p:spPr>
            <a:xfrm>
              <a:off x="4468764" y="1679265"/>
              <a:ext cx="559866" cy="97160"/>
            </a:xfrm>
            <a:prstGeom prst="rect">
              <a:avLst/>
            </a:prstGeom>
            <a:solidFill>
              <a:srgbClr val="92D050"/>
            </a:soli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400" dirty="0" smtClean="0">
                  <a:solidFill>
                    <a:schemeClr val="tx1"/>
                  </a:solidFill>
                </a:rPr>
                <a:t>5</a:t>
              </a:r>
              <a:endParaRPr lang="zh-TW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5028630" y="1679104"/>
              <a:ext cx="559866" cy="97160"/>
            </a:xfrm>
            <a:prstGeom prst="rect">
              <a:avLst/>
            </a:prstGeom>
            <a:solidFill>
              <a:srgbClr val="92D050"/>
            </a:soli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400" dirty="0" smtClean="0">
                  <a:solidFill>
                    <a:schemeClr val="tx1"/>
                  </a:solidFill>
                </a:rPr>
                <a:t>4</a:t>
              </a:r>
              <a:endParaRPr lang="zh-TW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5" name="矩形 14"/>
            <p:cNvSpPr/>
            <p:nvPr/>
          </p:nvSpPr>
          <p:spPr>
            <a:xfrm>
              <a:off x="4468764" y="1776425"/>
              <a:ext cx="559866" cy="97160"/>
            </a:xfrm>
            <a:prstGeom prst="rect">
              <a:avLst/>
            </a:prstGeom>
            <a:solidFill>
              <a:srgbClr val="92D050"/>
            </a:soli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400" dirty="0" smtClean="0">
                  <a:solidFill>
                    <a:schemeClr val="tx1"/>
                  </a:solidFill>
                </a:rPr>
                <a:t>7</a:t>
              </a:r>
              <a:endParaRPr lang="zh-TW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6" name="矩形 15"/>
            <p:cNvSpPr/>
            <p:nvPr/>
          </p:nvSpPr>
          <p:spPr>
            <a:xfrm>
              <a:off x="5028630" y="1776264"/>
              <a:ext cx="559866" cy="97160"/>
            </a:xfrm>
            <a:prstGeom prst="rect">
              <a:avLst/>
            </a:prstGeom>
            <a:solidFill>
              <a:srgbClr val="92D050"/>
            </a:soli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400" dirty="0" smtClean="0">
                  <a:solidFill>
                    <a:schemeClr val="tx1"/>
                  </a:solidFill>
                </a:rPr>
                <a:t>6</a:t>
              </a:r>
              <a:endParaRPr lang="zh-TW" altLang="en-US" sz="1400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17" name="直線接點 16"/>
          <p:cNvCxnSpPr>
            <a:stCxn id="15" idx="1"/>
          </p:cNvCxnSpPr>
          <p:nvPr/>
        </p:nvCxnSpPr>
        <p:spPr>
          <a:xfrm>
            <a:off x="4468763" y="1980206"/>
            <a:ext cx="407467" cy="2966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/>
          <p:cNvCxnSpPr>
            <a:endCxn id="16" idx="3"/>
          </p:cNvCxnSpPr>
          <p:nvPr/>
        </p:nvCxnSpPr>
        <p:spPr>
          <a:xfrm flipV="1">
            <a:off x="5436096" y="1979972"/>
            <a:ext cx="619481" cy="2969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11538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altLang="zh-TW" dirty="0"/>
              <a:t>Upside down</a:t>
            </a:r>
            <a:endParaRPr lang="zh-TW" altLang="en-US" dirty="0"/>
          </a:p>
          <a:p>
            <a:endParaRPr lang="zh-TW" altLang="en-US" dirty="0"/>
          </a:p>
        </p:txBody>
      </p:sp>
      <p:sp>
        <p:nvSpPr>
          <p:cNvPr id="5" name="文字方塊 4"/>
          <p:cNvSpPr txBox="1"/>
          <p:nvPr/>
        </p:nvSpPr>
        <p:spPr>
          <a:xfrm>
            <a:off x="5791419" y="6232172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(0,0)</a:t>
            </a:r>
            <a:endParaRPr lang="zh-TW" altLang="en-US" dirty="0"/>
          </a:p>
        </p:txBody>
      </p:sp>
      <p:sp>
        <p:nvSpPr>
          <p:cNvPr id="6" name="文字方塊 5"/>
          <p:cNvSpPr txBox="1"/>
          <p:nvPr/>
        </p:nvSpPr>
        <p:spPr>
          <a:xfrm>
            <a:off x="8028384" y="6232172"/>
            <a:ext cx="9685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(1919,0)</a:t>
            </a:r>
            <a:endParaRPr lang="zh-TW" alt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5615890" y="3702600"/>
            <a:ext cx="9685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(0,1079)</a:t>
            </a:r>
            <a:endParaRPr lang="zh-TW" altLang="en-US" dirty="0"/>
          </a:p>
        </p:txBody>
      </p:sp>
      <p:sp>
        <p:nvSpPr>
          <p:cNvPr id="8" name="文字方塊 7"/>
          <p:cNvSpPr txBox="1"/>
          <p:nvPr/>
        </p:nvSpPr>
        <p:spPr>
          <a:xfrm>
            <a:off x="7884368" y="3702600"/>
            <a:ext cx="13195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(1919,1079)</a:t>
            </a:r>
            <a:endParaRPr lang="zh-TW" altLang="en-US" dirty="0"/>
          </a:p>
        </p:txBody>
      </p:sp>
      <p:pic>
        <p:nvPicPr>
          <p:cNvPr id="9" name="Picture 6" descr="File:Image.jpg - 維基百科，自由的百科全書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6100158" y="4071932"/>
            <a:ext cx="2304257" cy="216024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矩形 18"/>
          <p:cNvSpPr/>
          <p:nvPr/>
        </p:nvSpPr>
        <p:spPr>
          <a:xfrm>
            <a:off x="6094416" y="4071932"/>
            <a:ext cx="559866" cy="194320"/>
          </a:xfrm>
          <a:prstGeom prst="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29" name="群組 28"/>
          <p:cNvGrpSpPr/>
          <p:nvPr/>
        </p:nvGrpSpPr>
        <p:grpSpPr>
          <a:xfrm>
            <a:off x="5328460" y="2852936"/>
            <a:ext cx="1543395" cy="648234"/>
            <a:chOff x="5328460" y="2852936"/>
            <a:chExt cx="1543395" cy="648234"/>
          </a:xfrm>
        </p:grpSpPr>
        <p:sp>
          <p:nvSpPr>
            <p:cNvPr id="21" name="矩形 20"/>
            <p:cNvSpPr/>
            <p:nvPr/>
          </p:nvSpPr>
          <p:spPr>
            <a:xfrm>
              <a:off x="5328460" y="2853204"/>
              <a:ext cx="771364" cy="161924"/>
            </a:xfrm>
            <a:prstGeom prst="rect">
              <a:avLst/>
            </a:prstGeom>
            <a:solidFill>
              <a:srgbClr val="92D050"/>
            </a:soli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400" dirty="0" smtClean="0">
                  <a:solidFill>
                    <a:schemeClr val="tx1"/>
                  </a:solidFill>
                </a:rPr>
                <a:t>6</a:t>
              </a:r>
              <a:endParaRPr lang="zh-TW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22" name="矩形 21"/>
            <p:cNvSpPr/>
            <p:nvPr/>
          </p:nvSpPr>
          <p:spPr>
            <a:xfrm>
              <a:off x="6099824" y="2852936"/>
              <a:ext cx="771364" cy="161924"/>
            </a:xfrm>
            <a:prstGeom prst="rect">
              <a:avLst/>
            </a:prstGeom>
            <a:solidFill>
              <a:srgbClr val="92D050"/>
            </a:soli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400" dirty="0" smtClean="0">
                  <a:solidFill>
                    <a:schemeClr val="tx1"/>
                  </a:solidFill>
                </a:rPr>
                <a:t>7</a:t>
              </a:r>
              <a:endParaRPr lang="zh-TW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>
              <a:off x="5329127" y="3015129"/>
              <a:ext cx="771364" cy="161924"/>
            </a:xfrm>
            <a:prstGeom prst="rect">
              <a:avLst/>
            </a:prstGeom>
            <a:solidFill>
              <a:srgbClr val="92D050"/>
            </a:soli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400" dirty="0" smtClean="0">
                  <a:solidFill>
                    <a:schemeClr val="tx1"/>
                  </a:solidFill>
                </a:rPr>
                <a:t>4</a:t>
              </a:r>
              <a:endParaRPr lang="zh-TW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24" name="矩形 23"/>
            <p:cNvSpPr/>
            <p:nvPr/>
          </p:nvSpPr>
          <p:spPr>
            <a:xfrm>
              <a:off x="6100491" y="3014860"/>
              <a:ext cx="771364" cy="161924"/>
            </a:xfrm>
            <a:prstGeom prst="rect">
              <a:avLst/>
            </a:prstGeom>
            <a:solidFill>
              <a:srgbClr val="92D050"/>
            </a:soli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400" dirty="0" smtClean="0">
                  <a:solidFill>
                    <a:schemeClr val="tx1"/>
                  </a:solidFill>
                </a:rPr>
                <a:t>5</a:t>
              </a:r>
              <a:endParaRPr lang="zh-TW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25" name="矩形 24"/>
            <p:cNvSpPr/>
            <p:nvPr/>
          </p:nvSpPr>
          <p:spPr>
            <a:xfrm>
              <a:off x="5328460" y="3177321"/>
              <a:ext cx="771364" cy="161924"/>
            </a:xfrm>
            <a:prstGeom prst="rect">
              <a:avLst/>
            </a:prstGeom>
            <a:solidFill>
              <a:srgbClr val="92D050"/>
            </a:soli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400" dirty="0">
                  <a:solidFill>
                    <a:schemeClr val="tx1"/>
                  </a:solidFill>
                </a:rPr>
                <a:t>2</a:t>
              </a:r>
              <a:endParaRPr lang="zh-TW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6099824" y="3177053"/>
              <a:ext cx="771364" cy="161924"/>
            </a:xfrm>
            <a:prstGeom prst="rect">
              <a:avLst/>
            </a:prstGeom>
            <a:solidFill>
              <a:srgbClr val="92D050"/>
            </a:soli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400" dirty="0" smtClean="0">
                  <a:solidFill>
                    <a:schemeClr val="tx1"/>
                  </a:solidFill>
                </a:rPr>
                <a:t>3</a:t>
              </a:r>
              <a:endParaRPr lang="zh-TW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>
              <a:off x="5328460" y="3339246"/>
              <a:ext cx="771364" cy="161924"/>
            </a:xfrm>
            <a:prstGeom prst="rect">
              <a:avLst/>
            </a:prstGeom>
            <a:solidFill>
              <a:srgbClr val="92D050"/>
            </a:soli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400" dirty="0">
                  <a:solidFill>
                    <a:schemeClr val="tx1"/>
                  </a:solidFill>
                </a:rPr>
                <a:t>0</a:t>
              </a:r>
              <a:endParaRPr lang="zh-TW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28" name="矩形 27"/>
            <p:cNvSpPr/>
            <p:nvPr/>
          </p:nvSpPr>
          <p:spPr>
            <a:xfrm>
              <a:off x="6099824" y="3338977"/>
              <a:ext cx="771364" cy="161924"/>
            </a:xfrm>
            <a:prstGeom prst="rect">
              <a:avLst/>
            </a:prstGeom>
            <a:solidFill>
              <a:srgbClr val="92D050"/>
            </a:soli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400" dirty="0" smtClean="0">
                  <a:solidFill>
                    <a:schemeClr val="tx1"/>
                  </a:solidFill>
                </a:rPr>
                <a:t>1</a:t>
              </a:r>
              <a:endParaRPr lang="zh-TW" altLang="en-US" sz="1400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877283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34441</TotalTime>
  <Words>1018</Words>
  <Application>Microsoft Office PowerPoint</Application>
  <PresentationFormat>如螢幕大小 (4:3)</PresentationFormat>
  <Paragraphs>480</Paragraphs>
  <Slides>27</Slides>
  <Notes>1</Notes>
  <HiddenSlides>2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27</vt:i4>
      </vt:variant>
    </vt:vector>
  </HeadingPairs>
  <TitlesOfParts>
    <vt:vector size="28" baseType="lpstr">
      <vt:lpstr>Office 佈景主題</vt:lpstr>
      <vt:lpstr>SFH826 DDFCH Design Change</vt:lpstr>
      <vt:lpstr>Outline</vt:lpstr>
      <vt:lpstr>Purpose (1/2)</vt:lpstr>
      <vt:lpstr>Purpose (2/2)</vt:lpstr>
      <vt:lpstr>An Brief Example  for Data Ordering Swap</vt:lpstr>
      <vt:lpstr>Purpose (2/2)</vt:lpstr>
      <vt:lpstr>Features</vt:lpstr>
      <vt:lpstr>Original Design – Overview</vt:lpstr>
      <vt:lpstr>Original Design – Fetching Characteristic (1/3)</vt:lpstr>
      <vt:lpstr>Original Design – Fetching Characteristic (2/3)</vt:lpstr>
      <vt:lpstr>Original Design – Fetching Characteristic (3/3)</vt:lpstr>
      <vt:lpstr>Modified Design (1/2)</vt:lpstr>
      <vt:lpstr>Modified Design (2/2)</vt:lpstr>
      <vt:lpstr>Modified Design (2/2)</vt:lpstr>
      <vt:lpstr>Example of Data Sequence to access FBD</vt:lpstr>
      <vt:lpstr>SRAM Evaluation</vt:lpstr>
      <vt:lpstr>Fetching Limitation with FBD</vt:lpstr>
      <vt:lpstr>Pattern Lists</vt:lpstr>
      <vt:lpstr>To-Do JOBs</vt:lpstr>
      <vt:lpstr>Design Notes</vt:lpstr>
      <vt:lpstr>Rotation</vt:lpstr>
      <vt:lpstr>Rotation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Availink,Inc.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SFH826 DDFCH Design Change</dc:title>
  <dc:creator>Jerry Chang 張宗賢</dc:creator>
  <cp:lastModifiedBy>Jerry Chang 張宗賢</cp:lastModifiedBy>
  <cp:revision>75</cp:revision>
  <dcterms:created xsi:type="dcterms:W3CDTF">2023-02-03T05:28:12Z</dcterms:created>
  <dcterms:modified xsi:type="dcterms:W3CDTF">2023-03-07T03:41:11Z</dcterms:modified>
</cp:coreProperties>
</file>